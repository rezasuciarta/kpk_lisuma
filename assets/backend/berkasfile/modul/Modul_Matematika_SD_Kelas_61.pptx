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8" r:id="rId1"/>
  </p:sldMasterIdLst>
  <p:notesMasterIdLst>
    <p:notesMasterId r:id="rId23"/>
  </p:notesMasterIdLst>
  <p:sldIdLst>
    <p:sldId id="259" r:id="rId2"/>
    <p:sldId id="267" r:id="rId3"/>
    <p:sldId id="285" r:id="rId4"/>
    <p:sldId id="294" r:id="rId5"/>
    <p:sldId id="286" r:id="rId6"/>
    <p:sldId id="295" r:id="rId7"/>
    <p:sldId id="296" r:id="rId8"/>
    <p:sldId id="297" r:id="rId9"/>
    <p:sldId id="287" r:id="rId10"/>
    <p:sldId id="298" r:id="rId11"/>
    <p:sldId id="299" r:id="rId12"/>
    <p:sldId id="288" r:id="rId13"/>
    <p:sldId id="300" r:id="rId14"/>
    <p:sldId id="301" r:id="rId15"/>
    <p:sldId id="302" r:id="rId16"/>
    <p:sldId id="289" r:id="rId17"/>
    <p:sldId id="303" r:id="rId18"/>
    <p:sldId id="304" r:id="rId19"/>
    <p:sldId id="305" r:id="rId20"/>
    <p:sldId id="306" r:id="rId21"/>
    <p:sldId id="290" r:id="rId22"/>
  </p:sldIdLst>
  <p:sldSz cx="9144000" cy="5143500" type="screen16x9"/>
  <p:notesSz cx="6858000" cy="9144000"/>
  <p:embeddedFontLst>
    <p:embeddedFont>
      <p:font typeface="Bellota Text Light" charset="0"/>
      <p:regular r:id="rId24"/>
      <p:bold r:id="rId25"/>
      <p:italic r:id="rId26"/>
      <p:boldItalic r:id="rId27"/>
    </p:embeddedFont>
    <p:embeddedFont>
      <p:font typeface="Catamaran ExtraBold" charset="0"/>
      <p:bold r:id="rId28"/>
    </p:embeddedFont>
    <p:embeddedFont>
      <p:font typeface="Catamaran" charset="0"/>
      <p:regular r:id="rId29"/>
      <p:bold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182B24A4-CE14-4CFF-B1E5-92728488463D}">
  <a:tblStyle styleId="{182B24A4-CE14-4CFF-B1E5-92728488463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4" d="100"/>
          <a:sy n="64" d="100"/>
        </p:scale>
        <p:origin x="-72" y="-4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01437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bg>
      <p:bgPr>
        <a:solidFill>
          <a:schemeClr val="dk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/>
          <p:nvPr/>
        </p:nvSpPr>
        <p:spPr>
          <a:xfrm>
            <a:off x="1630650" y="1333450"/>
            <a:ext cx="5882700" cy="2476500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285750" algn="bl" rotWithShape="0">
              <a:srgbClr val="00131F">
                <a:alpha val="7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1927850" y="1583350"/>
            <a:ext cx="52884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927850" y="2840054"/>
            <a:ext cx="5288400" cy="7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Tyrannosaurus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7" name="Google Shape;5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479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Plesiosaur">
  <p:cSld name="TITLE_ONLY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2" name="Google Shape;6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8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Pterodactyl">
  <p:cSld name="TITLE_ONLY_1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7" name="Google Shape;6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Diplodocus">
  <p:cSld name="TITLE_ONLY_1_1_1_1_1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2" name="Google Shape;8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4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082050" y="1127750"/>
            <a:ext cx="6979800" cy="3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082050" y="1633651"/>
            <a:ext cx="6979800" cy="23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Bellota Text Light"/>
              <a:buChar char="●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1pPr>
            <a:lvl2pPr marL="914400" lvl="1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ellota Text Light"/>
              <a:buChar char="○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2pPr>
            <a:lvl3pPr marL="1371600" lvl="2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Bellota Text Light"/>
              <a:buChar char="■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3pPr>
            <a:lvl4pPr marL="1828800" lvl="3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●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4pPr>
            <a:lvl5pPr marL="2286000" lvl="4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○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5pPr>
            <a:lvl6pPr marL="2743200" lvl="5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■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6pPr>
            <a:lvl7pPr marL="3200400" lvl="6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●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7pPr>
            <a:lvl8pPr marL="3657600" lvl="7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○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8pPr>
            <a:lvl9pPr marL="4114800" lvl="8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■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lvl="2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lvl="3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lvl="4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lvl="5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lvl="6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lvl="7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lvl="8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6" r:id="rId3"/>
    <p:sldLayoutId id="2147483657" r:id="rId4"/>
    <p:sldLayoutId id="2147483660" r:id="rId5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>
            <a:spLocks noGrp="1"/>
          </p:cNvSpPr>
          <p:nvPr>
            <p:ph type="ctrTitle"/>
          </p:nvPr>
        </p:nvSpPr>
        <p:spPr>
          <a:xfrm>
            <a:off x="1905000" y="1962150"/>
            <a:ext cx="52884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 smtClean="0"/>
              <a:t>Matematika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SD </a:t>
            </a:r>
            <a:r>
              <a:rPr lang="en-US" dirty="0" err="1" smtClean="0"/>
              <a:t>Kelas</a:t>
            </a:r>
            <a:r>
              <a:rPr lang="en-US" dirty="0" smtClean="0"/>
              <a:t> 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66800" y="1581150"/>
            <a:ext cx="6979800" cy="1326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 smtClean="0"/>
              <a:t>M1</a:t>
            </a:r>
            <a:br>
              <a:rPr lang="en" sz="3200" dirty="0" smtClean="0"/>
            </a:br>
            <a:r>
              <a:rPr lang="en" sz="3200" dirty="0" smtClean="0"/>
              <a:t>BILANGAN BULAT</a:t>
            </a:r>
            <a:endParaRPr sz="3200"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M1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BILANGAN BULAT</a:t>
            </a:r>
          </a:p>
          <a:p>
            <a:pPr algn="ctr"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 smtClean="0"/>
          </a:p>
          <a:p>
            <a:pPr marL="171450" indent="-171450" algn="just">
              <a:spcBef>
                <a:spcPts val="600"/>
              </a:spcBef>
              <a:buClr>
                <a:schemeClr val="dk1"/>
              </a:buClr>
              <a:buSzPts val="1100"/>
              <a:buFont typeface="Arial" pitchFamily="34" charset="0"/>
              <a:buChar char="•"/>
            </a:pPr>
            <a:r>
              <a:rPr lang="en" sz="1200" b="1" dirty="0" smtClean="0"/>
              <a:t>Membulatkan bilangan bulat ke puluhan terdekat</a:t>
            </a:r>
          </a:p>
          <a:p>
            <a:pPr algn="just"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/>
              <a:t> </a:t>
            </a:r>
            <a:r>
              <a:rPr lang="en-US" sz="1200" b="1" dirty="0" smtClean="0"/>
              <a:t>    P</a:t>
            </a:r>
            <a:r>
              <a:rPr lang="en" sz="1200" b="1" dirty="0" smtClean="0"/>
              <a:t>embulatan bilangan ke dalam puluhan terdekat dilakukan dengan cara apabila nilai bilangan satuannya dibawah 5 dan menarik angka puluhan diatasnya apabila bilangan satuan tersebut bernilai 5 atau lebih. Contoh :</a:t>
            </a:r>
          </a:p>
          <a:p>
            <a:pPr algn="just"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43 dibulatkan menjadi 40</a:t>
            </a:r>
          </a:p>
          <a:p>
            <a:pPr algn="just"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54 dibulatkan menjadi 50</a:t>
            </a:r>
          </a:p>
          <a:p>
            <a:pPr algn="just"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875 dibulatkan menjadi 880</a:t>
            </a:r>
          </a:p>
          <a:p>
            <a:pPr algn="just"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 smtClean="0"/>
          </a:p>
          <a:p>
            <a:pPr marL="171450" indent="-171450" algn="just">
              <a:spcBef>
                <a:spcPts val="600"/>
              </a:spcBef>
              <a:buClr>
                <a:schemeClr val="dk1"/>
              </a:buClr>
              <a:buSzPts val="1100"/>
              <a:buFont typeface="Arial" pitchFamily="34" charset="0"/>
              <a:buChar char="•"/>
            </a:pPr>
            <a:r>
              <a:rPr lang="en" sz="1200" b="1" dirty="0" smtClean="0"/>
              <a:t>Membulatkan bilangan bulat ke ratusan terdekat</a:t>
            </a:r>
          </a:p>
          <a:p>
            <a:pPr algn="just"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/>
              <a:t> </a:t>
            </a:r>
            <a:r>
              <a:rPr lang="en-US" sz="1200" b="1" dirty="0" smtClean="0"/>
              <a:t>    P</a:t>
            </a:r>
            <a:r>
              <a:rPr lang="en" sz="1200" b="1" dirty="0"/>
              <a:t>embulatan bilangan ke dalam </a:t>
            </a:r>
            <a:r>
              <a:rPr lang="en" sz="1200" b="1" dirty="0" smtClean="0"/>
              <a:t>ratusan </a:t>
            </a:r>
            <a:r>
              <a:rPr lang="en" sz="1200" b="1" dirty="0"/>
              <a:t>terdekat dilakukan dengan cara apabila nilai bilangan satuannya dibawah </a:t>
            </a:r>
            <a:r>
              <a:rPr lang="en" sz="1200" b="1" dirty="0" smtClean="0"/>
              <a:t>50 </a:t>
            </a:r>
            <a:r>
              <a:rPr lang="en" sz="1200" b="1" dirty="0"/>
              <a:t>dan menarik angka </a:t>
            </a:r>
            <a:r>
              <a:rPr lang="en" sz="1200" b="1" dirty="0" smtClean="0"/>
              <a:t>ratusan </a:t>
            </a:r>
            <a:r>
              <a:rPr lang="en" sz="1200" b="1" dirty="0"/>
              <a:t>diatasnya apabila bilangan satuan tersebut bernilai </a:t>
            </a:r>
            <a:r>
              <a:rPr lang="en" sz="1200" b="1" dirty="0" smtClean="0"/>
              <a:t>50 atau </a:t>
            </a:r>
            <a:r>
              <a:rPr lang="en" sz="1200" b="1" dirty="0"/>
              <a:t>lebih. Contoh </a:t>
            </a:r>
            <a:r>
              <a:rPr lang="en" sz="1200" b="1" dirty="0" smtClean="0"/>
              <a:t>: 875 dibulatkan menjadi 900.</a:t>
            </a: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437147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66800" y="1581150"/>
            <a:ext cx="6979800" cy="1326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 smtClean="0"/>
              <a:t>M2</a:t>
            </a:r>
            <a:br>
              <a:rPr lang="en" sz="3200" dirty="0" smtClean="0"/>
            </a:br>
            <a:r>
              <a:rPr lang="en" sz="3200" dirty="0" smtClean="0"/>
              <a:t>SATUAN DEBIT</a:t>
            </a:r>
            <a:endParaRPr sz="3200"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80120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M2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SATUAN DEBIT</a:t>
            </a:r>
          </a:p>
          <a:p>
            <a:pPr algn="ctr">
              <a:buClr>
                <a:schemeClr val="dk1"/>
              </a:buClr>
              <a:buSzPts val="1100"/>
            </a:pPr>
            <a:endParaRPr lang="en" b="1" dirty="0"/>
          </a:p>
          <a:p>
            <a:pPr marL="285750" indent="-285750" algn="just">
              <a:buClr>
                <a:schemeClr val="dk1"/>
              </a:buClr>
              <a:buSzPts val="1100"/>
              <a:buFont typeface="Wingdings" pitchFamily="2" charset="2"/>
              <a:buChar char="Ø"/>
            </a:pPr>
            <a:r>
              <a:rPr lang="en-US" b="1" dirty="0" err="1" smtClean="0"/>
              <a:t>Satuan</a:t>
            </a:r>
            <a:r>
              <a:rPr lang="en-US" b="1" dirty="0" smtClean="0"/>
              <a:t> Volume</a:t>
            </a:r>
            <a:endParaRPr lang="en" b="1" dirty="0"/>
          </a:p>
          <a:p>
            <a:pPr marL="285750" indent="-285750" algn="just">
              <a:buClr>
                <a:schemeClr val="dk1"/>
              </a:buClr>
              <a:buSzPts val="1100"/>
              <a:buFont typeface="Wingdings" pitchFamily="2" charset="2"/>
              <a:buChar char="Ø"/>
            </a:pPr>
            <a:endParaRPr lang="en" b="1" dirty="0" smtClean="0"/>
          </a:p>
          <a:p>
            <a:pPr marL="285750" indent="-285750" algn="just">
              <a:buClr>
                <a:schemeClr val="dk1"/>
              </a:buClr>
              <a:buSzPts val="1100"/>
              <a:buFont typeface="Wingdings" pitchFamily="2" charset="2"/>
              <a:buChar char="Ø"/>
            </a:pPr>
            <a:endParaRPr lang="en" b="1" dirty="0"/>
          </a:p>
          <a:p>
            <a:pPr marL="285750" indent="-285750" algn="just">
              <a:buClr>
                <a:schemeClr val="dk1"/>
              </a:buClr>
              <a:buSzPts val="1100"/>
              <a:buFont typeface="Wingdings" pitchFamily="2" charset="2"/>
              <a:buChar char="Ø"/>
            </a:pPr>
            <a:endParaRPr lang="en" b="1" dirty="0" smtClean="0"/>
          </a:p>
          <a:p>
            <a:pPr marL="285750" indent="-285750" algn="just">
              <a:buClr>
                <a:schemeClr val="dk1"/>
              </a:buClr>
              <a:buSzPts val="1100"/>
              <a:buFont typeface="Wingdings" pitchFamily="2" charset="2"/>
              <a:buChar char="Ø"/>
            </a:pPr>
            <a:endParaRPr lang="en" b="1" dirty="0"/>
          </a:p>
          <a:p>
            <a:pPr marL="285750" indent="-285750" algn="just">
              <a:buClr>
                <a:schemeClr val="dk1"/>
              </a:buClr>
              <a:buSzPts val="1100"/>
              <a:buFont typeface="Wingdings" pitchFamily="2" charset="2"/>
              <a:buChar char="Ø"/>
            </a:pPr>
            <a:endParaRPr lang="en" b="1" dirty="0" smtClean="0"/>
          </a:p>
          <a:p>
            <a:pPr algn="just">
              <a:buClr>
                <a:schemeClr val="dk1"/>
              </a:buClr>
              <a:buSzPts val="1100"/>
            </a:pPr>
            <a:endParaRPr lang="en" b="1" dirty="0" smtClean="0"/>
          </a:p>
          <a:p>
            <a:pPr algn="just">
              <a:buClr>
                <a:schemeClr val="dk1"/>
              </a:buClr>
              <a:buSzPts val="1100"/>
            </a:pPr>
            <a:r>
              <a:rPr lang="en-US" b="1" dirty="0" smtClean="0"/>
              <a:t>K</a:t>
            </a:r>
            <a:r>
              <a:rPr lang="en" b="1" dirty="0" smtClean="0"/>
              <a:t>m 	: kilometer</a:t>
            </a:r>
          </a:p>
          <a:p>
            <a:pPr algn="just">
              <a:buClr>
                <a:schemeClr val="dk1"/>
              </a:buClr>
              <a:buSzPts val="1100"/>
            </a:pPr>
            <a:r>
              <a:rPr lang="en-US" b="1" dirty="0" smtClean="0"/>
              <a:t>H</a:t>
            </a:r>
            <a:r>
              <a:rPr lang="en" b="1" dirty="0" smtClean="0"/>
              <a:t>m	:hektometer</a:t>
            </a:r>
          </a:p>
          <a:p>
            <a:pPr algn="just">
              <a:buClr>
                <a:schemeClr val="dk1"/>
              </a:buClr>
              <a:buSzPts val="1100"/>
            </a:pPr>
            <a:r>
              <a:rPr lang="en-US" b="1" dirty="0" smtClean="0"/>
              <a:t>D</a:t>
            </a:r>
            <a:r>
              <a:rPr lang="en" b="1" dirty="0" smtClean="0"/>
              <a:t>am	: dekameter</a:t>
            </a:r>
          </a:p>
          <a:p>
            <a:pPr algn="just">
              <a:buClr>
                <a:schemeClr val="dk1"/>
              </a:buClr>
              <a:buSzPts val="1100"/>
            </a:pPr>
            <a:r>
              <a:rPr lang="en-US" b="1" dirty="0" smtClean="0"/>
              <a:t>M	: meter</a:t>
            </a:r>
            <a:endParaRPr lang="en" b="1" dirty="0" smtClean="0"/>
          </a:p>
          <a:p>
            <a:pPr algn="just">
              <a:buClr>
                <a:schemeClr val="dk1"/>
              </a:buClr>
              <a:buSzPts val="1100"/>
            </a:pPr>
            <a:r>
              <a:rPr lang="en-US" b="1" dirty="0" smtClean="0"/>
              <a:t>D</a:t>
            </a:r>
            <a:r>
              <a:rPr lang="en" b="1" dirty="0" smtClean="0"/>
              <a:t>m	: desimeter</a:t>
            </a:r>
          </a:p>
          <a:p>
            <a:pPr algn="just">
              <a:buClr>
                <a:schemeClr val="dk1"/>
              </a:buClr>
              <a:buSzPts val="1100"/>
            </a:pPr>
            <a:r>
              <a:rPr lang="en-US" b="1" dirty="0" smtClean="0"/>
              <a:t>C</a:t>
            </a:r>
            <a:r>
              <a:rPr lang="en" b="1" dirty="0" smtClean="0"/>
              <a:t>m	: sentimeter</a:t>
            </a:r>
          </a:p>
          <a:p>
            <a:pPr algn="just">
              <a:buClr>
                <a:schemeClr val="dk1"/>
              </a:buClr>
              <a:buSzPts val="1100"/>
            </a:pPr>
            <a:r>
              <a:rPr lang="en-US" b="1" dirty="0" smtClean="0"/>
              <a:t>M</a:t>
            </a:r>
            <a:r>
              <a:rPr lang="en" b="1" dirty="0" smtClean="0"/>
              <a:t>m	: milimeter</a:t>
            </a:r>
          </a:p>
          <a:p>
            <a:pPr algn="just">
              <a:buClr>
                <a:schemeClr val="dk1"/>
              </a:buClr>
              <a:buSzPts val="1100"/>
            </a:pPr>
            <a:endParaRPr lang="en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3225" y="1352550"/>
            <a:ext cx="3257550" cy="153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0199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M2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SATUAN DEBIT</a:t>
            </a:r>
          </a:p>
          <a:p>
            <a:pPr algn="ctr">
              <a:buClr>
                <a:schemeClr val="dk1"/>
              </a:buClr>
              <a:buSzPts val="1100"/>
            </a:pPr>
            <a:endParaRPr lang="en" b="1" dirty="0"/>
          </a:p>
          <a:p>
            <a:pPr marL="285750" indent="-285750" algn="just">
              <a:buClr>
                <a:schemeClr val="dk1"/>
              </a:buClr>
              <a:buSzPts val="1100"/>
              <a:buFont typeface="Arial" pitchFamily="34" charset="0"/>
              <a:buChar char="•"/>
            </a:pPr>
            <a:r>
              <a:rPr lang="en-US" b="1" dirty="0" smtClean="0"/>
              <a:t>C</a:t>
            </a:r>
            <a:r>
              <a:rPr lang="en" b="1" dirty="0" smtClean="0"/>
              <a:t>ontoh satuan volume :</a:t>
            </a:r>
          </a:p>
          <a:p>
            <a:pPr algn="just">
              <a:buClr>
                <a:schemeClr val="dk1"/>
              </a:buClr>
              <a:buSzPts val="1100"/>
            </a:pPr>
            <a:r>
              <a:rPr lang="en" b="1" dirty="0"/>
              <a:t>	</a:t>
            </a:r>
            <a:r>
              <a:rPr lang="en" b="1" dirty="0" smtClean="0"/>
              <a:t>15 hm^3 = 15.000.000 m^3</a:t>
            </a:r>
          </a:p>
          <a:p>
            <a:pPr algn="just">
              <a:buClr>
                <a:schemeClr val="dk1"/>
              </a:buClr>
              <a:buSzPts val="1100"/>
            </a:pPr>
            <a:r>
              <a:rPr lang="en" b="1" dirty="0"/>
              <a:t>	</a:t>
            </a:r>
            <a:r>
              <a:rPr lang="en" b="1" dirty="0" smtClean="0"/>
              <a:t>300 dam^3 = 0.003 km^3</a:t>
            </a:r>
          </a:p>
          <a:p>
            <a:pPr algn="just">
              <a:buClr>
                <a:schemeClr val="dk1"/>
              </a:buClr>
              <a:buSzPts val="1100"/>
            </a:pPr>
            <a:r>
              <a:rPr lang="en" b="1" dirty="0"/>
              <a:t>	</a:t>
            </a:r>
            <a:r>
              <a:rPr lang="en" b="1" dirty="0" smtClean="0"/>
              <a:t>210 cm^3 = 0.21 dm^3</a:t>
            </a:r>
          </a:p>
          <a:p>
            <a:pPr algn="just">
              <a:buClr>
                <a:schemeClr val="dk1"/>
              </a:buClr>
              <a:buSzPts val="1100"/>
            </a:pPr>
            <a:endParaRPr lang="en" b="1" dirty="0"/>
          </a:p>
          <a:p>
            <a:pPr marL="285750" indent="-285750" algn="just">
              <a:buClr>
                <a:schemeClr val="dk1"/>
              </a:buClr>
              <a:buSzPts val="1100"/>
              <a:buFont typeface="Wingdings" pitchFamily="2" charset="2"/>
              <a:buChar char="Ø"/>
            </a:pPr>
            <a:r>
              <a:rPr lang="en" b="1" dirty="0" smtClean="0"/>
              <a:t>Satuan Waktu</a:t>
            </a:r>
          </a:p>
          <a:p>
            <a:pPr algn="just">
              <a:buClr>
                <a:schemeClr val="dk1"/>
              </a:buClr>
              <a:buSzPts val="1100"/>
            </a:pPr>
            <a:r>
              <a:rPr lang="en" b="1" dirty="0" smtClean="0"/>
              <a:t>	1 minggu terdiri atas 7 hari</a:t>
            </a:r>
          </a:p>
          <a:p>
            <a:pPr algn="just">
              <a:buClr>
                <a:schemeClr val="dk1"/>
              </a:buClr>
              <a:buSzPts val="1100"/>
            </a:pPr>
            <a:r>
              <a:rPr lang="en" b="1" dirty="0"/>
              <a:t>	</a:t>
            </a:r>
            <a:r>
              <a:rPr lang="en" b="1" dirty="0" smtClean="0"/>
              <a:t>1 bulan terdiri atas 30 hari</a:t>
            </a:r>
          </a:p>
          <a:p>
            <a:pPr algn="just">
              <a:buClr>
                <a:schemeClr val="dk1"/>
              </a:buClr>
              <a:buSzPts val="1100"/>
            </a:pPr>
            <a:r>
              <a:rPr lang="en" b="1" dirty="0"/>
              <a:t>	</a:t>
            </a:r>
            <a:r>
              <a:rPr lang="en" b="1" dirty="0" smtClean="0"/>
              <a:t>1 bulan terdiri atas 4 minggu</a:t>
            </a:r>
          </a:p>
          <a:p>
            <a:pPr algn="just">
              <a:buClr>
                <a:schemeClr val="dk1"/>
              </a:buClr>
              <a:buSzPts val="1100"/>
            </a:pPr>
            <a:r>
              <a:rPr lang="en" b="1" dirty="0"/>
              <a:t>	</a:t>
            </a:r>
            <a:r>
              <a:rPr lang="en" b="1" dirty="0" smtClean="0"/>
              <a:t>1 windu terdiri atas 8 bulan </a:t>
            </a:r>
          </a:p>
          <a:p>
            <a:pPr algn="just">
              <a:buClr>
                <a:schemeClr val="dk1"/>
              </a:buClr>
              <a:buSzPts val="1100"/>
            </a:pPr>
            <a:r>
              <a:rPr lang="en" b="1" dirty="0"/>
              <a:t>	</a:t>
            </a:r>
            <a:r>
              <a:rPr lang="en" b="1" dirty="0" smtClean="0"/>
              <a:t>1 dasawarsa terdiri atas 10 tahun</a:t>
            </a:r>
          </a:p>
          <a:p>
            <a:pPr algn="just">
              <a:buClr>
                <a:schemeClr val="dk1"/>
              </a:buClr>
              <a:buSzPts val="1100"/>
            </a:pPr>
            <a:r>
              <a:rPr lang="en" b="1" dirty="0"/>
              <a:t>	</a:t>
            </a:r>
            <a:r>
              <a:rPr lang="en" b="1" dirty="0" smtClean="0"/>
              <a:t>1 abad terdiri atas 100 tahun </a:t>
            </a:r>
            <a:endParaRPr lang="en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2889028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M2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SATUAN DEBIT</a:t>
            </a:r>
          </a:p>
          <a:p>
            <a:pPr algn="ctr">
              <a:buClr>
                <a:schemeClr val="dk1"/>
              </a:buClr>
              <a:buSzPts val="1100"/>
            </a:pPr>
            <a:endParaRPr lang="en" b="1" dirty="0"/>
          </a:p>
          <a:p>
            <a:pPr marL="285750" indent="-285750" algn="just">
              <a:buClr>
                <a:schemeClr val="dk1"/>
              </a:buClr>
              <a:buSzPts val="1100"/>
              <a:buFont typeface="Arial" pitchFamily="34" charset="0"/>
              <a:buChar char="•"/>
            </a:pPr>
            <a:r>
              <a:rPr lang="en-US" b="1" dirty="0" smtClean="0"/>
              <a:t>C</a:t>
            </a:r>
            <a:r>
              <a:rPr lang="en" b="1" dirty="0" smtClean="0"/>
              <a:t>ontoh satuan waktu :</a:t>
            </a:r>
          </a:p>
          <a:p>
            <a:pPr lvl="3" algn="just">
              <a:buClr>
                <a:schemeClr val="dk1"/>
              </a:buClr>
              <a:buSzPts val="1100"/>
            </a:pPr>
            <a:r>
              <a:rPr lang="en" b="1" dirty="0"/>
              <a:t>	</a:t>
            </a:r>
            <a:r>
              <a:rPr lang="en" b="1" dirty="0" smtClean="0"/>
              <a:t>2 minggu = 14 hari</a:t>
            </a:r>
          </a:p>
          <a:p>
            <a:pPr lvl="3" algn="just">
              <a:buClr>
                <a:schemeClr val="dk1"/>
              </a:buClr>
              <a:buSzPts val="1100"/>
            </a:pPr>
            <a:r>
              <a:rPr lang="en" b="1" dirty="0"/>
              <a:t>	</a:t>
            </a:r>
            <a:r>
              <a:rPr lang="en" b="1" dirty="0" smtClean="0"/>
              <a:t>6 bulan = 24 minggu</a:t>
            </a:r>
          </a:p>
          <a:p>
            <a:pPr lvl="3" algn="just">
              <a:buClr>
                <a:schemeClr val="dk1"/>
              </a:buClr>
              <a:buSzPts val="1100"/>
            </a:pPr>
            <a:r>
              <a:rPr lang="en" b="1" dirty="0"/>
              <a:t>	</a:t>
            </a:r>
            <a:r>
              <a:rPr lang="en" b="1" dirty="0" smtClean="0"/>
              <a:t>3 bulan = 90 hari</a:t>
            </a:r>
          </a:p>
          <a:p>
            <a:pPr lvl="3" algn="just">
              <a:buClr>
                <a:schemeClr val="dk1"/>
              </a:buClr>
              <a:buSzPts val="1100"/>
            </a:pPr>
            <a:r>
              <a:rPr lang="en" b="1" dirty="0"/>
              <a:t>	</a:t>
            </a:r>
            <a:r>
              <a:rPr lang="en" b="1" dirty="0" smtClean="0"/>
              <a:t>3 windu = 24 tahun</a:t>
            </a:r>
          </a:p>
          <a:p>
            <a:pPr lvl="3" algn="just">
              <a:buClr>
                <a:schemeClr val="dk1"/>
              </a:buClr>
              <a:buSzPts val="1100"/>
            </a:pPr>
            <a:endParaRPr lang="en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128589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66800" y="1581150"/>
            <a:ext cx="6979800" cy="1326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 smtClean="0"/>
              <a:t>M3</a:t>
            </a:r>
            <a:br>
              <a:rPr lang="en" sz="3200" dirty="0" smtClean="0"/>
            </a:br>
            <a:r>
              <a:rPr lang="en" sz="3200" dirty="0" smtClean="0"/>
              <a:t>MENGHITUNG LUAS DAN VOLUME</a:t>
            </a:r>
            <a:endParaRPr sz="3200"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0189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M3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MENGHITUNG LUAS DAN VOLUME</a:t>
            </a:r>
            <a:endParaRPr lang="en" b="1" dirty="0" smtClean="0"/>
          </a:p>
          <a:p>
            <a:pPr algn="ctr">
              <a:lnSpc>
                <a:spcPct val="150000"/>
              </a:lnSpc>
              <a:buClr>
                <a:schemeClr val="dk1"/>
              </a:buClr>
              <a:buSzPts val="1100"/>
            </a:pPr>
            <a:endParaRPr lang="en" sz="1200" dirty="0" smtClean="0"/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 smtClean="0"/>
              <a:t>a. </a:t>
            </a:r>
            <a:r>
              <a:rPr lang="en-US" sz="1200" b="1" dirty="0" err="1" smtClean="0"/>
              <a:t>Menghitung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luas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persegi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panjang</a:t>
            </a:r>
            <a:r>
              <a:rPr lang="en-US" sz="1200" b="1" dirty="0" smtClean="0"/>
              <a:t> </a:t>
            </a:r>
            <a:endParaRPr lang="en-US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L = s x s 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Contoh :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Diketahui persegi ABCD dengan panjang sisi 4 cm. Tentukan luas persegi ABCD tersebut.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Jawab : L = s x s = 4 x 4 = 16 cm ^2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b. Menghitung luas jajargenjang 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L = a x t 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Contoh : </a:t>
            </a: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 smtClean="0"/>
              <a:t>D</a:t>
            </a:r>
            <a:r>
              <a:rPr lang="en" sz="1200" b="1" dirty="0" smtClean="0"/>
              <a:t>iketahui sebuah bangun jajargenjang ABCD dengan panjang alas 5 cm dan tinggi 2 cm. tentukan luasnya.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Jawab : L = a x t = 5 x 2 = 10 cm^2</a:t>
            </a: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1172864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M3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Volume Kubus dan Balok</a:t>
            </a:r>
          </a:p>
          <a:p>
            <a:pPr algn="ctr">
              <a:lnSpc>
                <a:spcPct val="150000"/>
              </a:lnSpc>
              <a:buClr>
                <a:schemeClr val="dk1"/>
              </a:buClr>
              <a:buSzPts val="1100"/>
            </a:pPr>
            <a:endParaRPr lang="en" sz="1200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Volume Kubus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b="1" dirty="0" smtClean="0"/>
              <a:t>V = s x s x s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b="1" dirty="0" smtClean="0"/>
              <a:t>Volume Balok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b="1" dirty="0" smtClean="0"/>
              <a:t>V = p x l x t</a:t>
            </a:r>
            <a:endParaRPr lang="en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7550" y="1276351"/>
            <a:ext cx="1590595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7550" y="2647951"/>
            <a:ext cx="2070325" cy="1341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08327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66800" y="1581150"/>
            <a:ext cx="6979800" cy="1326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 smtClean="0"/>
              <a:t>M4</a:t>
            </a:r>
            <a:br>
              <a:rPr lang="en" sz="3200" dirty="0" smtClean="0"/>
            </a:br>
            <a:r>
              <a:rPr lang="en" sz="3200" dirty="0" smtClean="0"/>
              <a:t>PENGOLAHAN DATA</a:t>
            </a:r>
            <a:endParaRPr sz="3200"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2585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M4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PENGOLAHAN DATA </a:t>
            </a:r>
            <a:endParaRPr lang="en" b="1" dirty="0" smtClean="0"/>
          </a:p>
          <a:p>
            <a:pPr algn="ctr">
              <a:lnSpc>
                <a:spcPct val="150000"/>
              </a:lnSpc>
              <a:buClr>
                <a:schemeClr val="dk1"/>
              </a:buClr>
              <a:buSzPts val="1100"/>
            </a:pPr>
            <a:endParaRPr lang="en" sz="1200" dirty="0" smtClean="0"/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r>
              <a:rPr lang="en-US" sz="1200" b="1" dirty="0" smtClean="0"/>
              <a:t>Diagram </a:t>
            </a:r>
            <a:r>
              <a:rPr lang="en-US" sz="1200" b="1" dirty="0" err="1" smtClean="0"/>
              <a:t>batang</a:t>
            </a:r>
            <a:endParaRPr lang="en-US" sz="1200" b="1" dirty="0" smtClean="0"/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endParaRPr lang="en-US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9081" y="1800616"/>
            <a:ext cx="3159309" cy="2066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Google Shape;119;p23"/>
          <p:cNvSpPr txBox="1">
            <a:spLocks/>
          </p:cNvSpPr>
          <p:nvPr/>
        </p:nvSpPr>
        <p:spPr>
          <a:xfrm>
            <a:off x="4656667" y="1276350"/>
            <a:ext cx="3733800" cy="335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endParaRPr lang="en-US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  <p:sp>
        <p:nvSpPr>
          <p:cNvPr id="8" name="Google Shape;119;p23"/>
          <p:cNvSpPr txBox="1">
            <a:spLocks/>
          </p:cNvSpPr>
          <p:nvPr/>
        </p:nvSpPr>
        <p:spPr>
          <a:xfrm>
            <a:off x="4419599" y="1504951"/>
            <a:ext cx="3970867" cy="281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 smtClean="0"/>
              <a:t>Diagram </a:t>
            </a:r>
            <a:r>
              <a:rPr lang="en-US" sz="1200" b="1" dirty="0" err="1" smtClean="0"/>
              <a:t>disamping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dibaca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sebagai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berikut</a:t>
            </a:r>
            <a:r>
              <a:rPr lang="en-US" sz="1200" b="1" dirty="0" smtClean="0"/>
              <a:t> :</a:t>
            </a: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r>
              <a:rPr lang="en-US" sz="1200" b="1" dirty="0" err="1" smtClean="0"/>
              <a:t>Siswa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umur</a:t>
            </a:r>
            <a:r>
              <a:rPr lang="en-US" sz="1200" b="1" dirty="0" smtClean="0"/>
              <a:t> 11 </a:t>
            </a:r>
            <a:r>
              <a:rPr lang="en-US" sz="1200" b="1" dirty="0" err="1" smtClean="0"/>
              <a:t>tahun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ada</a:t>
            </a:r>
            <a:r>
              <a:rPr lang="en-US" sz="1200" b="1" dirty="0" smtClean="0"/>
              <a:t> 8 </a:t>
            </a:r>
            <a:r>
              <a:rPr lang="en-US" sz="1200" b="1" dirty="0" err="1" smtClean="0"/>
              <a:t>oramg</a:t>
            </a:r>
            <a:r>
              <a:rPr lang="en-US" sz="1200" b="1" dirty="0" smtClean="0"/>
              <a:t>.</a:t>
            </a: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r>
              <a:rPr lang="en-US" sz="1200" b="1" dirty="0" err="1" smtClean="0"/>
              <a:t>Siswa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umur</a:t>
            </a:r>
            <a:r>
              <a:rPr lang="en-US" sz="1200" b="1" dirty="0" smtClean="0"/>
              <a:t> 12 </a:t>
            </a:r>
            <a:r>
              <a:rPr lang="en-US" sz="1200" b="1" dirty="0" err="1" smtClean="0"/>
              <a:t>tahun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ada</a:t>
            </a:r>
            <a:r>
              <a:rPr lang="en-US" sz="1200" b="1" dirty="0" smtClean="0"/>
              <a:t> 20 orang</a:t>
            </a: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r>
              <a:rPr lang="en-US" sz="1200" b="1" dirty="0" err="1" smtClean="0"/>
              <a:t>Siswa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umur</a:t>
            </a:r>
            <a:r>
              <a:rPr lang="en-US" sz="1200" b="1" dirty="0" smtClean="0"/>
              <a:t> 13 </a:t>
            </a:r>
            <a:r>
              <a:rPr lang="en-US" sz="1200" b="1" dirty="0" err="1" smtClean="0"/>
              <a:t>tahun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ada</a:t>
            </a:r>
            <a:r>
              <a:rPr lang="en-US" sz="1200" b="1" dirty="0" smtClean="0"/>
              <a:t> 10 orang</a:t>
            </a: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r>
              <a:rPr lang="en-US" sz="1200" b="1" dirty="0" err="1" smtClean="0"/>
              <a:t>Siswa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umur</a:t>
            </a:r>
            <a:r>
              <a:rPr lang="en-US" sz="1200" b="1" dirty="0" smtClean="0"/>
              <a:t> 14 </a:t>
            </a:r>
            <a:r>
              <a:rPr lang="en-US" sz="1200" b="1" dirty="0" err="1" smtClean="0"/>
              <a:t>tahun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ada</a:t>
            </a:r>
            <a:r>
              <a:rPr lang="en-US" sz="1200" b="1" dirty="0" smtClean="0"/>
              <a:t> 2 orang</a:t>
            </a: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r>
              <a:rPr lang="en-US" sz="1200" b="1" dirty="0" err="1" smtClean="0"/>
              <a:t>Jumlah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siswa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kelas</a:t>
            </a:r>
            <a:r>
              <a:rPr lang="en-US" sz="1200" b="1" dirty="0" smtClean="0"/>
              <a:t> VI SD </a:t>
            </a:r>
            <a:r>
              <a:rPr lang="en-US" sz="1200" b="1" dirty="0" err="1" smtClean="0"/>
              <a:t>jati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mulya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ada</a:t>
            </a:r>
            <a:r>
              <a:rPr lang="en-US" sz="1200" b="1" dirty="0" smtClean="0"/>
              <a:t> 40 orang</a:t>
            </a:r>
            <a:endParaRPr lang="en-US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32797927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M4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PENGOLAHAN DATA </a:t>
            </a:r>
            <a:endParaRPr lang="en" b="1" dirty="0" smtClean="0"/>
          </a:p>
          <a:p>
            <a:pPr algn="ctr">
              <a:lnSpc>
                <a:spcPct val="150000"/>
              </a:lnSpc>
              <a:buClr>
                <a:schemeClr val="dk1"/>
              </a:buClr>
              <a:buSzPts val="1100"/>
            </a:pPr>
            <a:endParaRPr lang="en" sz="1200" dirty="0" smtClean="0"/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 smtClean="0"/>
              <a:t>2. Diagram </a:t>
            </a:r>
            <a:r>
              <a:rPr lang="en-US" sz="1200" b="1" dirty="0" err="1" smtClean="0"/>
              <a:t>Garis</a:t>
            </a:r>
            <a:r>
              <a:rPr lang="en-US" sz="1200" b="1" dirty="0" smtClean="0"/>
              <a:t> </a:t>
            </a:r>
            <a:endParaRPr lang="en-US" sz="1200" b="1" dirty="0" smtClean="0"/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endParaRPr lang="en-US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  <p:sp>
        <p:nvSpPr>
          <p:cNvPr id="7" name="Google Shape;119;p23"/>
          <p:cNvSpPr txBox="1">
            <a:spLocks/>
          </p:cNvSpPr>
          <p:nvPr/>
        </p:nvSpPr>
        <p:spPr>
          <a:xfrm>
            <a:off x="4656667" y="1276350"/>
            <a:ext cx="3733800" cy="335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endParaRPr lang="en-US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  <p:sp>
        <p:nvSpPr>
          <p:cNvPr id="8" name="Google Shape;119;p23"/>
          <p:cNvSpPr txBox="1">
            <a:spLocks/>
          </p:cNvSpPr>
          <p:nvPr/>
        </p:nvSpPr>
        <p:spPr>
          <a:xfrm>
            <a:off x="4419599" y="1504951"/>
            <a:ext cx="3970867" cy="281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 smtClean="0"/>
              <a:t>Diagram </a:t>
            </a:r>
            <a:r>
              <a:rPr lang="en-US" sz="1200" b="1" dirty="0" err="1" smtClean="0"/>
              <a:t>disamping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dibaca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sebagai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berikut</a:t>
            </a:r>
            <a:r>
              <a:rPr lang="en-US" sz="1200" b="1" dirty="0" smtClean="0"/>
              <a:t> :</a:t>
            </a: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r>
              <a:rPr lang="en-US" sz="1200" b="1" dirty="0" err="1" smtClean="0"/>
              <a:t>Siswa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umur</a:t>
            </a:r>
            <a:r>
              <a:rPr lang="en-US" sz="1200" b="1" dirty="0" smtClean="0"/>
              <a:t> 11 </a:t>
            </a:r>
            <a:r>
              <a:rPr lang="en-US" sz="1200" b="1" dirty="0" err="1" smtClean="0"/>
              <a:t>tahun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ada</a:t>
            </a:r>
            <a:r>
              <a:rPr lang="en-US" sz="1200" b="1" dirty="0" smtClean="0"/>
              <a:t> 3 </a:t>
            </a:r>
            <a:r>
              <a:rPr lang="en-US" sz="1200" b="1" dirty="0" err="1" smtClean="0"/>
              <a:t>oramg</a:t>
            </a:r>
            <a:r>
              <a:rPr lang="en-US" sz="1200" b="1" dirty="0" smtClean="0"/>
              <a:t>.</a:t>
            </a: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r>
              <a:rPr lang="en-US" sz="1200" b="1" dirty="0" err="1" smtClean="0"/>
              <a:t>Siswa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umur</a:t>
            </a:r>
            <a:r>
              <a:rPr lang="en-US" sz="1200" b="1" dirty="0" smtClean="0"/>
              <a:t> 12 </a:t>
            </a:r>
            <a:r>
              <a:rPr lang="en-US" sz="1200" b="1" dirty="0" err="1" smtClean="0"/>
              <a:t>tahun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ada</a:t>
            </a:r>
            <a:r>
              <a:rPr lang="en-US" sz="1200" b="1" dirty="0" smtClean="0"/>
              <a:t> 12 orang</a:t>
            </a: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r>
              <a:rPr lang="en-US" sz="1200" b="1" dirty="0" err="1" smtClean="0"/>
              <a:t>Siswa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umur</a:t>
            </a:r>
            <a:r>
              <a:rPr lang="en-US" sz="1200" b="1" dirty="0" smtClean="0"/>
              <a:t> 13 </a:t>
            </a:r>
            <a:r>
              <a:rPr lang="en-US" sz="1200" b="1" dirty="0" err="1" smtClean="0"/>
              <a:t>tahun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ada</a:t>
            </a:r>
            <a:r>
              <a:rPr lang="en-US" sz="1200" b="1" dirty="0" smtClean="0"/>
              <a:t> 18 orang</a:t>
            </a: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r>
              <a:rPr lang="en-US" sz="1200" b="1" dirty="0" err="1" smtClean="0"/>
              <a:t>Siswa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umur</a:t>
            </a:r>
            <a:r>
              <a:rPr lang="en-US" sz="1200" b="1" dirty="0" smtClean="0"/>
              <a:t> 14 </a:t>
            </a:r>
            <a:r>
              <a:rPr lang="en-US" sz="1200" b="1" dirty="0" err="1" smtClean="0"/>
              <a:t>tahun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ada</a:t>
            </a:r>
            <a:r>
              <a:rPr lang="en-US" sz="1200" b="1" dirty="0" smtClean="0"/>
              <a:t> 9 orang</a:t>
            </a: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r>
              <a:rPr lang="en-US" sz="1200" b="1" dirty="0" err="1" smtClean="0"/>
              <a:t>Jumlah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siswa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kelas</a:t>
            </a:r>
            <a:r>
              <a:rPr lang="en-US" sz="1200" b="1" dirty="0" smtClean="0"/>
              <a:t> VI SD </a:t>
            </a:r>
            <a:r>
              <a:rPr lang="en-US" sz="1200" b="1" dirty="0" err="1" smtClean="0"/>
              <a:t>jati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mulya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ada</a:t>
            </a:r>
            <a:r>
              <a:rPr lang="en-US" sz="1200" b="1" dirty="0" smtClean="0"/>
              <a:t> 42  orang</a:t>
            </a:r>
            <a:endParaRPr lang="en-US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1" y="1802850"/>
            <a:ext cx="3047999" cy="21177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542623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M4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PENGOLAHAN DATA </a:t>
            </a:r>
            <a:endParaRPr lang="en" b="1" dirty="0" smtClean="0"/>
          </a:p>
          <a:p>
            <a:pPr algn="ctr">
              <a:lnSpc>
                <a:spcPct val="150000"/>
              </a:lnSpc>
              <a:buClr>
                <a:schemeClr val="dk1"/>
              </a:buClr>
              <a:buSzPts val="1100"/>
            </a:pPr>
            <a:endParaRPr lang="en" sz="1200" dirty="0" smtClean="0"/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 smtClean="0"/>
              <a:t>3. Diagram </a:t>
            </a:r>
            <a:r>
              <a:rPr lang="en-US" sz="1200" b="1" dirty="0" err="1" smtClean="0"/>
              <a:t>Lingkaran</a:t>
            </a:r>
            <a:endParaRPr lang="en-US" sz="1200" b="1" dirty="0" smtClean="0"/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endParaRPr lang="en-US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  <p:sp>
        <p:nvSpPr>
          <p:cNvPr id="7" name="Google Shape;119;p23"/>
          <p:cNvSpPr txBox="1">
            <a:spLocks/>
          </p:cNvSpPr>
          <p:nvPr/>
        </p:nvSpPr>
        <p:spPr>
          <a:xfrm>
            <a:off x="4656667" y="1276350"/>
            <a:ext cx="3733800" cy="335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endParaRPr lang="en-US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871662"/>
            <a:ext cx="1972844" cy="176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3159" y="1152304"/>
            <a:ext cx="4817308" cy="32608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311626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66800" y="1581150"/>
            <a:ext cx="6979800" cy="1326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 smtClean="0"/>
              <a:t>M5</a:t>
            </a:r>
            <a:br>
              <a:rPr lang="en" sz="3200" dirty="0" smtClean="0"/>
            </a:br>
            <a:r>
              <a:rPr lang="en" sz="3200" dirty="0" smtClean="0"/>
              <a:t>PECAHAN</a:t>
            </a:r>
            <a:endParaRPr sz="3200"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487529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M5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PECAHAN</a:t>
            </a:r>
            <a:endParaRPr lang="en" b="1" dirty="0" smtClean="0"/>
          </a:p>
          <a:p>
            <a:pPr algn="ctr">
              <a:lnSpc>
                <a:spcPct val="150000"/>
              </a:lnSpc>
              <a:buClr>
                <a:schemeClr val="dk1"/>
              </a:buClr>
              <a:buSzPts val="1100"/>
            </a:pPr>
            <a:endParaRPr lang="en" sz="1200" dirty="0" smtClean="0"/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r>
              <a:rPr lang="en-US" sz="1200" b="1" dirty="0" err="1" smtClean="0"/>
              <a:t>Menyerdehanakan</a:t>
            </a:r>
            <a:r>
              <a:rPr lang="en" sz="1200" b="1" dirty="0" smtClean="0"/>
              <a:t> Pecahan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Cara menyerdehanakan pecahan adalah sebagai berikut :</a:t>
            </a:r>
          </a:p>
          <a:p>
            <a:pPr marL="171450" indent="-171450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  <a:buFontTx/>
              <a:buChar char="-"/>
            </a:pPr>
            <a:r>
              <a:rPr lang="en" sz="1200" b="1" dirty="0" smtClean="0"/>
              <a:t>pertama, tentukan FPB dari pembilang dan penyebut yang ada.</a:t>
            </a:r>
          </a:p>
          <a:p>
            <a:pPr marL="171450" indent="-171450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  <a:buFontTx/>
              <a:buChar char="-"/>
            </a:pPr>
            <a:r>
              <a:rPr lang="en-US" sz="1200" b="1" dirty="0" smtClean="0"/>
              <a:t>K</a:t>
            </a:r>
            <a:r>
              <a:rPr lang="en" sz="1200" b="1" dirty="0" smtClean="0"/>
              <a:t>emudian bagi pembilang dan penyebut pecahan tersebut dengan FPB yang sudah diperoleh</a:t>
            </a:r>
          </a:p>
          <a:p>
            <a:pPr marL="171450" indent="-171450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  <a:buFontTx/>
              <a:buChar char="-"/>
            </a:pPr>
            <a:r>
              <a:rPr lang="en-US" sz="1200" b="1" dirty="0" smtClean="0"/>
              <a:t>A</a:t>
            </a:r>
            <a:r>
              <a:rPr lang="en" sz="1200" b="1" dirty="0" smtClean="0"/>
              <a:t>pabila penyebut dan pembilang sudah tidak dapat dibagi lagi, maka pecahan tersebut merupakan bentuk pecahan yang paling sederhana.</a:t>
            </a: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32347262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M5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PECAHAN</a:t>
            </a:r>
            <a:endParaRPr lang="en" b="1" dirty="0" smtClean="0"/>
          </a:p>
          <a:p>
            <a:pPr algn="ctr">
              <a:lnSpc>
                <a:spcPct val="150000"/>
              </a:lnSpc>
              <a:buClr>
                <a:schemeClr val="dk1"/>
              </a:buClr>
              <a:buSzPts val="1100"/>
            </a:pPr>
            <a:endParaRPr lang="en" sz="1200" dirty="0" smtClean="0"/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r>
              <a:rPr lang="en-US" sz="1200" b="1" dirty="0" err="1" smtClean="0"/>
              <a:t>Menyerdehanakan</a:t>
            </a:r>
            <a:r>
              <a:rPr lang="en" sz="1200" b="1" dirty="0" smtClean="0"/>
              <a:t> Pecahan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3067" y="1733550"/>
            <a:ext cx="4487333" cy="32809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459713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M5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PECAHAN</a:t>
            </a:r>
            <a:endParaRPr lang="en" b="1" dirty="0" smtClean="0"/>
          </a:p>
          <a:p>
            <a:pPr algn="ctr">
              <a:lnSpc>
                <a:spcPct val="150000"/>
              </a:lnSpc>
              <a:buClr>
                <a:schemeClr val="dk1"/>
              </a:buClr>
              <a:buSzPts val="1100"/>
            </a:pPr>
            <a:endParaRPr lang="en" sz="1200" dirty="0" smtClean="0"/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2. Mengubah bentuk pecahan ke bentuk desimal 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a. </a:t>
            </a:r>
            <a:r>
              <a:rPr lang="en-US" sz="1200" b="1" dirty="0" smtClean="0"/>
              <a:t>D</a:t>
            </a:r>
            <a:r>
              <a:rPr lang="en" sz="1200" b="1" dirty="0" smtClean="0"/>
              <a:t>engan cara membagi pembilang pecahan dengan penyebut pecahan (bagi kuranf)</a:t>
            </a: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6879" y="2190750"/>
            <a:ext cx="3914775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686363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M5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PECAHAN</a:t>
            </a:r>
            <a:endParaRPr lang="en" b="1" dirty="0" smtClean="0"/>
          </a:p>
          <a:p>
            <a:pPr algn="ctr">
              <a:lnSpc>
                <a:spcPct val="150000"/>
              </a:lnSpc>
              <a:buClr>
                <a:schemeClr val="dk1"/>
              </a:buClr>
              <a:buSzPts val="1100"/>
            </a:pPr>
            <a:endParaRPr lang="en" sz="1200" dirty="0" smtClean="0"/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2. Mengubah bentuk pecahan ke bentuk desimal 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b. </a:t>
            </a:r>
            <a:r>
              <a:rPr lang="en-US" sz="1200" b="1" dirty="0" smtClean="0"/>
              <a:t>D</a:t>
            </a:r>
            <a:r>
              <a:rPr lang="en" sz="1200" b="1" dirty="0" smtClean="0"/>
              <a:t>engan cara mengubah penyebut menjadi 10, 100, atau 1000. ingat, bahwa bilangan desimal merupakan bilangan per sepuluh, per seratus, dan per seribu.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354" y="2447925"/>
            <a:ext cx="3914775" cy="202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455703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66800" y="1581150"/>
            <a:ext cx="6979800" cy="1326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 smtClean="0"/>
              <a:t>M6</a:t>
            </a:r>
            <a:br>
              <a:rPr lang="en" sz="3200" dirty="0" smtClean="0"/>
            </a:br>
            <a:r>
              <a:rPr lang="en" sz="3200" dirty="0" smtClean="0"/>
              <a:t>SISTEM KOORDINAT</a:t>
            </a:r>
            <a:endParaRPr sz="3200"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130461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M6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SISTEM KOORDINAT</a:t>
            </a:r>
            <a:endParaRPr lang="en" b="1" dirty="0" smtClean="0"/>
          </a:p>
          <a:p>
            <a:pPr algn="ctr">
              <a:lnSpc>
                <a:spcPct val="150000"/>
              </a:lnSpc>
              <a:buClr>
                <a:schemeClr val="dk1"/>
              </a:buClr>
              <a:buSzPts val="1100"/>
            </a:pPr>
            <a:endParaRPr lang="en" sz="1200" dirty="0" smtClean="0"/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u="sng" dirty="0" err="1" smtClean="0"/>
              <a:t>Sistem</a:t>
            </a:r>
            <a:r>
              <a:rPr lang="en-US" sz="1200" b="1" u="sng" dirty="0" smtClean="0"/>
              <a:t> </a:t>
            </a:r>
            <a:r>
              <a:rPr lang="en-US" sz="1200" b="1" u="sng" dirty="0" err="1" smtClean="0"/>
              <a:t>Koordinat</a:t>
            </a:r>
            <a:r>
              <a:rPr lang="en-US" sz="1200" b="1" u="sng" dirty="0" smtClean="0"/>
              <a:t> </a:t>
            </a:r>
            <a:r>
              <a:rPr lang="en-US" sz="1200" b="1" u="sng" dirty="0" err="1" smtClean="0"/>
              <a:t>Cartesius</a:t>
            </a:r>
            <a:endParaRPr lang="en-US" sz="1200" b="1" u="sng" dirty="0" smtClean="0"/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u="sng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175" y="1581150"/>
            <a:ext cx="3295650" cy="3257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67409720"/>
      </p:ext>
    </p:extLst>
  </p:cSld>
  <p:clrMapOvr>
    <a:masterClrMapping/>
  </p:clrMapOvr>
</p:sld>
</file>

<file path=ppt/theme/theme1.xml><?xml version="1.0" encoding="utf-8"?>
<a:theme xmlns:a="http://schemas.openxmlformats.org/drawingml/2006/main" name="Bagot template">
  <a:themeElements>
    <a:clrScheme name="Custom 347">
      <a:dk1>
        <a:srgbClr val="143C55"/>
      </a:dk1>
      <a:lt1>
        <a:srgbClr val="FFFFFF"/>
      </a:lt1>
      <a:dk2>
        <a:srgbClr val="748C9C"/>
      </a:dk2>
      <a:lt2>
        <a:srgbClr val="F7F9EA"/>
      </a:lt2>
      <a:accent1>
        <a:srgbClr val="FEAB19"/>
      </a:accent1>
      <a:accent2>
        <a:srgbClr val="85CE5B"/>
      </a:accent2>
      <a:accent3>
        <a:srgbClr val="65C5DB"/>
      </a:accent3>
      <a:accent4>
        <a:srgbClr val="7D7FD0"/>
      </a:accent4>
      <a:accent5>
        <a:srgbClr val="FA7F99"/>
      </a:accent5>
      <a:accent6>
        <a:srgbClr val="FF4E45"/>
      </a:accent6>
      <a:hlink>
        <a:srgbClr val="265775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</TotalTime>
  <Words>507</Words>
  <Application>Microsoft Office PowerPoint</Application>
  <PresentationFormat>On-screen Show (16:9)</PresentationFormat>
  <Paragraphs>173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Wingdings</vt:lpstr>
      <vt:lpstr>Bellota Text Light</vt:lpstr>
      <vt:lpstr>Catamaran ExtraBold</vt:lpstr>
      <vt:lpstr>Catamaran</vt:lpstr>
      <vt:lpstr>Bagot template</vt:lpstr>
      <vt:lpstr>Matematika  SD Kelas 5</vt:lpstr>
      <vt:lpstr>M1 BILANGAN BULAT</vt:lpstr>
      <vt:lpstr>M1</vt:lpstr>
      <vt:lpstr>M2 SATUAN DEBIT</vt:lpstr>
      <vt:lpstr>M2</vt:lpstr>
      <vt:lpstr>M2</vt:lpstr>
      <vt:lpstr>M2</vt:lpstr>
      <vt:lpstr>M3 MENGHITUNG LUAS DAN VOLUME</vt:lpstr>
      <vt:lpstr>M3</vt:lpstr>
      <vt:lpstr>M3</vt:lpstr>
      <vt:lpstr>M4 PENGOLAHAN DATA</vt:lpstr>
      <vt:lpstr>M4</vt:lpstr>
      <vt:lpstr>M4</vt:lpstr>
      <vt:lpstr>M4</vt:lpstr>
      <vt:lpstr>M5 PECAHAN</vt:lpstr>
      <vt:lpstr>M5</vt:lpstr>
      <vt:lpstr>M5</vt:lpstr>
      <vt:lpstr>M5</vt:lpstr>
      <vt:lpstr>M5</vt:lpstr>
      <vt:lpstr>M6 SISTEM KOORDINAT</vt:lpstr>
      <vt:lpstr>M6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Matematika  SD Kelas 5</dc:title>
  <dc:creator>ASUS</dc:creator>
  <cp:lastModifiedBy>ismail - [2010]</cp:lastModifiedBy>
  <cp:revision>24</cp:revision>
  <dcterms:modified xsi:type="dcterms:W3CDTF">2020-07-15T15:42:06Z</dcterms:modified>
</cp:coreProperties>
</file>