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8" r:id="rId1"/>
  </p:sldMasterIdLst>
  <p:notesMasterIdLst>
    <p:notesMasterId r:id="rId12"/>
  </p:notesMasterIdLst>
  <p:sldIdLst>
    <p:sldId id="259" r:id="rId2"/>
    <p:sldId id="287" r:id="rId3"/>
    <p:sldId id="288" r:id="rId4"/>
    <p:sldId id="289" r:id="rId5"/>
    <p:sldId id="290" r:id="rId6"/>
    <p:sldId id="291" r:id="rId7"/>
    <p:sldId id="292" r:id="rId8"/>
    <p:sldId id="293" r:id="rId9"/>
    <p:sldId id="294" r:id="rId10"/>
    <p:sldId id="295" r:id="rId11"/>
  </p:sldIdLst>
  <p:sldSz cx="9144000" cy="5143500" type="screen16x9"/>
  <p:notesSz cx="6858000" cy="9144000"/>
  <p:embeddedFontLst>
    <p:embeddedFont>
      <p:font typeface="Bellota Text" charset="0"/>
      <p:regular r:id="rId13"/>
      <p:bold r:id="rId14"/>
      <p:italic r:id="rId15"/>
      <p:boldItalic r:id="rId16"/>
    </p:embeddedFont>
    <p:embeddedFont>
      <p:font typeface="Bellota Text Light" charset="0"/>
      <p:regular r:id="rId17"/>
      <p:bold r:id="rId18"/>
      <p:italic r:id="rId19"/>
      <p:boldItalic r:id="rId20"/>
    </p:embeddedFont>
    <p:embeddedFont>
      <p:font typeface="Catamaran ExtraBold" charset="0"/>
      <p:bold r:id="rId21"/>
    </p:embeddedFont>
    <p:embeddedFont>
      <p:font typeface="Catamaran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182B24A4-CE14-4CFF-B1E5-92728488463D}">
  <a:tblStyle styleId="{182B24A4-CE14-4CFF-B1E5-92728488463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398" autoAdjust="0"/>
  </p:normalViewPr>
  <p:slideViewPr>
    <p:cSldViewPr>
      <p:cViewPr>
        <p:scale>
          <a:sx n="53" d="100"/>
          <a:sy n="53" d="100"/>
        </p:scale>
        <p:origin x="-192" y="-6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001437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solidFill>
          <a:schemeClr val="dk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2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3"/>
          <p:cNvSpPr/>
          <p:nvPr/>
        </p:nvSpPr>
        <p:spPr>
          <a:xfrm>
            <a:off x="1630650" y="1333450"/>
            <a:ext cx="5882700" cy="2476500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285750" algn="bl" rotWithShape="0">
              <a:srgbClr val="00131F">
                <a:alpha val="7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1927850" y="1583350"/>
            <a:ext cx="52884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927850" y="2840054"/>
            <a:ext cx="5288400" cy="78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Tyrannosaurus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7" name="Google Shape;57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479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Plesiosaur">
  <p:cSld name="TITLE_ONLY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" name="Google Shape;6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398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Pterodactyl">
  <p:cSld name="TITLE_ONLY_1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7" name="Google Shape;6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Diplodocus">
  <p:cSld name="TITLE_ONLY_1_1_1_1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/>
          <p:nvPr/>
        </p:nvSpPr>
        <p:spPr>
          <a:xfrm>
            <a:off x="741600" y="741600"/>
            <a:ext cx="7660800" cy="3660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85750" algn="bl" rotWithShape="0">
              <a:srgbClr val="054C3A">
                <a:alpha val="25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2" name="Google Shape;8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>
          <a:xfrm>
            <a:off x="1082050" y="9753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82050" y="1127750"/>
            <a:ext cx="6979800" cy="3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tamaran ExtraBold"/>
              <a:buNone/>
              <a:defRPr sz="2400">
                <a:solidFill>
                  <a:schemeClr val="dk1"/>
                </a:solidFill>
                <a:latin typeface="Catamaran ExtraBold"/>
                <a:ea typeface="Catamaran ExtraBold"/>
                <a:cs typeface="Catamaran ExtraBold"/>
                <a:sym typeface="Catamaran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82050" y="1633651"/>
            <a:ext cx="6979800" cy="235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1pPr>
            <a:lvl2pPr marL="914400" lvl="1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2pPr>
            <a:lvl3pPr marL="1371600" lvl="2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3pPr>
            <a:lvl4pPr marL="1828800" lvl="3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4pPr>
            <a:lvl5pPr marL="2286000" lvl="4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5pPr>
            <a:lvl6pPr marL="2743200" lvl="5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6pPr>
            <a:lvl7pPr marL="3200400" lvl="6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●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7pPr>
            <a:lvl8pPr marL="3657600" lvl="7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○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8pPr>
            <a:lvl9pPr marL="4114800" lvl="8" indent="-355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ellota Text Light"/>
              <a:buChar char="■"/>
              <a:defRPr sz="2000">
                <a:solidFill>
                  <a:schemeClr val="dk1"/>
                </a:solidFill>
                <a:latin typeface="Bellota Text Light"/>
                <a:ea typeface="Bellota Text Light"/>
                <a:cs typeface="Bellota Text Light"/>
                <a:sym typeface="Bellota Text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1pPr>
            <a:lvl2pPr lvl="1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2pPr>
            <a:lvl3pPr lvl="2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3pPr>
            <a:lvl4pPr lvl="3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4pPr>
            <a:lvl5pPr lvl="4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5pPr>
            <a:lvl6pPr lvl="5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6pPr>
            <a:lvl7pPr lvl="6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7pPr>
            <a:lvl8pPr lvl="7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8pPr>
            <a:lvl9pPr lvl="8" algn="ctr" rtl="0">
              <a:buNone/>
              <a:defRPr sz="1300" b="1">
                <a:solidFill>
                  <a:schemeClr val="dk2"/>
                </a:solidFill>
                <a:latin typeface="Catamaran"/>
                <a:ea typeface="Catamaran"/>
                <a:cs typeface="Catamaran"/>
                <a:sym typeface="Catamaran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6" r:id="rId3"/>
    <p:sldLayoutId id="2147483657" r:id="rId4"/>
    <p:sldLayoutId id="2147483660" r:id="rId5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>
            <a:spLocks noGrp="1"/>
          </p:cNvSpPr>
          <p:nvPr>
            <p:ph type="ctrTitle"/>
          </p:nvPr>
        </p:nvSpPr>
        <p:spPr>
          <a:xfrm>
            <a:off x="1905000" y="1962150"/>
            <a:ext cx="5288400" cy="1159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TIK  </a:t>
            </a:r>
            <a:br>
              <a:rPr lang="en-US" dirty="0" smtClean="0"/>
            </a:br>
            <a:r>
              <a:rPr lang="en-US" dirty="0" smtClean="0"/>
              <a:t>SMP </a:t>
            </a:r>
            <a:r>
              <a:rPr lang="en-US" dirty="0" err="1" smtClean="0"/>
              <a:t>Kelas</a:t>
            </a:r>
            <a:r>
              <a:rPr lang="en-US" dirty="0" smtClean="0"/>
              <a:t> </a:t>
            </a:r>
            <a:r>
              <a:rPr lang="en-US" dirty="0" smtClean="0"/>
              <a:t>8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M1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Berbagai Jenis Peralatan Teknologi Informasi dan Komunikasi</a:t>
            </a:r>
          </a:p>
          <a:p>
            <a:pPr algn="ctr">
              <a:buClr>
                <a:schemeClr val="dk1"/>
              </a:buClr>
              <a:buSzPts val="1100"/>
            </a:pPr>
            <a:endParaRPr lang="en" b="1" dirty="0" smtClean="0"/>
          </a:p>
          <a:p>
            <a:pPr>
              <a:buClr>
                <a:schemeClr val="dk1"/>
              </a:buClr>
              <a:buSzPts val="1100"/>
            </a:pPr>
            <a:r>
              <a:rPr lang="en-US" sz="1200" dirty="0" err="1"/>
              <a:t>Peralatan</a:t>
            </a:r>
            <a:r>
              <a:rPr lang="en-US" sz="1200" dirty="0"/>
              <a:t> </a:t>
            </a:r>
            <a:r>
              <a:rPr lang="en-US" sz="1200" dirty="0" err="1"/>
              <a:t>teknologi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zaman</a:t>
            </a:r>
            <a:r>
              <a:rPr lang="en-US" sz="1200" dirty="0"/>
              <a:t> </a:t>
            </a:r>
            <a:r>
              <a:rPr lang="en-US" sz="1200" dirty="0" err="1"/>
              <a:t>dulu</a:t>
            </a:r>
            <a:r>
              <a:rPr lang="en-US" sz="1200" dirty="0"/>
              <a:t> :</a:t>
            </a:r>
            <a:br>
              <a:rPr lang="en-US" sz="1200" dirty="0"/>
            </a:br>
            <a:r>
              <a:rPr lang="en-US" sz="1200" dirty="0"/>
              <a:t>1. Papyrus : </a:t>
            </a:r>
            <a:r>
              <a:rPr lang="en-US" sz="1200" dirty="0" err="1"/>
              <a:t>kertas</a:t>
            </a:r>
            <a:r>
              <a:rPr lang="en-US" sz="1200" dirty="0"/>
              <a:t> yang </a:t>
            </a:r>
            <a:r>
              <a:rPr lang="en-US" sz="1200" dirty="0" err="1"/>
              <a:t>terbuat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daun</a:t>
            </a:r>
            <a:r>
              <a:rPr lang="en-US" sz="1200" dirty="0"/>
              <a:t> </a:t>
            </a:r>
            <a:r>
              <a:rPr lang="en-US" sz="1200" dirty="0" err="1"/>
              <a:t>tumbuhan</a:t>
            </a:r>
            <a:r>
              <a:rPr lang="en-US" sz="1200" dirty="0"/>
              <a:t> </a:t>
            </a:r>
            <a:r>
              <a:rPr lang="en-US" sz="1200" dirty="0" err="1"/>
              <a:t>papyrys</a:t>
            </a:r>
            <a:r>
              <a:rPr lang="en-US" sz="1200" dirty="0"/>
              <a:t> yang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menulis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2. </a:t>
            </a:r>
            <a:r>
              <a:rPr lang="en-US" sz="1200" dirty="0" err="1"/>
              <a:t>Bereguh</a:t>
            </a:r>
            <a:r>
              <a:rPr lang="en-US" sz="1200" dirty="0"/>
              <a:t> :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yang </a:t>
            </a:r>
            <a:r>
              <a:rPr lang="en-US" sz="1200" dirty="0" err="1"/>
              <a:t>terbuat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tanduk</a:t>
            </a:r>
            <a:r>
              <a:rPr lang="en-US" sz="1200" dirty="0"/>
              <a:t> </a:t>
            </a:r>
            <a:r>
              <a:rPr lang="en-US" sz="1200" dirty="0" err="1"/>
              <a:t>kerbau</a:t>
            </a:r>
            <a:r>
              <a:rPr lang="en-US" sz="1200" dirty="0"/>
              <a:t> yang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cara</a:t>
            </a:r>
            <a:r>
              <a:rPr lang="en-US" sz="1200" dirty="0"/>
              <a:t> </a:t>
            </a:r>
            <a:r>
              <a:rPr lang="en-US" sz="1200" dirty="0" err="1"/>
              <a:t>ditiup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3. </a:t>
            </a:r>
            <a:r>
              <a:rPr lang="en-US" sz="1200" dirty="0" err="1"/>
              <a:t>Kulkul</a:t>
            </a:r>
            <a:r>
              <a:rPr lang="en-US" sz="1200" dirty="0"/>
              <a:t> :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yang </a:t>
            </a:r>
            <a:r>
              <a:rPr lang="en-US" sz="1200" dirty="0" err="1"/>
              <a:t>berbentuk</a:t>
            </a:r>
            <a:r>
              <a:rPr lang="en-US" sz="1200" dirty="0"/>
              <a:t> </a:t>
            </a:r>
            <a:r>
              <a:rPr lang="en-US" sz="1200" dirty="0" err="1"/>
              <a:t>seperti</a:t>
            </a:r>
            <a:r>
              <a:rPr lang="en-US" sz="1200" dirty="0"/>
              <a:t> </a:t>
            </a:r>
            <a:r>
              <a:rPr lang="en-US" sz="1200" dirty="0" err="1"/>
              <a:t>kentongan</a:t>
            </a:r>
            <a:r>
              <a:rPr lang="en-US" sz="1200" dirty="0"/>
              <a:t> yang </a:t>
            </a:r>
            <a:r>
              <a:rPr lang="en-US" sz="1200" dirty="0" err="1"/>
              <a:t>terbuat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kayu</a:t>
            </a:r>
            <a:r>
              <a:rPr lang="en-US" sz="1200" dirty="0"/>
              <a:t> yang </a:t>
            </a:r>
            <a:r>
              <a:rPr lang="en-US" sz="1200" dirty="0" err="1"/>
              <a:t>berongga</a:t>
            </a:r>
            <a:r>
              <a:rPr lang="en-US" sz="1200" dirty="0"/>
              <a:t> yang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cara</a:t>
            </a:r>
            <a:r>
              <a:rPr lang="en-US" sz="1200" dirty="0"/>
              <a:t> </a:t>
            </a:r>
            <a:r>
              <a:rPr lang="en-US" sz="1200" dirty="0" err="1"/>
              <a:t>dipukul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4. Dan </a:t>
            </a:r>
            <a:r>
              <a:rPr lang="en-US" sz="1200" dirty="0" err="1"/>
              <a:t>beberapa</a:t>
            </a:r>
            <a:r>
              <a:rPr lang="en-US" sz="1200" dirty="0"/>
              <a:t>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tradisional</a:t>
            </a:r>
            <a:r>
              <a:rPr lang="en-US" sz="1200" dirty="0"/>
              <a:t> yang lain</a:t>
            </a:r>
            <a:br>
              <a:rPr lang="en-US" sz="1200" dirty="0"/>
            </a:br>
            <a:r>
              <a:rPr lang="en-US" sz="1200" dirty="0" err="1"/>
              <a:t>Peralatan</a:t>
            </a:r>
            <a:r>
              <a:rPr lang="en-US" sz="1200" dirty="0"/>
              <a:t> </a:t>
            </a:r>
            <a:r>
              <a:rPr lang="en-US" sz="1200" dirty="0" err="1"/>
              <a:t>teknologi</a:t>
            </a:r>
            <a:r>
              <a:rPr lang="en-US" sz="1200" dirty="0"/>
              <a:t> </a:t>
            </a:r>
            <a:r>
              <a:rPr lang="en-US" sz="1200" dirty="0" err="1"/>
              <a:t>informasi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zama</a:t>
            </a:r>
            <a:r>
              <a:rPr lang="en-US" sz="1200" dirty="0"/>
              <a:t> modern </a:t>
            </a:r>
            <a:r>
              <a:rPr lang="en-US" sz="1200" dirty="0" err="1"/>
              <a:t>semual</a:t>
            </a:r>
            <a:r>
              <a:rPr lang="en-US" sz="1200" dirty="0"/>
              <a:t> </a:t>
            </a:r>
            <a:r>
              <a:rPr lang="en-US" sz="1200" dirty="0" err="1"/>
              <a:t>dipisah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dirty="0" err="1"/>
              <a:t>dua</a:t>
            </a:r>
            <a:r>
              <a:rPr lang="en-US" sz="1200" dirty="0"/>
              <a:t>: </a:t>
            </a:r>
            <a:r>
              <a:rPr lang="en-US" sz="1200" dirty="0" err="1"/>
              <a:t>teknologi</a:t>
            </a:r>
            <a:r>
              <a:rPr lang="en-US" sz="1200" dirty="0"/>
              <a:t> </a:t>
            </a:r>
            <a:r>
              <a:rPr lang="en-US" sz="1200" dirty="0" err="1"/>
              <a:t>informasi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teknologi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err="1"/>
              <a:t>Teknologi</a:t>
            </a:r>
            <a:r>
              <a:rPr lang="en-US" sz="1200" dirty="0"/>
              <a:t> </a:t>
            </a:r>
            <a:r>
              <a:rPr lang="en-US" sz="1200" dirty="0" err="1"/>
              <a:t>informasi</a:t>
            </a:r>
            <a:r>
              <a:rPr lang="en-US" sz="1200" dirty="0"/>
              <a:t> </a:t>
            </a:r>
            <a:r>
              <a:rPr lang="en-US" sz="1200" dirty="0" err="1"/>
              <a:t>contoh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1. computer : </a:t>
            </a:r>
            <a:r>
              <a:rPr lang="en-US" sz="1200" dirty="0" err="1"/>
              <a:t>mesin</a:t>
            </a:r>
            <a:r>
              <a:rPr lang="en-US" sz="1200" dirty="0"/>
              <a:t> </a:t>
            </a:r>
            <a:r>
              <a:rPr lang="en-US" sz="1200" dirty="0" err="1"/>
              <a:t>serbaguna</a:t>
            </a:r>
            <a:r>
              <a:rPr lang="en-US" sz="1200" dirty="0"/>
              <a:t> yang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dikontrol</a:t>
            </a:r>
            <a:r>
              <a:rPr lang="en-US" sz="1200" dirty="0"/>
              <a:t> </a:t>
            </a:r>
            <a:r>
              <a:rPr lang="en-US" sz="1200" dirty="0" err="1"/>
              <a:t>oleh</a:t>
            </a:r>
            <a:r>
              <a:rPr lang="en-US" sz="1200" dirty="0"/>
              <a:t> program,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untuk</a:t>
            </a:r>
            <a:r>
              <a:rPr lang="en-US" sz="1200" dirty="0"/>
              <a:t> </a:t>
            </a:r>
            <a:r>
              <a:rPr lang="en-US" sz="1200" dirty="0" err="1"/>
              <a:t>mengolah</a:t>
            </a:r>
            <a:r>
              <a:rPr lang="en-US" sz="1200" dirty="0"/>
              <a:t> data </a:t>
            </a:r>
            <a:r>
              <a:rPr lang="en-US" sz="1200" dirty="0" err="1"/>
              <a:t>menjadi</a:t>
            </a:r>
            <a:r>
              <a:rPr lang="en-US" sz="1200" dirty="0"/>
              <a:t> </a:t>
            </a:r>
            <a:r>
              <a:rPr lang="en-US" sz="1200" dirty="0" err="1"/>
              <a:t>informasi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err="1"/>
              <a:t>Teknologi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contoh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err="1"/>
              <a:t>Surat</a:t>
            </a:r>
            <a:r>
              <a:rPr lang="en-US" sz="1200" dirty="0"/>
              <a:t> </a:t>
            </a:r>
            <a:r>
              <a:rPr lang="en-US" sz="1200" dirty="0" err="1"/>
              <a:t>kabar</a:t>
            </a:r>
            <a:r>
              <a:rPr lang="en-US" sz="1200" dirty="0"/>
              <a:t> :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satu</a:t>
            </a:r>
            <a:r>
              <a:rPr lang="en-US" sz="1200" dirty="0"/>
              <a:t> </a:t>
            </a:r>
            <a:r>
              <a:rPr lang="en-US" sz="1200" dirty="0" err="1"/>
              <a:t>arah</a:t>
            </a:r>
            <a:r>
              <a:rPr lang="en-US" sz="1200" dirty="0"/>
              <a:t>, yang </a:t>
            </a:r>
            <a:r>
              <a:rPr lang="en-US" sz="1200" dirty="0" err="1"/>
              <a:t>hanya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dibaca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Radio: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satu</a:t>
            </a:r>
            <a:r>
              <a:rPr lang="en-US" sz="1200" dirty="0"/>
              <a:t> </a:t>
            </a:r>
            <a:r>
              <a:rPr lang="en-US" sz="1200" dirty="0" err="1"/>
              <a:t>arah</a:t>
            </a:r>
            <a:r>
              <a:rPr lang="en-US" sz="1200" dirty="0"/>
              <a:t>, yang </a:t>
            </a:r>
            <a:r>
              <a:rPr lang="en-US" sz="1200" dirty="0" err="1"/>
              <a:t>hanya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didengar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err="1"/>
              <a:t>Telepon</a:t>
            </a:r>
            <a:r>
              <a:rPr lang="en-US" sz="1200" dirty="0"/>
              <a:t> :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dua</a:t>
            </a:r>
            <a:r>
              <a:rPr lang="en-US" sz="1200" dirty="0"/>
              <a:t> </a:t>
            </a:r>
            <a:r>
              <a:rPr lang="en-US" sz="1200" dirty="0" err="1"/>
              <a:t>arah</a:t>
            </a:r>
            <a:r>
              <a:rPr lang="en-US" sz="1200" dirty="0"/>
              <a:t>, </a:t>
            </a:r>
            <a:r>
              <a:rPr lang="en-US" sz="1200" dirty="0" err="1"/>
              <a:t>dapat</a:t>
            </a:r>
            <a:r>
              <a:rPr lang="en-US" sz="1200" dirty="0"/>
              <a:t> </a:t>
            </a:r>
            <a:r>
              <a:rPr lang="en-US" sz="1200" dirty="0" err="1"/>
              <a:t>bergantian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err="1"/>
              <a:t>Televisi</a:t>
            </a:r>
            <a:r>
              <a:rPr lang="en-US" sz="1200" dirty="0"/>
              <a:t> :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satu</a:t>
            </a:r>
            <a:r>
              <a:rPr lang="en-US" sz="1200" dirty="0"/>
              <a:t> </a:t>
            </a:r>
            <a:r>
              <a:rPr lang="en-US" sz="1200" dirty="0" err="1"/>
              <a:t>arah</a:t>
            </a:r>
            <a:r>
              <a:rPr lang="en-US" sz="1200" dirty="0"/>
              <a:t>, yang </a:t>
            </a:r>
            <a:r>
              <a:rPr lang="en-US" sz="1200" dirty="0" err="1"/>
              <a:t>hanya</a:t>
            </a:r>
            <a:r>
              <a:rPr lang="en-US" sz="1200" dirty="0"/>
              <a:t> </a:t>
            </a:r>
            <a:r>
              <a:rPr lang="en-US" sz="1200" dirty="0" err="1"/>
              <a:t>dapat</a:t>
            </a:r>
            <a:r>
              <a:rPr lang="en-US" sz="1200" dirty="0"/>
              <a:t> di </a:t>
            </a:r>
            <a:r>
              <a:rPr lang="en-US" sz="1200" dirty="0" err="1"/>
              <a:t>dengar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dilihat</a:t>
            </a:r>
            <a:endParaRPr lang="en" sz="1200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endParaRPr lang="en-US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1172864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M2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Sejarah Perkembangan TIK</a:t>
            </a:r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dirty="0" err="1"/>
              <a:t>Sejarah</a:t>
            </a:r>
            <a:r>
              <a:rPr lang="en-US" sz="1200" dirty="0"/>
              <a:t> </a:t>
            </a:r>
            <a:r>
              <a:rPr lang="en-US" sz="1200" dirty="0" err="1"/>
              <a:t>perkembangan</a:t>
            </a:r>
            <a:r>
              <a:rPr lang="en-US" sz="1200" dirty="0"/>
              <a:t> </a:t>
            </a:r>
            <a:r>
              <a:rPr lang="en-US" sz="1200" dirty="0" err="1"/>
              <a:t>teknologi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dibagi</a:t>
            </a:r>
            <a:r>
              <a:rPr lang="en-US" sz="1200" dirty="0"/>
              <a:t> </a:t>
            </a:r>
            <a:r>
              <a:rPr lang="en-US" sz="1200" dirty="0" err="1"/>
              <a:t>menjadi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1. </a:t>
            </a:r>
            <a:r>
              <a:rPr lang="en-US" sz="1200" dirty="0" err="1"/>
              <a:t>Periode</a:t>
            </a:r>
            <a:r>
              <a:rPr lang="en-US" sz="1200" dirty="0"/>
              <a:t> </a:t>
            </a:r>
            <a:r>
              <a:rPr lang="en-US" sz="1200" dirty="0" err="1"/>
              <a:t>sebelum</a:t>
            </a:r>
            <a:r>
              <a:rPr lang="en-US" sz="1200" dirty="0"/>
              <a:t> </a:t>
            </a:r>
            <a:r>
              <a:rPr lang="en-US" sz="1200" dirty="0" err="1"/>
              <a:t>masehi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a. </a:t>
            </a:r>
            <a:r>
              <a:rPr lang="en-US" sz="1200" dirty="0" err="1"/>
              <a:t>Periode</a:t>
            </a:r>
            <a:r>
              <a:rPr lang="en-US" sz="1200" dirty="0"/>
              <a:t> </a:t>
            </a:r>
            <a:r>
              <a:rPr lang="en-US" sz="1200" dirty="0" err="1"/>
              <a:t>sampai</a:t>
            </a:r>
            <a:r>
              <a:rPr lang="en-US" sz="1200" dirty="0"/>
              <a:t> 3000 SM</a:t>
            </a:r>
            <a:br>
              <a:rPr lang="en-US" sz="1200" dirty="0"/>
            </a:b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menggunakan</a:t>
            </a:r>
            <a:r>
              <a:rPr lang="en-US" sz="1200" dirty="0"/>
              <a:t> </a:t>
            </a:r>
            <a:r>
              <a:rPr lang="en-US" sz="1200" dirty="0" err="1"/>
              <a:t>gambar</a:t>
            </a:r>
            <a:r>
              <a:rPr lang="en-US" sz="1200" dirty="0"/>
              <a:t> </a:t>
            </a:r>
            <a:r>
              <a:rPr lang="en-US" sz="1200" dirty="0" err="1"/>
              <a:t>didinding</a:t>
            </a:r>
            <a:r>
              <a:rPr lang="en-US" sz="1200" dirty="0"/>
              <a:t> </a:t>
            </a:r>
            <a:r>
              <a:rPr lang="en-US" sz="1200" dirty="0" err="1"/>
              <a:t>gua</a:t>
            </a:r>
            <a:r>
              <a:rPr lang="en-US" sz="1200" dirty="0"/>
              <a:t> yang </a:t>
            </a:r>
            <a:r>
              <a:rPr lang="en-US" sz="1200" dirty="0" err="1"/>
              <a:t>menceritakan</a:t>
            </a:r>
            <a:r>
              <a:rPr lang="en-US" sz="1200" dirty="0"/>
              <a:t> </a:t>
            </a:r>
            <a:r>
              <a:rPr lang="en-US" sz="1200" dirty="0" err="1"/>
              <a:t>tentang</a:t>
            </a:r>
            <a:r>
              <a:rPr lang="en-US" sz="1200" dirty="0"/>
              <a:t> </a:t>
            </a:r>
            <a:r>
              <a:rPr lang="en-US" sz="1200" dirty="0" err="1"/>
              <a:t>cara</a:t>
            </a:r>
            <a:r>
              <a:rPr lang="en-US" sz="1200" dirty="0"/>
              <a:t> </a:t>
            </a:r>
            <a:r>
              <a:rPr lang="en-US" sz="1200" dirty="0" err="1"/>
              <a:t>berburu</a:t>
            </a:r>
            <a:r>
              <a:rPr lang="en-US" sz="1200" dirty="0"/>
              <a:t>, </a:t>
            </a:r>
            <a:r>
              <a:rPr lang="en-US" sz="1200" dirty="0" err="1"/>
              <a:t>bahasa</a:t>
            </a:r>
            <a:r>
              <a:rPr lang="en-US" sz="1200" dirty="0"/>
              <a:t> </a:t>
            </a:r>
            <a:r>
              <a:rPr lang="en-US" sz="1200" dirty="0" err="1"/>
              <a:t>digunakan</a:t>
            </a:r>
            <a:r>
              <a:rPr lang="en-US" sz="1200" dirty="0"/>
              <a:t> </a:t>
            </a:r>
            <a:r>
              <a:rPr lang="en-US" sz="1200" dirty="0" err="1"/>
              <a:t>dengn</a:t>
            </a:r>
            <a:r>
              <a:rPr lang="en-US" sz="1200" dirty="0"/>
              <a:t> </a:t>
            </a:r>
            <a:r>
              <a:rPr lang="en-US" sz="1200" dirty="0" err="1"/>
              <a:t>dengusan</a:t>
            </a:r>
            <a:r>
              <a:rPr lang="en-US" sz="1200" dirty="0"/>
              <a:t>, </a:t>
            </a:r>
            <a:r>
              <a:rPr lang="en-US" sz="1200" dirty="0" err="1"/>
              <a:t>isyarat</a:t>
            </a:r>
            <a:r>
              <a:rPr lang="en-US" sz="1200" dirty="0"/>
              <a:t>,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gerakan</a:t>
            </a:r>
            <a:r>
              <a:rPr lang="en-US" sz="1200" dirty="0"/>
              <a:t> </a:t>
            </a:r>
            <a:r>
              <a:rPr lang="en-US" sz="1200" dirty="0" err="1"/>
              <a:t>tangan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b. </a:t>
            </a:r>
            <a:r>
              <a:rPr lang="en-US" sz="1200" dirty="0" err="1"/>
              <a:t>Periode</a:t>
            </a:r>
            <a:r>
              <a:rPr lang="en-US" sz="1200" dirty="0"/>
              <a:t> 3000 SM</a:t>
            </a:r>
            <a:br>
              <a:rPr lang="en-US" sz="1200" dirty="0"/>
            </a:br>
            <a:r>
              <a:rPr lang="en-US" sz="1200" dirty="0"/>
              <a:t>3000 SM </a:t>
            </a:r>
            <a:r>
              <a:rPr lang="en-US" sz="1200" dirty="0" err="1"/>
              <a:t>bangsa</a:t>
            </a:r>
            <a:r>
              <a:rPr lang="en-US" sz="1200" dirty="0"/>
              <a:t> </a:t>
            </a:r>
            <a:r>
              <a:rPr lang="en-US" sz="1200" dirty="0" err="1"/>
              <a:t>sumeria</a:t>
            </a:r>
            <a:r>
              <a:rPr lang="en-US" sz="1200" dirty="0"/>
              <a:t> </a:t>
            </a:r>
            <a:r>
              <a:rPr lang="en-US" sz="1200" dirty="0" err="1"/>
              <a:t>mengguakan</a:t>
            </a:r>
            <a:r>
              <a:rPr lang="en-US" sz="1200" dirty="0"/>
              <a:t> </a:t>
            </a:r>
            <a:r>
              <a:rPr lang="en-US" sz="1200" dirty="0" err="1"/>
              <a:t>tulisan</a:t>
            </a:r>
            <a:r>
              <a:rPr lang="en-US" sz="1200" dirty="0"/>
              <a:t> </a:t>
            </a:r>
            <a:r>
              <a:rPr lang="en-US" sz="1200" dirty="0" err="1"/>
              <a:t>sebagai</a:t>
            </a:r>
            <a:r>
              <a:rPr lang="en-US" sz="1200" dirty="0"/>
              <a:t>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> </a:t>
            </a:r>
            <a:r>
              <a:rPr lang="en-US" sz="1200" dirty="0" err="1"/>
              <a:t>berupa</a:t>
            </a:r>
            <a:r>
              <a:rPr lang="en-US" sz="1200" dirty="0"/>
              <a:t> symbol-</a:t>
            </a:r>
            <a:r>
              <a:rPr lang="en-US" sz="1200" dirty="0" err="1"/>
              <a:t>simbol</a:t>
            </a:r>
            <a:r>
              <a:rPr lang="en-US" sz="1200" dirty="0"/>
              <a:t> (</a:t>
            </a:r>
            <a:r>
              <a:rPr lang="en-US" sz="1200" dirty="0" err="1"/>
              <a:t>huruf</a:t>
            </a:r>
            <a:r>
              <a:rPr lang="en-US" sz="1200" dirty="0"/>
              <a:t> </a:t>
            </a:r>
            <a:r>
              <a:rPr lang="en-US" sz="1200" dirty="0" err="1"/>
              <a:t>piktograf</a:t>
            </a:r>
            <a:r>
              <a:rPr lang="en-US" sz="1200" dirty="0"/>
              <a:t>)</a:t>
            </a:r>
            <a:br>
              <a:rPr lang="en-US" sz="1200" dirty="0"/>
            </a:br>
            <a:r>
              <a:rPr lang="en-US" sz="1200" dirty="0"/>
              <a:t>2900 SM </a:t>
            </a:r>
            <a:r>
              <a:rPr lang="en-US" sz="1200" dirty="0" err="1"/>
              <a:t>bangsa</a:t>
            </a:r>
            <a:r>
              <a:rPr lang="en-US" sz="1200" dirty="0"/>
              <a:t> </a:t>
            </a:r>
            <a:r>
              <a:rPr lang="en-US" sz="1200" dirty="0" err="1"/>
              <a:t>mesir</a:t>
            </a:r>
            <a:r>
              <a:rPr lang="en-US" sz="1200" dirty="0"/>
              <a:t> </a:t>
            </a:r>
            <a:r>
              <a:rPr lang="en-US" sz="1200" dirty="0" err="1"/>
              <a:t>kuno</a:t>
            </a:r>
            <a:r>
              <a:rPr lang="en-US" sz="1200" dirty="0"/>
              <a:t> </a:t>
            </a:r>
            <a:r>
              <a:rPr lang="en-US" sz="1200" dirty="0" err="1"/>
              <a:t>mengukan</a:t>
            </a:r>
            <a:r>
              <a:rPr lang="en-US" sz="1200" dirty="0"/>
              <a:t> </a:t>
            </a:r>
            <a:r>
              <a:rPr lang="en-US" sz="1200" dirty="0" err="1"/>
              <a:t>huruf</a:t>
            </a:r>
            <a:r>
              <a:rPr lang="en-US" sz="1200" dirty="0"/>
              <a:t> </a:t>
            </a:r>
            <a:r>
              <a:rPr lang="en-US" sz="1200" dirty="0" err="1"/>
              <a:t>hieroglif</a:t>
            </a:r>
            <a:r>
              <a:rPr lang="en-US" sz="1200" dirty="0"/>
              <a:t> </a:t>
            </a:r>
            <a:r>
              <a:rPr lang="en-US" sz="1200" dirty="0" err="1"/>
              <a:t>sebagai</a:t>
            </a:r>
            <a:r>
              <a:rPr lang="en-US" sz="1200" dirty="0"/>
              <a:t> </a:t>
            </a:r>
            <a:r>
              <a:rPr lang="en-US" sz="1200" dirty="0" err="1"/>
              <a:t>alat</a:t>
            </a:r>
            <a:r>
              <a:rPr lang="en-US" sz="1200" dirty="0"/>
              <a:t> </a:t>
            </a:r>
            <a:r>
              <a:rPr lang="en-US" sz="1200" dirty="0" err="1"/>
              <a:t>komunikasi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500 SM </a:t>
            </a:r>
            <a:r>
              <a:rPr lang="en-US" sz="1200" dirty="0" err="1"/>
              <a:t>bagsa</a:t>
            </a:r>
            <a:r>
              <a:rPr lang="en-US" sz="1200" dirty="0"/>
              <a:t> </a:t>
            </a:r>
            <a:r>
              <a:rPr lang="en-US" sz="1200" dirty="0" err="1"/>
              <a:t>mesir</a:t>
            </a:r>
            <a:r>
              <a:rPr lang="en-US" sz="1200" dirty="0"/>
              <a:t> </a:t>
            </a:r>
            <a:r>
              <a:rPr lang="en-US" sz="1200" dirty="0" err="1"/>
              <a:t>kuno</a:t>
            </a:r>
            <a:r>
              <a:rPr lang="en-US" sz="1200" dirty="0"/>
              <a:t> </a:t>
            </a:r>
            <a:r>
              <a:rPr lang="en-US" sz="1200" dirty="0" err="1"/>
              <a:t>mengukana</a:t>
            </a:r>
            <a:r>
              <a:rPr lang="en-US" sz="1200" dirty="0"/>
              <a:t> </a:t>
            </a:r>
            <a:r>
              <a:rPr lang="en-US" sz="1200" dirty="0" err="1"/>
              <a:t>serat</a:t>
            </a:r>
            <a:r>
              <a:rPr lang="en-US" sz="1200" dirty="0"/>
              <a:t> papyrus </a:t>
            </a:r>
            <a:r>
              <a:rPr lang="en-US" sz="1200" dirty="0" err="1"/>
              <a:t>sebagai</a:t>
            </a:r>
            <a:r>
              <a:rPr lang="en-US" sz="1200" dirty="0"/>
              <a:t> </a:t>
            </a:r>
            <a:r>
              <a:rPr lang="en-US" sz="1200" dirty="0" err="1"/>
              <a:t>kertas</a:t>
            </a:r>
            <a:r>
              <a:rPr lang="en-US" sz="1200" dirty="0"/>
              <a:t> </a:t>
            </a:r>
            <a:r>
              <a:rPr lang="en-US" sz="1200" dirty="0" err="1"/>
              <a:t>untu</a:t>
            </a:r>
            <a:r>
              <a:rPr lang="en-US" sz="1200" dirty="0"/>
              <a:t> </a:t>
            </a:r>
            <a:r>
              <a:rPr lang="en-US" sz="1200" dirty="0" err="1"/>
              <a:t>menulis</a:t>
            </a:r>
            <a:r>
              <a:rPr lang="en-US" sz="1200" dirty="0"/>
              <a:t> </a:t>
            </a:r>
            <a:r>
              <a:rPr lang="en-US" sz="1200" dirty="0" err="1"/>
              <a:t>sebuah</a:t>
            </a:r>
            <a:r>
              <a:rPr lang="en-US" sz="1200" dirty="0"/>
              <a:t> </a:t>
            </a:r>
            <a:r>
              <a:rPr lang="en-US" sz="1200" dirty="0" err="1"/>
              <a:t>tulisan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105 SM </a:t>
            </a:r>
            <a:r>
              <a:rPr lang="en-US" sz="1200" dirty="0" err="1"/>
              <a:t>bangsa</a:t>
            </a:r>
            <a:r>
              <a:rPr lang="en-US" sz="1200" dirty="0"/>
              <a:t> </a:t>
            </a:r>
            <a:r>
              <a:rPr lang="en-US" sz="1200" dirty="0" err="1"/>
              <a:t>cina</a:t>
            </a:r>
            <a:r>
              <a:rPr lang="en-US" sz="1200" dirty="0"/>
              <a:t> </a:t>
            </a:r>
            <a:r>
              <a:rPr lang="en-US" sz="1200" dirty="0" err="1"/>
              <a:t>menggukan</a:t>
            </a:r>
            <a:r>
              <a:rPr lang="en-US" sz="1200" dirty="0"/>
              <a:t> </a:t>
            </a:r>
            <a:r>
              <a:rPr lang="en-US" sz="1200" dirty="0" err="1"/>
              <a:t>kertas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</a:t>
            </a:r>
            <a:r>
              <a:rPr lang="en-US" sz="1200" dirty="0" err="1"/>
              <a:t>serat</a:t>
            </a:r>
            <a:r>
              <a:rPr lang="en-US" sz="1200" dirty="0"/>
              <a:t> </a:t>
            </a:r>
            <a:r>
              <a:rPr lang="en-US" sz="1200" dirty="0" err="1"/>
              <a:t>bambu</a:t>
            </a:r>
            <a:r>
              <a:rPr lang="en-US" sz="1200" dirty="0"/>
              <a:t/>
            </a:r>
            <a:br>
              <a:rPr lang="en-US" sz="1200" dirty="0"/>
            </a:b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3279792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M2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Sejarah Perkembangan TIK</a:t>
            </a:r>
          </a:p>
          <a:p>
            <a:pPr algn="ctr">
              <a:lnSpc>
                <a:spcPct val="150000"/>
              </a:lnSpc>
              <a:buClr>
                <a:schemeClr val="dk1"/>
              </a:buClr>
              <a:buSzPts val="1100"/>
            </a:pPr>
            <a:endParaRPr lang="en" sz="1200" dirty="0" smtClean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dirty="0" smtClean="0"/>
              <a:t>2. </a:t>
            </a:r>
            <a:r>
              <a:rPr lang="en-US" sz="1200" dirty="0"/>
              <a:t>. </a:t>
            </a:r>
            <a:r>
              <a:rPr lang="en-US" sz="1200" dirty="0" err="1"/>
              <a:t>Periode</a:t>
            </a:r>
            <a:r>
              <a:rPr lang="en-US" sz="1200" dirty="0"/>
              <a:t> </a:t>
            </a:r>
            <a:r>
              <a:rPr lang="en-US" sz="1200" dirty="0" err="1"/>
              <a:t>setelah</a:t>
            </a:r>
            <a:r>
              <a:rPr lang="en-US" sz="1200" dirty="0"/>
              <a:t> </a:t>
            </a:r>
            <a:r>
              <a:rPr lang="en-US" sz="1200" dirty="0" err="1"/>
              <a:t>masehi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a. </a:t>
            </a:r>
            <a:r>
              <a:rPr lang="en-US" sz="1200" dirty="0" err="1"/>
              <a:t>Penemuan</a:t>
            </a:r>
            <a:r>
              <a:rPr lang="en-US" sz="1200" dirty="0"/>
              <a:t> </a:t>
            </a:r>
            <a:r>
              <a:rPr lang="en-US" sz="1200" dirty="0" err="1"/>
              <a:t>telegraf</a:t>
            </a:r>
            <a:r>
              <a:rPr lang="en-US" sz="1200" dirty="0"/>
              <a:t> </a:t>
            </a:r>
            <a:r>
              <a:rPr lang="en-US" sz="1200" dirty="0" err="1"/>
              <a:t>oleh</a:t>
            </a:r>
            <a:r>
              <a:rPr lang="en-US" sz="1200" dirty="0"/>
              <a:t> Samuel Finley Breese Morse 1837</a:t>
            </a:r>
            <a:br>
              <a:rPr lang="en-US" sz="1200" dirty="0"/>
            </a:br>
            <a:r>
              <a:rPr lang="en-US" sz="1200" dirty="0"/>
              <a:t>b. </a:t>
            </a:r>
            <a:r>
              <a:rPr lang="en-US" sz="1200" dirty="0" err="1"/>
              <a:t>Telepon</a:t>
            </a:r>
            <a:r>
              <a:rPr lang="en-US" sz="1200" dirty="0"/>
              <a:t> </a:t>
            </a:r>
            <a:r>
              <a:rPr lang="en-US" sz="1200" dirty="0" err="1"/>
              <a:t>ditemukan</a:t>
            </a:r>
            <a:r>
              <a:rPr lang="en-US" sz="1200" dirty="0"/>
              <a:t> Antonio </a:t>
            </a:r>
            <a:r>
              <a:rPr lang="en-US" sz="1200" dirty="0" err="1"/>
              <a:t>Meucci</a:t>
            </a:r>
            <a:r>
              <a:rPr lang="en-US" sz="1200" dirty="0"/>
              <a:t> 1874, </a:t>
            </a:r>
            <a:r>
              <a:rPr lang="en-US" sz="1200" dirty="0" err="1"/>
              <a:t>dikembangkan</a:t>
            </a:r>
            <a:r>
              <a:rPr lang="en-US" sz="1200" dirty="0"/>
              <a:t> Alexander Graham Bell 1876</a:t>
            </a:r>
            <a:br>
              <a:rPr lang="en-US" sz="1200" dirty="0"/>
            </a:br>
            <a:r>
              <a:rPr lang="en-US" sz="1200" dirty="0"/>
              <a:t>c. Radio, </a:t>
            </a:r>
            <a:r>
              <a:rPr lang="en-US" sz="1200" dirty="0" err="1"/>
              <a:t>Guglielmo</a:t>
            </a:r>
            <a:r>
              <a:rPr lang="en-US" sz="1200" dirty="0"/>
              <a:t> Marconi 1901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mengirimkan</a:t>
            </a:r>
            <a:r>
              <a:rPr lang="en-US" sz="1200" dirty="0"/>
              <a:t> </a:t>
            </a:r>
            <a:r>
              <a:rPr lang="en-US" sz="1200" dirty="0" err="1"/>
              <a:t>sinyal-sinyal</a:t>
            </a:r>
            <a:r>
              <a:rPr lang="en-US" sz="1200" dirty="0"/>
              <a:t> </a:t>
            </a:r>
            <a:r>
              <a:rPr lang="en-US" sz="1200" dirty="0" err="1"/>
              <a:t>kode</a:t>
            </a:r>
            <a:r>
              <a:rPr lang="en-US" sz="1200" dirty="0"/>
              <a:t> </a:t>
            </a:r>
            <a:r>
              <a:rPr lang="en-US" sz="1200" dirty="0" err="1"/>
              <a:t>telegraf</a:t>
            </a:r>
            <a:r>
              <a:rPr lang="en-US" sz="1200" dirty="0"/>
              <a:t> </a:t>
            </a:r>
            <a:r>
              <a:rPr lang="en-US" sz="1200" dirty="0" err="1"/>
              <a:t>melewati</a:t>
            </a:r>
            <a:r>
              <a:rPr lang="en-US" sz="1200" dirty="0"/>
              <a:t> </a:t>
            </a:r>
            <a:r>
              <a:rPr lang="en-US" sz="1200" dirty="0" err="1"/>
              <a:t>lautan</a:t>
            </a:r>
            <a:r>
              <a:rPr lang="en-US" sz="1200" dirty="0"/>
              <a:t> </a:t>
            </a:r>
            <a:r>
              <a:rPr lang="en-US" sz="1200" dirty="0" err="1"/>
              <a:t>Atlantik</a:t>
            </a:r>
            <a:r>
              <a:rPr lang="en-US" sz="1200" dirty="0"/>
              <a:t> </a:t>
            </a:r>
            <a:r>
              <a:rPr lang="en-US" sz="1200" dirty="0" err="1"/>
              <a:t>dengan</a:t>
            </a:r>
            <a:r>
              <a:rPr lang="en-US" sz="1200" dirty="0"/>
              <a:t> </a:t>
            </a:r>
            <a:r>
              <a:rPr lang="en-US" sz="1200" dirty="0" err="1"/>
              <a:t>gelombang</a:t>
            </a:r>
            <a:r>
              <a:rPr lang="en-US" sz="1200" dirty="0"/>
              <a:t> </a:t>
            </a:r>
            <a:r>
              <a:rPr lang="en-US" sz="1200" dirty="0" err="1"/>
              <a:t>eletronagmetik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d. </a:t>
            </a:r>
            <a:r>
              <a:rPr lang="en-US" sz="1200" dirty="0" err="1"/>
              <a:t>Televisi</a:t>
            </a:r>
            <a:r>
              <a:rPr lang="en-US" sz="1200" dirty="0"/>
              <a:t> </a:t>
            </a:r>
            <a:r>
              <a:rPr lang="en-US" sz="1200" dirty="0" err="1"/>
              <a:t>ditemukan</a:t>
            </a:r>
            <a:r>
              <a:rPr lang="en-US" sz="1200" dirty="0"/>
              <a:t> Paul </a:t>
            </a:r>
            <a:r>
              <a:rPr lang="en-US" sz="1200" dirty="0" err="1"/>
              <a:t>Nipkow</a:t>
            </a:r>
            <a:r>
              <a:rPr lang="en-US" sz="1200" dirty="0"/>
              <a:t> 18883</a:t>
            </a:r>
            <a:br>
              <a:rPr lang="en-US" sz="1200" dirty="0"/>
            </a:br>
            <a:r>
              <a:rPr lang="en-US" sz="1200" dirty="0"/>
              <a:t>e. Dan </a:t>
            </a:r>
            <a:r>
              <a:rPr lang="en-US" sz="1200" dirty="0" err="1"/>
              <a:t>beberapa</a:t>
            </a:r>
            <a:r>
              <a:rPr lang="en-US" sz="1200" dirty="0"/>
              <a:t> </a:t>
            </a:r>
            <a:r>
              <a:rPr lang="en-US" sz="1200" dirty="0" err="1"/>
              <a:t>penemuan</a:t>
            </a:r>
            <a:r>
              <a:rPr lang="en-US" sz="1200" dirty="0"/>
              <a:t> lain</a:t>
            </a:r>
            <a:endParaRPr lang="en-US" sz="1200" b="1" dirty="0"/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dirty="0"/>
              <a:t/>
            </a:r>
            <a:br>
              <a:rPr lang="en-US" sz="1200" dirty="0"/>
            </a:b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3350881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M3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Mengaktifkan dan mematikan komputer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dirty="0" err="1" smtClean="0"/>
              <a:t>Prosedur</a:t>
            </a:r>
            <a:r>
              <a:rPr lang="en-US" sz="1200" dirty="0" smtClean="0"/>
              <a:t> </a:t>
            </a:r>
            <a:r>
              <a:rPr lang="en-US" sz="1200" dirty="0"/>
              <a:t>yang </a:t>
            </a:r>
            <a:r>
              <a:rPr lang="en-US" sz="1200" dirty="0" err="1"/>
              <a:t>benar</a:t>
            </a:r>
            <a:r>
              <a:rPr lang="en-US" sz="1200" dirty="0"/>
              <a:t> </a:t>
            </a:r>
            <a:r>
              <a:rPr lang="en-US" sz="1200" dirty="0" err="1"/>
              <a:t>menghidupkan</a:t>
            </a:r>
            <a:r>
              <a:rPr lang="en-US" sz="1200" dirty="0"/>
              <a:t> computer</a:t>
            </a:r>
            <a:br>
              <a:rPr lang="en-US" sz="1200" dirty="0"/>
            </a:br>
            <a:r>
              <a:rPr lang="en-US" sz="1200" dirty="0"/>
              <a:t>1. </a:t>
            </a:r>
            <a:r>
              <a:rPr lang="en-US" sz="1200" dirty="0" err="1"/>
              <a:t>Menyalakan</a:t>
            </a:r>
            <a:r>
              <a:rPr lang="en-US" sz="1200" dirty="0"/>
              <a:t> stabilizer</a:t>
            </a:r>
            <a:br>
              <a:rPr lang="en-US" sz="1200" dirty="0"/>
            </a:br>
            <a:r>
              <a:rPr lang="en-US" sz="1200" dirty="0"/>
              <a:t>2. </a:t>
            </a:r>
            <a:r>
              <a:rPr lang="en-US" sz="1200" dirty="0" err="1"/>
              <a:t>Menyalakan</a:t>
            </a:r>
            <a:r>
              <a:rPr lang="en-US" sz="1200" dirty="0"/>
              <a:t> power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Chassing</a:t>
            </a:r>
            <a:r>
              <a:rPr lang="en-US" sz="1200" dirty="0"/>
              <a:t> / CPU</a:t>
            </a:r>
            <a:br>
              <a:rPr lang="en-US" sz="1200" dirty="0"/>
            </a:br>
            <a:r>
              <a:rPr lang="en-US" sz="1200" dirty="0"/>
              <a:t>3. </a:t>
            </a:r>
            <a:r>
              <a:rPr lang="en-US" sz="1200" dirty="0" err="1"/>
              <a:t>Menyalakan</a:t>
            </a:r>
            <a:r>
              <a:rPr lang="en-US" sz="1200" dirty="0"/>
              <a:t> power </a:t>
            </a:r>
            <a:r>
              <a:rPr lang="en-US" sz="1200" dirty="0" err="1"/>
              <a:t>pada</a:t>
            </a:r>
            <a:r>
              <a:rPr lang="en-US" sz="1200" dirty="0"/>
              <a:t> monitor</a:t>
            </a:r>
            <a:br>
              <a:rPr lang="en-US" sz="1200" dirty="0"/>
            </a:br>
            <a:r>
              <a:rPr lang="en-US" sz="1200" dirty="0"/>
              <a:t>4. </a:t>
            </a:r>
            <a:r>
              <a:rPr lang="en-US" sz="1200" dirty="0" err="1"/>
              <a:t>Menunggu</a:t>
            </a:r>
            <a:r>
              <a:rPr lang="en-US" sz="1200" dirty="0"/>
              <a:t> computer loading system </a:t>
            </a:r>
            <a:r>
              <a:rPr lang="en-US" sz="1200" dirty="0" err="1"/>
              <a:t>operasi</a:t>
            </a:r>
            <a:r>
              <a:rPr lang="en-US" sz="1200" dirty="0"/>
              <a:t> (missal Windows)</a:t>
            </a:r>
            <a:br>
              <a:rPr lang="en-US" sz="1200" dirty="0"/>
            </a:br>
            <a:r>
              <a:rPr lang="en-US" sz="1200" dirty="0"/>
              <a:t>5. </a:t>
            </a:r>
            <a:r>
              <a:rPr lang="en-US" sz="1200" dirty="0" err="1"/>
              <a:t>Tunggu</a:t>
            </a:r>
            <a:r>
              <a:rPr lang="en-US" sz="1200" dirty="0"/>
              <a:t> </a:t>
            </a:r>
            <a:r>
              <a:rPr lang="en-US" sz="1200" dirty="0" err="1"/>
              <a:t>beberapa</a:t>
            </a:r>
            <a:r>
              <a:rPr lang="en-US" sz="1200" dirty="0"/>
              <a:t> </a:t>
            </a:r>
            <a:r>
              <a:rPr lang="en-US" sz="1200" dirty="0" err="1"/>
              <a:t>saat</a:t>
            </a:r>
            <a:r>
              <a:rPr lang="en-US" sz="1200" dirty="0"/>
              <a:t> </a:t>
            </a:r>
            <a:r>
              <a:rPr lang="en-US" sz="1200" dirty="0" err="1"/>
              <a:t>sampai</a:t>
            </a:r>
            <a:r>
              <a:rPr lang="en-US" sz="1200" dirty="0"/>
              <a:t> </a:t>
            </a:r>
            <a:r>
              <a:rPr lang="en-US" sz="1200" dirty="0" err="1"/>
              <a:t>keluar</a:t>
            </a:r>
            <a:r>
              <a:rPr lang="en-US" sz="1200" dirty="0"/>
              <a:t> </a:t>
            </a:r>
            <a:r>
              <a:rPr lang="en-US" sz="1200" dirty="0" err="1"/>
              <a:t>tampilan</a:t>
            </a:r>
            <a:r>
              <a:rPr lang="en-US" sz="1200" dirty="0"/>
              <a:t> desktop di monitor</a:t>
            </a:r>
            <a:br>
              <a:rPr lang="en-US" sz="1200" dirty="0"/>
            </a:br>
            <a:r>
              <a:rPr lang="en-US" sz="1200" dirty="0" err="1"/>
              <a:t>Prosedur</a:t>
            </a:r>
            <a:r>
              <a:rPr lang="en-US" sz="1200" dirty="0"/>
              <a:t> yang </a:t>
            </a:r>
            <a:r>
              <a:rPr lang="en-US" sz="1200" dirty="0" err="1"/>
              <a:t>benar</a:t>
            </a:r>
            <a:r>
              <a:rPr lang="en-US" sz="1200" dirty="0"/>
              <a:t> </a:t>
            </a:r>
            <a:r>
              <a:rPr lang="en-US" sz="1200" dirty="0" err="1"/>
              <a:t>mematikan</a:t>
            </a:r>
            <a:r>
              <a:rPr lang="en-US" sz="1200" dirty="0"/>
              <a:t> computer</a:t>
            </a:r>
            <a:br>
              <a:rPr lang="en-US" sz="1200" dirty="0"/>
            </a:br>
            <a:r>
              <a:rPr lang="en-US" sz="1200" dirty="0"/>
              <a:t>1. </a:t>
            </a:r>
            <a:r>
              <a:rPr lang="en-US" sz="1200" dirty="0" err="1"/>
              <a:t>Klik</a:t>
            </a:r>
            <a:r>
              <a:rPr lang="en-US" sz="1200" dirty="0"/>
              <a:t> </a:t>
            </a:r>
            <a:r>
              <a:rPr lang="en-US" sz="1200" dirty="0" err="1"/>
              <a:t>tombol</a:t>
            </a:r>
            <a:r>
              <a:rPr lang="en-US" sz="1200" dirty="0"/>
              <a:t> start</a:t>
            </a:r>
            <a:br>
              <a:rPr lang="en-US" sz="1200" dirty="0"/>
            </a:br>
            <a:r>
              <a:rPr lang="en-US" sz="1200" dirty="0"/>
              <a:t>2. </a:t>
            </a:r>
            <a:r>
              <a:rPr lang="en-US" sz="1200" dirty="0" err="1"/>
              <a:t>Pilih</a:t>
            </a:r>
            <a:r>
              <a:rPr lang="en-US" sz="1200" dirty="0"/>
              <a:t> shut down </a:t>
            </a:r>
            <a:r>
              <a:rPr lang="en-US" sz="1200" dirty="0" err="1"/>
              <a:t>atau</a:t>
            </a:r>
            <a:r>
              <a:rPr lang="en-US" sz="1200" dirty="0"/>
              <a:t> turn off</a:t>
            </a:r>
            <a:br>
              <a:rPr lang="en-US" sz="1200" dirty="0"/>
            </a:br>
            <a:r>
              <a:rPr lang="en-US" sz="1200" dirty="0"/>
              <a:t>3. </a:t>
            </a:r>
            <a:r>
              <a:rPr lang="en-US" sz="1200" dirty="0" err="1"/>
              <a:t>Klik</a:t>
            </a:r>
            <a:r>
              <a:rPr lang="en-US" sz="1200" dirty="0"/>
              <a:t> OK</a:t>
            </a:r>
            <a:br>
              <a:rPr lang="en-US" sz="1200" dirty="0"/>
            </a:br>
            <a:r>
              <a:rPr lang="en-US" sz="1200" dirty="0"/>
              <a:t>4. </a:t>
            </a:r>
            <a:r>
              <a:rPr lang="en-US" sz="1200" dirty="0" err="1"/>
              <a:t>Tunggu</a:t>
            </a:r>
            <a:r>
              <a:rPr lang="en-US" sz="1200" dirty="0"/>
              <a:t> </a:t>
            </a:r>
            <a:r>
              <a:rPr lang="en-US" sz="1200" dirty="0" err="1"/>
              <a:t>beberapa</a:t>
            </a:r>
            <a:r>
              <a:rPr lang="en-US" sz="1200" dirty="0"/>
              <a:t> </a:t>
            </a:r>
            <a:r>
              <a:rPr lang="en-US" sz="1200" dirty="0" err="1"/>
              <a:t>saat</a:t>
            </a:r>
            <a:r>
              <a:rPr lang="en-US" sz="1200" dirty="0"/>
              <a:t> </a:t>
            </a:r>
            <a:r>
              <a:rPr lang="en-US" sz="1200" dirty="0" err="1"/>
              <a:t>sampai</a:t>
            </a:r>
            <a:r>
              <a:rPr lang="en-US" sz="1200" dirty="0"/>
              <a:t> computer </a:t>
            </a:r>
            <a:r>
              <a:rPr lang="en-US" sz="1200" dirty="0" err="1"/>
              <a:t>mati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5. </a:t>
            </a:r>
            <a:r>
              <a:rPr lang="en-US" sz="1200" dirty="0" err="1"/>
              <a:t>Matikan</a:t>
            </a:r>
            <a:r>
              <a:rPr lang="en-US" sz="1200" dirty="0"/>
              <a:t> </a:t>
            </a:r>
            <a:r>
              <a:rPr lang="en-US" sz="1200" dirty="0" err="1"/>
              <a:t>tombol</a:t>
            </a:r>
            <a:r>
              <a:rPr lang="en-US" sz="1200" dirty="0"/>
              <a:t> off </a:t>
            </a:r>
            <a:r>
              <a:rPr lang="en-US" sz="1200" dirty="0" err="1"/>
              <a:t>pada</a:t>
            </a:r>
            <a:r>
              <a:rPr lang="en-US" sz="1200" dirty="0"/>
              <a:t> monitor </a:t>
            </a:r>
            <a:r>
              <a:rPr lang="en-US" sz="1200" dirty="0" err="1"/>
              <a:t>dan</a:t>
            </a:r>
            <a:r>
              <a:rPr lang="en-US" sz="1200" dirty="0"/>
              <a:t> stabilizer</a:t>
            </a:r>
            <a:br>
              <a:rPr lang="en-US" sz="1200" dirty="0"/>
            </a:b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3334692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M4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Perangkat Keras dan Lunak Komputer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err="1"/>
              <a:t>Perangkat</a:t>
            </a:r>
            <a:r>
              <a:rPr lang="en-US" sz="1200" b="1" dirty="0"/>
              <a:t> </a:t>
            </a:r>
            <a:r>
              <a:rPr lang="en-US" sz="1200" b="1" dirty="0" err="1"/>
              <a:t>keras</a:t>
            </a:r>
            <a:r>
              <a:rPr lang="en-US" sz="1200" b="1" dirty="0"/>
              <a:t> </a:t>
            </a:r>
            <a:r>
              <a:rPr lang="en-US" sz="1200" b="1" dirty="0" err="1"/>
              <a:t>dibangi</a:t>
            </a:r>
            <a:r>
              <a:rPr lang="en-US" sz="1200" b="1" dirty="0"/>
              <a:t> </a:t>
            </a:r>
            <a:r>
              <a:rPr lang="en-US" sz="1200" b="1" dirty="0" err="1"/>
              <a:t>menjadi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1. </a:t>
            </a:r>
            <a:r>
              <a:rPr lang="en-US" sz="1200" dirty="0" err="1"/>
              <a:t>Perangkat</a:t>
            </a:r>
            <a:r>
              <a:rPr lang="en-US" sz="1200" dirty="0"/>
              <a:t> </a:t>
            </a:r>
            <a:r>
              <a:rPr lang="en-US" sz="1200" dirty="0" err="1"/>
              <a:t>masukan</a:t>
            </a:r>
            <a:r>
              <a:rPr lang="en-US" sz="1200" dirty="0"/>
              <a:t> (input device)</a:t>
            </a:r>
            <a:br>
              <a:rPr lang="en-US" sz="1200" dirty="0"/>
            </a:br>
            <a:r>
              <a:rPr lang="en-US" sz="1200" dirty="0" smtClean="0"/>
              <a:t>	a</a:t>
            </a:r>
            <a:r>
              <a:rPr lang="en-US" sz="1200" dirty="0"/>
              <a:t>. Keyboard</a:t>
            </a:r>
            <a:br>
              <a:rPr lang="en-US" sz="1200" dirty="0"/>
            </a:br>
            <a:r>
              <a:rPr lang="en-US" sz="1200" dirty="0" smtClean="0"/>
              <a:t>	b</a:t>
            </a:r>
            <a:r>
              <a:rPr lang="en-US" sz="1200" dirty="0"/>
              <a:t>. Mouse</a:t>
            </a:r>
            <a:br>
              <a:rPr lang="en-US" sz="1200" dirty="0"/>
            </a:br>
            <a:r>
              <a:rPr lang="en-US" sz="1200" dirty="0" smtClean="0"/>
              <a:t>	c</a:t>
            </a:r>
            <a:r>
              <a:rPr lang="en-US" sz="1200" dirty="0"/>
              <a:t>. Joystick</a:t>
            </a:r>
            <a:br>
              <a:rPr lang="en-US" sz="1200" dirty="0"/>
            </a:br>
            <a:r>
              <a:rPr lang="en-US" sz="1200" dirty="0" smtClean="0"/>
              <a:t>	d</a:t>
            </a:r>
            <a:r>
              <a:rPr lang="en-US" sz="1200" dirty="0"/>
              <a:t>. Scanner</a:t>
            </a:r>
            <a:br>
              <a:rPr lang="en-US" sz="1200" dirty="0"/>
            </a:br>
            <a:r>
              <a:rPr lang="en-US" sz="1200" dirty="0" smtClean="0"/>
              <a:t>	e</a:t>
            </a:r>
            <a:r>
              <a:rPr lang="en-US" sz="1200" dirty="0"/>
              <a:t>. Digital camera</a:t>
            </a:r>
            <a:br>
              <a:rPr lang="en-US" sz="1200" dirty="0"/>
            </a:br>
            <a:r>
              <a:rPr lang="en-US" sz="1200" dirty="0" smtClean="0"/>
              <a:t>	f</a:t>
            </a:r>
            <a:r>
              <a:rPr lang="en-US" sz="1200" dirty="0"/>
              <a:t>. Microphone</a:t>
            </a:r>
            <a:br>
              <a:rPr lang="en-US" sz="1200" dirty="0"/>
            </a:br>
            <a:r>
              <a:rPr lang="en-US" sz="1200" dirty="0" smtClean="0"/>
              <a:t>	g</a:t>
            </a:r>
            <a:r>
              <a:rPr lang="en-US" sz="1200" dirty="0"/>
              <a:t>. Webcam</a:t>
            </a:r>
            <a:br>
              <a:rPr lang="en-US" sz="1200" dirty="0"/>
            </a:br>
            <a:r>
              <a:rPr lang="en-US" sz="1200" dirty="0"/>
              <a:t>2. </a:t>
            </a:r>
            <a:r>
              <a:rPr lang="en-US" sz="1200" dirty="0" err="1"/>
              <a:t>Perangkat</a:t>
            </a:r>
            <a:r>
              <a:rPr lang="en-US" sz="1200" dirty="0"/>
              <a:t> proses (process device)</a:t>
            </a:r>
            <a:br>
              <a:rPr lang="en-US" sz="1200" dirty="0"/>
            </a:br>
            <a:r>
              <a:rPr lang="en-US" sz="1200" dirty="0" smtClean="0"/>
              <a:t>	a</a:t>
            </a:r>
            <a:r>
              <a:rPr lang="en-US" sz="1200" dirty="0"/>
              <a:t>. Motherboard / Mainboard</a:t>
            </a:r>
            <a:br>
              <a:rPr lang="en-US" sz="1200" dirty="0"/>
            </a:br>
            <a:r>
              <a:rPr lang="en-US" sz="1200" dirty="0" smtClean="0"/>
              <a:t>	b</a:t>
            </a:r>
            <a:r>
              <a:rPr lang="en-US" sz="1200" dirty="0"/>
              <a:t>. CPU / Microprocessor : ALU: </a:t>
            </a:r>
            <a:r>
              <a:rPr lang="en-US" sz="1200" dirty="0" err="1"/>
              <a:t>aritmetic</a:t>
            </a:r>
            <a:r>
              <a:rPr lang="en-US" sz="1200" dirty="0"/>
              <a:t> logical unit, </a:t>
            </a:r>
            <a:r>
              <a:rPr lang="en-US" sz="1200" dirty="0" err="1"/>
              <a:t>CU:control</a:t>
            </a:r>
            <a:r>
              <a:rPr lang="en-US" sz="1200" dirty="0"/>
              <a:t> unit, </a:t>
            </a:r>
            <a:r>
              <a:rPr lang="en-US" sz="1200" dirty="0" err="1"/>
              <a:t>MU:memory</a:t>
            </a:r>
            <a:r>
              <a:rPr lang="en-US" sz="1200" dirty="0"/>
              <a:t> unit</a:t>
            </a:r>
            <a:br>
              <a:rPr lang="en-US" sz="1200" dirty="0"/>
            </a:br>
            <a:r>
              <a:rPr lang="en-US" sz="1200" dirty="0"/>
              <a:t>3. </a:t>
            </a:r>
            <a:r>
              <a:rPr lang="en-US" sz="1200" dirty="0" err="1"/>
              <a:t>Perangkat</a:t>
            </a:r>
            <a:r>
              <a:rPr lang="en-US" sz="1200" dirty="0"/>
              <a:t> </a:t>
            </a:r>
            <a:r>
              <a:rPr lang="en-US" sz="1200" dirty="0" err="1"/>
              <a:t>simpan</a:t>
            </a:r>
            <a:r>
              <a:rPr lang="en-US" sz="1200" dirty="0"/>
              <a:t> (storage device)</a:t>
            </a:r>
            <a:br>
              <a:rPr lang="en-US" sz="1200" dirty="0"/>
            </a:br>
            <a:r>
              <a:rPr lang="en-US" sz="1200" dirty="0" smtClean="0"/>
              <a:t>	a</a:t>
            </a:r>
            <a:r>
              <a:rPr lang="en-US" sz="1200" dirty="0"/>
              <a:t>. Primary storage : ROM, RAM</a:t>
            </a:r>
            <a:br>
              <a:rPr lang="en-US" sz="1200" dirty="0"/>
            </a:br>
            <a:r>
              <a:rPr lang="en-US" sz="1200" dirty="0" smtClean="0"/>
              <a:t>	b</a:t>
            </a:r>
            <a:r>
              <a:rPr lang="en-US" sz="1200" dirty="0"/>
              <a:t>. Secondary storage : </a:t>
            </a:r>
            <a:r>
              <a:rPr lang="en-US" sz="1200" dirty="0" err="1"/>
              <a:t>harddisk</a:t>
            </a:r>
            <a:r>
              <a:rPr lang="en-US" sz="1200" dirty="0"/>
              <a:t>, </a:t>
            </a:r>
            <a:r>
              <a:rPr lang="en-US" sz="1200" dirty="0" err="1"/>
              <a:t>disket</a:t>
            </a:r>
            <a:r>
              <a:rPr lang="en-US" sz="1200" dirty="0"/>
              <a:t>, UFD, CD/DVD</a:t>
            </a:r>
            <a:br>
              <a:rPr lang="en-US" sz="1200" dirty="0"/>
            </a:br>
            <a:r>
              <a:rPr lang="en-US" sz="1200" dirty="0"/>
              <a:t>4. </a:t>
            </a:r>
            <a:r>
              <a:rPr lang="en-US" sz="1200" dirty="0" err="1"/>
              <a:t>Perangkat</a:t>
            </a:r>
            <a:r>
              <a:rPr lang="en-US" sz="1200" dirty="0"/>
              <a:t> </a:t>
            </a:r>
            <a:r>
              <a:rPr lang="en-US" sz="1200" dirty="0" err="1"/>
              <a:t>keluaran</a:t>
            </a:r>
            <a:r>
              <a:rPr lang="en-US" sz="1200" dirty="0"/>
              <a:t> (output device)</a:t>
            </a:r>
            <a:br>
              <a:rPr lang="en-US" sz="1200" dirty="0"/>
            </a:br>
            <a:r>
              <a:rPr lang="en-US" sz="1200" dirty="0" smtClean="0"/>
              <a:t>	a</a:t>
            </a:r>
            <a:r>
              <a:rPr lang="en-US" sz="1200" dirty="0"/>
              <a:t>. Monitor</a:t>
            </a:r>
            <a:br>
              <a:rPr lang="en-US" sz="1200" dirty="0"/>
            </a:br>
            <a:r>
              <a:rPr lang="en-US" sz="1200" dirty="0" smtClean="0"/>
              <a:t>	b</a:t>
            </a:r>
            <a:r>
              <a:rPr lang="en-US" sz="1200" dirty="0"/>
              <a:t>. Printer</a:t>
            </a:r>
            <a:br>
              <a:rPr lang="en-US" sz="1200" dirty="0"/>
            </a:br>
            <a:r>
              <a:rPr lang="en-US" sz="1200" dirty="0"/>
              <a:t>5. </a:t>
            </a:r>
            <a:r>
              <a:rPr lang="en-US" sz="1200" dirty="0" err="1"/>
              <a:t>Perangkat</a:t>
            </a:r>
            <a:r>
              <a:rPr lang="en-US" sz="1200" dirty="0"/>
              <a:t> </a:t>
            </a:r>
            <a:r>
              <a:rPr lang="en-US" sz="1200" dirty="0" err="1"/>
              <a:t>tambahan</a:t>
            </a:r>
            <a:r>
              <a:rPr lang="en-US" sz="1200" dirty="0"/>
              <a:t> (peripheral) : TV turner, card reader, modem</a:t>
            </a:r>
            <a:br>
              <a:rPr lang="en-US" sz="1200" dirty="0"/>
            </a:b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1445038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M4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Perangkat Keras dan Lunak Komputer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/>
              <a:t>PERANGKAT LUNAK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err="1"/>
              <a:t>Penggolongan</a:t>
            </a:r>
            <a:r>
              <a:rPr lang="en-US" sz="1200" dirty="0"/>
              <a:t> </a:t>
            </a:r>
            <a:r>
              <a:rPr lang="en-US" sz="1200" dirty="0" err="1"/>
              <a:t>perangkat</a:t>
            </a:r>
            <a:r>
              <a:rPr lang="en-US" sz="1200" dirty="0"/>
              <a:t> </a:t>
            </a:r>
            <a:r>
              <a:rPr lang="en-US" sz="1200" dirty="0" err="1"/>
              <a:t>lunak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1. </a:t>
            </a:r>
            <a:r>
              <a:rPr lang="en-US" sz="1200" dirty="0" err="1"/>
              <a:t>Sistem</a:t>
            </a:r>
            <a:r>
              <a:rPr lang="en-US" sz="1200" dirty="0"/>
              <a:t> </a:t>
            </a:r>
            <a:r>
              <a:rPr lang="en-US" sz="1200" dirty="0" err="1"/>
              <a:t>Operasi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smtClean="0"/>
              <a:t>	a</a:t>
            </a:r>
            <a:r>
              <a:rPr lang="en-US" sz="1200" dirty="0"/>
              <a:t>. Basis </a:t>
            </a:r>
            <a:r>
              <a:rPr lang="en-US" sz="1200" dirty="0" err="1"/>
              <a:t>teks</a:t>
            </a:r>
            <a:r>
              <a:rPr lang="en-US" sz="1200" dirty="0"/>
              <a:t> (CLI: Command Line Interface) : MS-DOS, UNIX</a:t>
            </a:r>
            <a:br>
              <a:rPr lang="en-US" sz="1200" dirty="0"/>
            </a:br>
            <a:r>
              <a:rPr lang="en-US" sz="1200" dirty="0" smtClean="0"/>
              <a:t>	b</a:t>
            </a:r>
            <a:r>
              <a:rPr lang="en-US" sz="1200" dirty="0"/>
              <a:t>. Basis </a:t>
            </a:r>
            <a:r>
              <a:rPr lang="en-US" sz="1200" dirty="0" err="1"/>
              <a:t>grafis</a:t>
            </a:r>
            <a:r>
              <a:rPr lang="en-US" sz="1200" dirty="0"/>
              <a:t> (</a:t>
            </a:r>
            <a:r>
              <a:rPr lang="en-US" sz="1200" dirty="0" err="1"/>
              <a:t>GUI:Graphic</a:t>
            </a:r>
            <a:r>
              <a:rPr lang="en-US" sz="1200" dirty="0"/>
              <a:t> Unit Interface) : Microsoft Windows, </a:t>
            </a:r>
            <a:r>
              <a:rPr lang="en-US" sz="1200" dirty="0" err="1"/>
              <a:t>macintosh</a:t>
            </a:r>
            <a:r>
              <a:rPr lang="en-US" sz="1200" dirty="0"/>
              <a:t>, Linux</a:t>
            </a:r>
            <a:br>
              <a:rPr lang="en-US" sz="1200" dirty="0"/>
            </a:br>
            <a:r>
              <a:rPr lang="en-US" sz="1200" dirty="0"/>
              <a:t>2. Program Utility</a:t>
            </a:r>
            <a:br>
              <a:rPr lang="en-US" sz="1200" dirty="0"/>
            </a:br>
            <a:r>
              <a:rPr lang="en-US" sz="1200" dirty="0" smtClean="0"/>
              <a:t>	a</a:t>
            </a:r>
            <a:r>
              <a:rPr lang="en-US" sz="1200" dirty="0"/>
              <a:t>. File Viewer : </a:t>
            </a:r>
            <a:r>
              <a:rPr lang="en-US" sz="1200" dirty="0" err="1"/>
              <a:t>ACDSee</a:t>
            </a:r>
            <a:r>
              <a:rPr lang="en-US" sz="1200" dirty="0"/>
              <a:t>, Adobe Reader</a:t>
            </a:r>
            <a:br>
              <a:rPr lang="en-US" sz="1200" dirty="0"/>
            </a:br>
            <a:r>
              <a:rPr lang="en-US" sz="1200" dirty="0" smtClean="0"/>
              <a:t>	b</a:t>
            </a:r>
            <a:r>
              <a:rPr lang="en-US" sz="1200" dirty="0"/>
              <a:t>. </a:t>
            </a:r>
            <a:r>
              <a:rPr lang="en-US" sz="1200" dirty="0" err="1"/>
              <a:t>Sytem</a:t>
            </a:r>
            <a:r>
              <a:rPr lang="en-US" sz="1200" dirty="0"/>
              <a:t> </a:t>
            </a:r>
            <a:r>
              <a:rPr lang="en-US" sz="1200" dirty="0" err="1"/>
              <a:t>Utulity</a:t>
            </a:r>
            <a:r>
              <a:rPr lang="en-US" sz="1200" dirty="0"/>
              <a:t> : program Scandisk, hardware monitor, file compression, security program (antivirus, anti spyware, firewall, password generator)</a:t>
            </a:r>
            <a:br>
              <a:rPr lang="en-US" sz="1200" dirty="0"/>
            </a:br>
            <a:r>
              <a:rPr lang="en-US" sz="1200" dirty="0"/>
              <a:t>3. </a:t>
            </a:r>
            <a:r>
              <a:rPr lang="en-US" sz="1200" dirty="0" err="1"/>
              <a:t>Bahasa</a:t>
            </a:r>
            <a:r>
              <a:rPr lang="en-US" sz="1200" dirty="0"/>
              <a:t> </a:t>
            </a:r>
            <a:r>
              <a:rPr lang="en-US" sz="1200" dirty="0" err="1"/>
              <a:t>Pemprograman</a:t>
            </a:r>
            <a:r>
              <a:rPr lang="en-US" sz="1200" dirty="0"/>
              <a:t> : FORTRAN, COBOL. PASCAL, BASIC, C++, </a:t>
            </a:r>
            <a:r>
              <a:rPr lang="en-US" sz="1200" dirty="0" err="1"/>
              <a:t>dsb</a:t>
            </a:r>
            <a:r>
              <a:rPr lang="en-US" sz="1200" dirty="0"/>
              <a:t>…</a:t>
            </a:r>
            <a:br>
              <a:rPr lang="en-US" sz="1200" dirty="0"/>
            </a:br>
            <a:r>
              <a:rPr lang="en-US" sz="1200" dirty="0"/>
              <a:t>4. Program </a:t>
            </a:r>
            <a:r>
              <a:rPr lang="en-US" sz="1200" dirty="0" err="1"/>
              <a:t>Aplikasi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smtClean="0"/>
              <a:t>	a</a:t>
            </a:r>
            <a:r>
              <a:rPr lang="en-US" sz="1200" dirty="0"/>
              <a:t>. Program </a:t>
            </a:r>
            <a:r>
              <a:rPr lang="en-US" sz="1200" dirty="0" err="1"/>
              <a:t>pengolah</a:t>
            </a:r>
            <a:r>
              <a:rPr lang="en-US" sz="1200" dirty="0"/>
              <a:t> kata c. Program </a:t>
            </a:r>
            <a:r>
              <a:rPr lang="en-US" sz="1200" dirty="0" err="1"/>
              <a:t>presentasi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smtClean="0"/>
              <a:t>	d</a:t>
            </a:r>
            <a:r>
              <a:rPr lang="en-US" sz="1200" dirty="0"/>
              <a:t>. Program multimedia </a:t>
            </a:r>
            <a:r>
              <a:rPr lang="en-US" sz="1200" dirty="0" err="1"/>
              <a:t>b.Program</a:t>
            </a:r>
            <a:r>
              <a:rPr lang="en-US" sz="1200" dirty="0"/>
              <a:t> </a:t>
            </a:r>
            <a:r>
              <a:rPr lang="en-US" sz="1200" dirty="0" err="1"/>
              <a:t>pengolah</a:t>
            </a:r>
            <a:r>
              <a:rPr lang="en-US" sz="1200" dirty="0"/>
              <a:t> </a:t>
            </a:r>
            <a:r>
              <a:rPr lang="en-US" sz="1200" dirty="0" err="1"/>
              <a:t>angka</a:t>
            </a:r>
            <a:r>
              <a:rPr lang="en-US" sz="1200" dirty="0"/>
              <a:t/>
            </a:r>
            <a:br>
              <a:rPr lang="en-US" sz="1200" dirty="0"/>
            </a:b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255112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M5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Program Pengolah Kata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err="1"/>
              <a:t>Bagian</a:t>
            </a:r>
            <a:r>
              <a:rPr lang="en-US" sz="1200" b="1" dirty="0"/>
              <a:t> </a:t>
            </a:r>
            <a:r>
              <a:rPr lang="en-US" sz="1200" b="1" dirty="0" err="1"/>
              <a:t>penting</a:t>
            </a:r>
            <a:r>
              <a:rPr lang="en-US" sz="1200" b="1" dirty="0"/>
              <a:t> Microsoft Word 2003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1. Menu control</a:t>
            </a:r>
            <a:br>
              <a:rPr lang="en-US" sz="1200" dirty="0"/>
            </a:br>
            <a:r>
              <a:rPr lang="en-US" sz="1200" dirty="0"/>
              <a:t>2. Title bar</a:t>
            </a:r>
            <a:br>
              <a:rPr lang="en-US" sz="1200" dirty="0"/>
            </a:br>
            <a:r>
              <a:rPr lang="en-US" sz="1200" dirty="0"/>
              <a:t>3. Menu bar</a:t>
            </a:r>
            <a:br>
              <a:rPr lang="en-US" sz="1200" dirty="0"/>
            </a:br>
            <a:r>
              <a:rPr lang="en-US" sz="1200" dirty="0"/>
              <a:t>4. Toolbar</a:t>
            </a:r>
            <a:br>
              <a:rPr lang="en-US" sz="1200" dirty="0"/>
            </a:br>
            <a:r>
              <a:rPr lang="en-US" sz="1200" dirty="0"/>
              <a:t>5. Scroll bar</a:t>
            </a:r>
            <a:br>
              <a:rPr lang="en-US" sz="1200" dirty="0"/>
            </a:br>
            <a:r>
              <a:rPr lang="en-US" sz="1200" dirty="0"/>
              <a:t>6. Ruler</a:t>
            </a:r>
            <a:br>
              <a:rPr lang="en-US" sz="1200" dirty="0"/>
            </a:br>
            <a:r>
              <a:rPr lang="en-US" sz="1200" dirty="0"/>
              <a:t>7. </a:t>
            </a:r>
            <a:r>
              <a:rPr lang="en-US" sz="1200" dirty="0" err="1"/>
              <a:t>Kursor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8. </a:t>
            </a:r>
            <a:r>
              <a:rPr lang="en-US" sz="1200" dirty="0" err="1" smtClean="0"/>
              <a:t>Taskpane</a:t>
            </a:r>
            <a:endParaRPr lang="en-US" sz="1200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 smtClean="0"/>
              <a:t>Menu </a:t>
            </a:r>
            <a:r>
              <a:rPr lang="en-US" sz="1200" dirty="0"/>
              <a:t>bar Word 2003 </a:t>
            </a:r>
            <a:r>
              <a:rPr lang="en-US" sz="1200" dirty="0" err="1"/>
              <a:t>terdiri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9 : file, edit, view, insert, format, tools, table, window, help</a:t>
            </a:r>
            <a:br>
              <a:rPr lang="en-US" sz="1200" dirty="0"/>
            </a:br>
            <a:r>
              <a:rPr lang="en-US" sz="1200" dirty="0"/>
              <a:t>Menu bar Word 2007 </a:t>
            </a:r>
            <a:r>
              <a:rPr lang="en-US" sz="1200" dirty="0" err="1"/>
              <a:t>terdiri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7 : home, insert, page layout, reference, mailings, review, view</a:t>
            </a:r>
            <a:br>
              <a:rPr lang="en-US" sz="1200" dirty="0"/>
            </a:br>
            <a:r>
              <a:rPr lang="en-US" sz="1200" dirty="0"/>
              <a:t>3 Toolbar </a:t>
            </a:r>
            <a:r>
              <a:rPr lang="en-US" sz="1200" dirty="0" err="1"/>
              <a:t>utama</a:t>
            </a:r>
            <a:r>
              <a:rPr lang="en-US" sz="1200" dirty="0"/>
              <a:t> di Word 2003: toolbar </a:t>
            </a:r>
            <a:r>
              <a:rPr lang="en-US" sz="1200" dirty="0" err="1"/>
              <a:t>standart</a:t>
            </a:r>
            <a:r>
              <a:rPr lang="en-US" sz="1200" dirty="0"/>
              <a:t>, formatting, drawing</a:t>
            </a:r>
            <a:br>
              <a:rPr lang="en-US" sz="1200" dirty="0"/>
            </a:br>
            <a:r>
              <a:rPr lang="en-US" sz="1200" dirty="0" err="1"/>
              <a:t>Ikon</a:t>
            </a:r>
            <a:r>
              <a:rPr lang="en-US" sz="1200" dirty="0"/>
              <a:t> : lambing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gambar</a:t>
            </a:r>
            <a:r>
              <a:rPr lang="en-US" sz="1200" dirty="0"/>
              <a:t> yang </a:t>
            </a:r>
            <a:r>
              <a:rPr lang="en-US" sz="1200" dirty="0" err="1"/>
              <a:t>mewakili</a:t>
            </a:r>
            <a:r>
              <a:rPr lang="en-US" sz="1200" dirty="0"/>
              <a:t> </a:t>
            </a:r>
            <a:r>
              <a:rPr lang="en-US" sz="1200" dirty="0" err="1"/>
              <a:t>seautu</a:t>
            </a:r>
            <a:r>
              <a:rPr lang="en-US" sz="1200" dirty="0"/>
              <a:t> </a:t>
            </a:r>
            <a:r>
              <a:rPr lang="en-US" sz="1200" dirty="0" err="1"/>
              <a:t>intruksi</a:t>
            </a:r>
            <a:r>
              <a:rPr lang="en-US" sz="1200" dirty="0"/>
              <a:t> / </a:t>
            </a:r>
            <a:r>
              <a:rPr lang="en-US" sz="1200" dirty="0" err="1"/>
              <a:t>perintah</a:t>
            </a:r>
            <a:r>
              <a:rPr lang="en-US" sz="1200" dirty="0"/>
              <a:t/>
            </a:r>
            <a:br>
              <a:rPr lang="en-US" sz="1200" dirty="0"/>
            </a:b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3387816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M6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Program Pengolah Angka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err="1" smtClean="0"/>
              <a:t>Tampilan</a:t>
            </a:r>
            <a:r>
              <a:rPr lang="en-US" sz="1200" b="1" dirty="0" smtClean="0"/>
              <a:t> </a:t>
            </a:r>
            <a:r>
              <a:rPr lang="en-US" sz="1200" b="1" dirty="0"/>
              <a:t>Microsoft Excel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1. Workbook (</a:t>
            </a:r>
            <a:r>
              <a:rPr lang="en-US" sz="1200" dirty="0" err="1"/>
              <a:t>buku</a:t>
            </a:r>
            <a:r>
              <a:rPr lang="en-US" sz="1200" dirty="0"/>
              <a:t> </a:t>
            </a:r>
            <a:r>
              <a:rPr lang="en-US" sz="1200" dirty="0" err="1"/>
              <a:t>kerja</a:t>
            </a:r>
            <a:r>
              <a:rPr lang="en-US" sz="1200" dirty="0"/>
              <a:t>) : file </a:t>
            </a:r>
            <a:r>
              <a:rPr lang="en-US" sz="1200" dirty="0" err="1"/>
              <a:t>atau</a:t>
            </a:r>
            <a:r>
              <a:rPr lang="en-US" sz="1200" dirty="0"/>
              <a:t> </a:t>
            </a:r>
            <a:r>
              <a:rPr lang="en-US" sz="1200" dirty="0" err="1"/>
              <a:t>dolumen</a:t>
            </a:r>
            <a:r>
              <a:rPr lang="en-US" sz="1200" dirty="0"/>
              <a:t> yang </a:t>
            </a:r>
            <a:r>
              <a:rPr lang="en-US" sz="1200" dirty="0" err="1"/>
              <a:t>terdiri</a:t>
            </a:r>
            <a:r>
              <a:rPr lang="en-US" sz="1200" dirty="0"/>
              <a:t> </a:t>
            </a:r>
            <a:r>
              <a:rPr lang="en-US" sz="1200" dirty="0" err="1"/>
              <a:t>atas</a:t>
            </a:r>
            <a:r>
              <a:rPr lang="en-US" sz="1200" dirty="0"/>
              <a:t> </a:t>
            </a:r>
            <a:r>
              <a:rPr lang="en-US" sz="1200" dirty="0" err="1"/>
              <a:t>lembaran-lembaran</a:t>
            </a:r>
            <a:r>
              <a:rPr lang="en-US" sz="1200" dirty="0"/>
              <a:t> (sheet)</a:t>
            </a:r>
            <a:br>
              <a:rPr lang="en-US" sz="1200" dirty="0"/>
            </a:br>
            <a:r>
              <a:rPr lang="en-US" sz="1200" dirty="0"/>
              <a:t>2. Worksheet (</a:t>
            </a:r>
            <a:r>
              <a:rPr lang="en-US" sz="1200" dirty="0" err="1"/>
              <a:t>lembar</a:t>
            </a:r>
            <a:r>
              <a:rPr lang="en-US" sz="1200" dirty="0"/>
              <a:t> </a:t>
            </a:r>
            <a:r>
              <a:rPr lang="en-US" sz="1200" dirty="0" err="1"/>
              <a:t>kerja</a:t>
            </a:r>
            <a:r>
              <a:rPr lang="en-US" sz="1200" dirty="0"/>
              <a:t>) : </a:t>
            </a:r>
            <a:r>
              <a:rPr lang="en-US" sz="1200" dirty="0" err="1"/>
              <a:t>sekumpulan</a:t>
            </a:r>
            <a:r>
              <a:rPr lang="en-US" sz="1200" dirty="0"/>
              <a:t> range</a:t>
            </a:r>
            <a:br>
              <a:rPr lang="en-US" sz="1200" dirty="0"/>
            </a:br>
            <a:r>
              <a:rPr lang="en-US" sz="1200" dirty="0"/>
              <a:t>3. Column : </a:t>
            </a:r>
            <a:r>
              <a:rPr lang="en-US" sz="1200" dirty="0" err="1"/>
              <a:t>deretan</a:t>
            </a:r>
            <a:r>
              <a:rPr lang="en-US" sz="1200" dirty="0"/>
              <a:t> </a:t>
            </a:r>
            <a:r>
              <a:rPr lang="en-US" sz="1200" dirty="0" err="1"/>
              <a:t>kolom</a:t>
            </a:r>
            <a:r>
              <a:rPr lang="en-US" sz="1200" dirty="0"/>
              <a:t> </a:t>
            </a:r>
            <a:r>
              <a:rPr lang="en-US" sz="1200" dirty="0" err="1"/>
              <a:t>dinotasikan</a:t>
            </a:r>
            <a:r>
              <a:rPr lang="en-US" sz="1200" dirty="0"/>
              <a:t> A </a:t>
            </a:r>
            <a:r>
              <a:rPr lang="en-US" sz="1200" dirty="0" err="1"/>
              <a:t>sd</a:t>
            </a:r>
            <a:r>
              <a:rPr lang="en-US" sz="1200" dirty="0"/>
              <a:t> IV (256 </a:t>
            </a:r>
            <a:r>
              <a:rPr lang="en-US" sz="1200" dirty="0" err="1"/>
              <a:t>kolom</a:t>
            </a:r>
            <a:r>
              <a:rPr lang="en-US" sz="1200" dirty="0"/>
              <a:t>)</a:t>
            </a:r>
            <a:br>
              <a:rPr lang="en-US" sz="1200" dirty="0"/>
            </a:br>
            <a:r>
              <a:rPr lang="en-US" sz="1200" dirty="0"/>
              <a:t>4. Rows : </a:t>
            </a:r>
            <a:r>
              <a:rPr lang="en-US" sz="1200" dirty="0" err="1"/>
              <a:t>deretan</a:t>
            </a:r>
            <a:r>
              <a:rPr lang="en-US" sz="1200" dirty="0"/>
              <a:t> </a:t>
            </a:r>
            <a:r>
              <a:rPr lang="en-US" sz="1200" dirty="0" err="1"/>
              <a:t>baris</a:t>
            </a:r>
            <a:r>
              <a:rPr lang="en-US" sz="1200" dirty="0"/>
              <a:t> </a:t>
            </a:r>
            <a:r>
              <a:rPr lang="en-US" sz="1200" dirty="0" err="1"/>
              <a:t>dinotasikan</a:t>
            </a:r>
            <a:r>
              <a:rPr lang="en-US" sz="1200" dirty="0"/>
              <a:t> 1 </a:t>
            </a:r>
            <a:r>
              <a:rPr lang="en-US" sz="1200" dirty="0" err="1"/>
              <a:t>sd</a:t>
            </a:r>
            <a:r>
              <a:rPr lang="en-US" sz="1200" dirty="0"/>
              <a:t> 65.536 (65.536 </a:t>
            </a:r>
            <a:r>
              <a:rPr lang="en-US" sz="1200" dirty="0" err="1"/>
              <a:t>baris</a:t>
            </a:r>
            <a:r>
              <a:rPr lang="en-US" sz="1200" dirty="0"/>
              <a:t>)</a:t>
            </a:r>
            <a:br>
              <a:rPr lang="en-US" sz="1200" dirty="0"/>
            </a:br>
            <a:r>
              <a:rPr lang="en-US" sz="1200" dirty="0"/>
              <a:t>5. Cell : </a:t>
            </a:r>
            <a:r>
              <a:rPr lang="en-US" sz="1200" dirty="0" err="1"/>
              <a:t>pertemuan</a:t>
            </a:r>
            <a:r>
              <a:rPr lang="en-US" sz="1200" dirty="0"/>
              <a:t> </a:t>
            </a:r>
            <a:r>
              <a:rPr lang="en-US" sz="1200" dirty="0" err="1"/>
              <a:t>baris</a:t>
            </a:r>
            <a:r>
              <a:rPr lang="en-US" sz="1200" dirty="0"/>
              <a:t> </a:t>
            </a:r>
            <a:r>
              <a:rPr lang="en-US" sz="1200" dirty="0" err="1"/>
              <a:t>dan</a:t>
            </a:r>
            <a:r>
              <a:rPr lang="en-US" sz="1200" dirty="0"/>
              <a:t> </a:t>
            </a:r>
            <a:r>
              <a:rPr lang="en-US" sz="1200" dirty="0" err="1"/>
              <a:t>kolom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6. Range : </a:t>
            </a:r>
            <a:r>
              <a:rPr lang="en-US" sz="1200" dirty="0" err="1"/>
              <a:t>sekumpulan</a:t>
            </a:r>
            <a:r>
              <a:rPr lang="en-US" sz="1200" dirty="0"/>
              <a:t> </a:t>
            </a:r>
            <a:r>
              <a:rPr lang="en-US" sz="1200" dirty="0" err="1"/>
              <a:t>sel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7. Active cell : </a:t>
            </a:r>
            <a:r>
              <a:rPr lang="en-US" sz="1200" dirty="0" err="1"/>
              <a:t>bagian</a:t>
            </a:r>
            <a:r>
              <a:rPr lang="en-US" sz="1200" dirty="0"/>
              <a:t> yang </a:t>
            </a:r>
            <a:r>
              <a:rPr lang="en-US" sz="1200" dirty="0" err="1"/>
              <a:t>ditunjukan</a:t>
            </a:r>
            <a:r>
              <a:rPr lang="en-US" sz="1200" dirty="0"/>
              <a:t> </a:t>
            </a:r>
            <a:r>
              <a:rPr lang="en-US" sz="1200" dirty="0" err="1"/>
              <a:t>oleh</a:t>
            </a:r>
            <a:r>
              <a:rPr lang="en-US" sz="1200" dirty="0"/>
              <a:t> </a:t>
            </a:r>
            <a:r>
              <a:rPr lang="en-US" sz="1200" dirty="0" err="1"/>
              <a:t>sel</a:t>
            </a:r>
            <a:r>
              <a:rPr lang="en-US" sz="1200" dirty="0"/>
              <a:t> </a:t>
            </a:r>
            <a:r>
              <a:rPr lang="en-US" sz="1200" dirty="0" smtClean="0"/>
              <a:t>pointer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Menu bar Word 2003 </a:t>
            </a:r>
            <a:r>
              <a:rPr lang="en-US" sz="1200" dirty="0" err="1"/>
              <a:t>terdiri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9 : file, edit, view, insert, format, tools, data, window, help</a:t>
            </a:r>
            <a:br>
              <a:rPr lang="en-US" sz="1200" dirty="0"/>
            </a:br>
            <a:r>
              <a:rPr lang="en-US" sz="1200" dirty="0"/>
              <a:t>Menu bar Word 2007 </a:t>
            </a:r>
            <a:r>
              <a:rPr lang="en-US" sz="1200" dirty="0" err="1"/>
              <a:t>terdiri</a:t>
            </a:r>
            <a:r>
              <a:rPr lang="en-US" sz="1200" dirty="0"/>
              <a:t> </a:t>
            </a:r>
            <a:r>
              <a:rPr lang="en-US" sz="1200" dirty="0" err="1"/>
              <a:t>dari</a:t>
            </a:r>
            <a:r>
              <a:rPr lang="en-US" sz="1200" dirty="0"/>
              <a:t> 7 : home, insert, page layout, formulas, data, review, view</a:t>
            </a:r>
            <a:br>
              <a:rPr lang="en-US" sz="1200" dirty="0"/>
            </a:b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</p:spTree>
    <p:extLst>
      <p:ext uri="{BB962C8B-B14F-4D97-AF65-F5344CB8AC3E}">
        <p14:creationId xmlns:p14="http://schemas.microsoft.com/office/powerpoint/2010/main" val="4217308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3"/>
          <p:cNvSpPr txBox="1">
            <a:spLocks noGrp="1"/>
          </p:cNvSpPr>
          <p:nvPr>
            <p:ph type="title"/>
          </p:nvPr>
        </p:nvSpPr>
        <p:spPr>
          <a:xfrm>
            <a:off x="1014367" y="361950"/>
            <a:ext cx="6979800" cy="33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M6</a:t>
            </a:r>
            <a:endParaRPr dirty="0"/>
          </a:p>
        </p:txBody>
      </p:sp>
      <p:sp>
        <p:nvSpPr>
          <p:cNvPr id="195" name="Google Shape;195;p33"/>
          <p:cNvSpPr txBox="1">
            <a:spLocks noGrp="1"/>
          </p:cNvSpPr>
          <p:nvPr>
            <p:ph type="sldNum" idx="12"/>
          </p:nvPr>
        </p:nvSpPr>
        <p:spPr>
          <a:xfrm>
            <a:off x="4297650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28" name="Google Shape;119;p23"/>
          <p:cNvSpPr txBox="1">
            <a:spLocks/>
          </p:cNvSpPr>
          <p:nvPr/>
        </p:nvSpPr>
        <p:spPr>
          <a:xfrm>
            <a:off x="770467" y="819150"/>
            <a:ext cx="7467600" cy="365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" b="1" dirty="0" smtClean="0"/>
              <a:t>Program Pengolah Angka</a:t>
            </a:r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r>
              <a:rPr lang="en-US" sz="1200" b="1" dirty="0" err="1"/>
              <a:t>Bagian</a:t>
            </a:r>
            <a:r>
              <a:rPr lang="en-US" sz="1200" b="1" dirty="0"/>
              <a:t> </a:t>
            </a:r>
            <a:r>
              <a:rPr lang="en-US" sz="1200" b="1" dirty="0" err="1"/>
              <a:t>penting</a:t>
            </a:r>
            <a:r>
              <a:rPr lang="en-US" sz="1200" b="1" dirty="0"/>
              <a:t> Microsoft Excel 2003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1. </a:t>
            </a:r>
            <a:r>
              <a:rPr lang="en-US" sz="1200" dirty="0" err="1"/>
              <a:t>Baris</a:t>
            </a:r>
            <a:r>
              <a:rPr lang="en-US" sz="1200" dirty="0"/>
              <a:t> </a:t>
            </a:r>
            <a:r>
              <a:rPr lang="en-US" sz="1200" dirty="0" err="1"/>
              <a:t>judul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2. </a:t>
            </a:r>
            <a:r>
              <a:rPr lang="en-US" sz="1200" dirty="0" err="1"/>
              <a:t>Baris</a:t>
            </a:r>
            <a:r>
              <a:rPr lang="en-US" sz="1200" dirty="0"/>
              <a:t> menu</a:t>
            </a:r>
            <a:br>
              <a:rPr lang="en-US" sz="1200" dirty="0"/>
            </a:br>
            <a:r>
              <a:rPr lang="en-US" sz="1200" dirty="0"/>
              <a:t>3. </a:t>
            </a:r>
            <a:r>
              <a:rPr lang="en-US" sz="1200" dirty="0" err="1"/>
              <a:t>Tombol</a:t>
            </a:r>
            <a:r>
              <a:rPr lang="en-US" sz="1200" dirty="0"/>
              <a:t> </a:t>
            </a:r>
            <a:r>
              <a:rPr lang="en-US" sz="1200" dirty="0" err="1"/>
              <a:t>ukuran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4. Toolbar</a:t>
            </a:r>
            <a:br>
              <a:rPr lang="en-US" sz="1200" dirty="0"/>
            </a:br>
            <a:r>
              <a:rPr lang="en-US" sz="1200" dirty="0"/>
              <a:t>5. </a:t>
            </a:r>
            <a:r>
              <a:rPr lang="en-US" sz="1200" dirty="0" err="1"/>
              <a:t>Alamat</a:t>
            </a:r>
            <a:r>
              <a:rPr lang="en-US" sz="1200" dirty="0"/>
              <a:t> </a:t>
            </a:r>
            <a:r>
              <a:rPr lang="en-US" sz="1200" dirty="0" err="1"/>
              <a:t>sel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6. </a:t>
            </a:r>
            <a:r>
              <a:rPr lang="en-US" sz="1200" dirty="0" err="1"/>
              <a:t>Baris</a:t>
            </a:r>
            <a:r>
              <a:rPr lang="en-US" sz="1200" dirty="0"/>
              <a:t> formula</a:t>
            </a:r>
            <a:br>
              <a:rPr lang="en-US" sz="1200" dirty="0"/>
            </a:br>
            <a:r>
              <a:rPr lang="en-US" sz="1200" dirty="0"/>
              <a:t>7. </a:t>
            </a:r>
            <a:r>
              <a:rPr lang="en-US" sz="1200" dirty="0" err="1"/>
              <a:t>Judul</a:t>
            </a:r>
            <a:r>
              <a:rPr lang="en-US" sz="1200" dirty="0"/>
              <a:t> </a:t>
            </a:r>
            <a:r>
              <a:rPr lang="en-US" sz="1200" dirty="0" err="1"/>
              <a:t>kolom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8. </a:t>
            </a:r>
            <a:r>
              <a:rPr lang="en-US" sz="1200" dirty="0" err="1"/>
              <a:t>Judul</a:t>
            </a:r>
            <a:r>
              <a:rPr lang="en-US" sz="1200" dirty="0"/>
              <a:t> </a:t>
            </a:r>
            <a:r>
              <a:rPr lang="en-US" sz="1200" dirty="0" err="1"/>
              <a:t>baris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9. </a:t>
            </a:r>
            <a:r>
              <a:rPr lang="en-US" sz="1200" dirty="0" err="1"/>
              <a:t>Sel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10. </a:t>
            </a:r>
            <a:r>
              <a:rPr lang="en-US" sz="1200" dirty="0" err="1"/>
              <a:t>Tabulasi</a:t>
            </a:r>
            <a:r>
              <a:rPr lang="en-US" sz="1200" dirty="0"/>
              <a:t> sheet</a:t>
            </a:r>
            <a:br>
              <a:rPr lang="en-US" sz="1200" dirty="0"/>
            </a:br>
            <a:r>
              <a:rPr lang="en-US" sz="1200" dirty="0"/>
              <a:t>11. </a:t>
            </a:r>
            <a:r>
              <a:rPr lang="en-US" sz="1200" dirty="0" err="1"/>
              <a:t>Penggulung</a:t>
            </a:r>
            <a:r>
              <a:rPr lang="en-US" sz="1200" dirty="0"/>
              <a:t> vertical </a:t>
            </a:r>
            <a:r>
              <a:rPr lang="en-US" sz="1200" dirty="0" err="1"/>
              <a:t>dan</a:t>
            </a:r>
            <a:r>
              <a:rPr lang="en-US" sz="1200" dirty="0"/>
              <a:t> horizontal</a:t>
            </a:r>
            <a:br>
              <a:rPr lang="en-US" sz="1200" dirty="0"/>
            </a:br>
            <a:r>
              <a:rPr lang="en-US" sz="1200" dirty="0"/>
              <a:t>12. Task pane</a:t>
            </a:r>
            <a:br>
              <a:rPr lang="en-US" sz="1200" dirty="0"/>
            </a:br>
            <a:endParaRPr lang="en" sz="1200" b="1" dirty="0" smtClean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sz="1200" b="1" dirty="0"/>
          </a:p>
          <a:p>
            <a:pPr>
              <a:spcBef>
                <a:spcPts val="600"/>
              </a:spcBef>
              <a:buClr>
                <a:schemeClr val="dk1"/>
              </a:buClr>
              <a:buSzPts val="1100"/>
            </a:pPr>
            <a:endParaRPr lang="en" b="1" dirty="0" smtClean="0"/>
          </a:p>
        </p:txBody>
      </p:sp>
      <p:sp>
        <p:nvSpPr>
          <p:cNvPr id="5" name="Google Shape;265;p38"/>
          <p:cNvSpPr txBox="1"/>
          <p:nvPr/>
        </p:nvSpPr>
        <p:spPr>
          <a:xfrm>
            <a:off x="4953000" y="1200150"/>
            <a:ext cx="3124200" cy="26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1200" b="1" dirty="0" err="1"/>
              <a:t>Rumus</a:t>
            </a:r>
            <a:r>
              <a:rPr lang="en-US" sz="1200" b="1" dirty="0"/>
              <a:t> yang </a:t>
            </a:r>
            <a:r>
              <a:rPr lang="en-US" sz="1200" b="1" dirty="0" err="1"/>
              <a:t>digunakan</a:t>
            </a:r>
            <a:r>
              <a:rPr lang="en-US" sz="1200" b="1" dirty="0"/>
              <a:t> </a:t>
            </a:r>
            <a:r>
              <a:rPr lang="en-US" sz="1200" b="1" dirty="0" err="1"/>
              <a:t>dalam</a:t>
            </a:r>
            <a:r>
              <a:rPr lang="en-US" sz="1200" b="1" dirty="0"/>
              <a:t> Excel</a:t>
            </a:r>
            <a:r>
              <a:rPr lang="en-US" sz="1200" dirty="0"/>
              <a:t/>
            </a:r>
            <a:br>
              <a:rPr lang="en-US" sz="1200" dirty="0"/>
            </a:br>
            <a:r>
              <a:rPr lang="en-US" sz="1200" dirty="0"/>
              <a:t>SUM : </a:t>
            </a:r>
            <a:r>
              <a:rPr lang="en-US" sz="1200" dirty="0" err="1"/>
              <a:t>menjumlah</a:t>
            </a:r>
            <a:r>
              <a:rPr lang="en-US" sz="1200" dirty="0"/>
              <a:t> data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suatu</a:t>
            </a:r>
            <a:r>
              <a:rPr lang="en-US" sz="1200" dirty="0"/>
              <a:t> range</a:t>
            </a:r>
            <a:br>
              <a:rPr lang="en-US" sz="1200" dirty="0"/>
            </a:br>
            <a:r>
              <a:rPr lang="en-US" sz="1200" dirty="0"/>
              <a:t>AVERAGE : </a:t>
            </a:r>
            <a:r>
              <a:rPr lang="en-US" sz="1200" dirty="0" err="1"/>
              <a:t>menghitung</a:t>
            </a:r>
            <a:r>
              <a:rPr lang="en-US" sz="1200" dirty="0"/>
              <a:t> rata-rata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suatu</a:t>
            </a:r>
            <a:r>
              <a:rPr lang="en-US" sz="1200" dirty="0"/>
              <a:t> range</a:t>
            </a:r>
            <a:br>
              <a:rPr lang="en-US" sz="1200" dirty="0"/>
            </a:br>
            <a:r>
              <a:rPr lang="en-US" sz="1200" dirty="0"/>
              <a:t>MAX : </a:t>
            </a:r>
            <a:r>
              <a:rPr lang="en-US" sz="1200" dirty="0" err="1"/>
              <a:t>mencari</a:t>
            </a:r>
            <a:r>
              <a:rPr lang="en-US" sz="1200" dirty="0"/>
              <a:t> </a:t>
            </a:r>
            <a:r>
              <a:rPr lang="en-US" sz="1200" dirty="0" err="1"/>
              <a:t>nilai</a:t>
            </a:r>
            <a:r>
              <a:rPr lang="en-US" sz="1200" dirty="0"/>
              <a:t> </a:t>
            </a:r>
            <a:r>
              <a:rPr lang="en-US" sz="1200" dirty="0" err="1"/>
              <a:t>tertinggi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suatu</a:t>
            </a:r>
            <a:r>
              <a:rPr lang="en-US" sz="1200" dirty="0"/>
              <a:t> range</a:t>
            </a:r>
            <a:br>
              <a:rPr lang="en-US" sz="1200" dirty="0"/>
            </a:br>
            <a:r>
              <a:rPr lang="en-US" sz="1200" dirty="0"/>
              <a:t>MIN : </a:t>
            </a:r>
            <a:r>
              <a:rPr lang="en-US" sz="1200" dirty="0" err="1"/>
              <a:t>mencari</a:t>
            </a:r>
            <a:r>
              <a:rPr lang="en-US" sz="1200" dirty="0"/>
              <a:t> </a:t>
            </a:r>
            <a:r>
              <a:rPr lang="en-US" sz="1200" dirty="0" err="1"/>
              <a:t>nilai</a:t>
            </a:r>
            <a:r>
              <a:rPr lang="en-US" sz="1200" dirty="0"/>
              <a:t> </a:t>
            </a:r>
            <a:r>
              <a:rPr lang="en-US" sz="1200" dirty="0" err="1"/>
              <a:t>terendah</a:t>
            </a:r>
            <a:r>
              <a:rPr lang="en-US" sz="1200" dirty="0"/>
              <a:t>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suatu</a:t>
            </a:r>
            <a:r>
              <a:rPr lang="en-US" sz="1200" dirty="0"/>
              <a:t> range</a:t>
            </a:r>
            <a:br>
              <a:rPr lang="en-US" sz="1200" dirty="0"/>
            </a:br>
            <a:r>
              <a:rPr lang="en-US" sz="1200" dirty="0"/>
              <a:t>COUNT : </a:t>
            </a:r>
            <a:r>
              <a:rPr lang="en-US" sz="1200" dirty="0" err="1"/>
              <a:t>menghitung</a:t>
            </a:r>
            <a:r>
              <a:rPr lang="en-US" sz="1200" dirty="0"/>
              <a:t> </a:t>
            </a:r>
            <a:r>
              <a:rPr lang="en-US" sz="1200" dirty="0" err="1"/>
              <a:t>banyaknya</a:t>
            </a:r>
            <a:r>
              <a:rPr lang="en-US" sz="1200" dirty="0"/>
              <a:t> data </a:t>
            </a:r>
            <a:r>
              <a:rPr lang="en-US" sz="1200" dirty="0" err="1"/>
              <a:t>pada</a:t>
            </a:r>
            <a:r>
              <a:rPr lang="en-US" sz="1200" dirty="0"/>
              <a:t> </a:t>
            </a:r>
            <a:r>
              <a:rPr lang="en-US" sz="1200" dirty="0" err="1"/>
              <a:t>suatu</a:t>
            </a:r>
            <a:r>
              <a:rPr lang="en-US" sz="1200" dirty="0"/>
              <a:t> range</a:t>
            </a:r>
            <a:br>
              <a:rPr lang="en-US" sz="1200" dirty="0"/>
            </a:br>
            <a:r>
              <a:rPr lang="en" sz="800" dirty="0" smtClean="0">
                <a:solidFill>
                  <a:schemeClr val="dk1"/>
                </a:solidFill>
                <a:latin typeface="Bellota Text"/>
                <a:ea typeface="Bellota Text"/>
                <a:cs typeface="Bellota Text"/>
                <a:sym typeface="Bellota Text"/>
              </a:rPr>
              <a:t>.</a:t>
            </a:r>
            <a:endParaRPr sz="800" b="1" dirty="0">
              <a:solidFill>
                <a:schemeClr val="dk1"/>
              </a:solidFill>
              <a:latin typeface="Bellota Text"/>
              <a:ea typeface="Bellota Text"/>
              <a:cs typeface="Bellota Text"/>
              <a:sym typeface="Bellota Text"/>
            </a:endParaRPr>
          </a:p>
        </p:txBody>
      </p:sp>
    </p:spTree>
    <p:extLst>
      <p:ext uri="{BB962C8B-B14F-4D97-AF65-F5344CB8AC3E}">
        <p14:creationId xmlns:p14="http://schemas.microsoft.com/office/powerpoint/2010/main" val="3890145707"/>
      </p:ext>
    </p:extLst>
  </p:cSld>
  <p:clrMapOvr>
    <a:masterClrMapping/>
  </p:clrMapOvr>
</p:sld>
</file>

<file path=ppt/theme/theme1.xml><?xml version="1.0" encoding="utf-8"?>
<a:theme xmlns:a="http://schemas.openxmlformats.org/drawingml/2006/main" name="Bagot template">
  <a:themeElements>
    <a:clrScheme name="Custom 347">
      <a:dk1>
        <a:srgbClr val="143C55"/>
      </a:dk1>
      <a:lt1>
        <a:srgbClr val="FFFFFF"/>
      </a:lt1>
      <a:dk2>
        <a:srgbClr val="748C9C"/>
      </a:dk2>
      <a:lt2>
        <a:srgbClr val="F7F9EA"/>
      </a:lt2>
      <a:accent1>
        <a:srgbClr val="FEAB19"/>
      </a:accent1>
      <a:accent2>
        <a:srgbClr val="85CE5B"/>
      </a:accent2>
      <a:accent3>
        <a:srgbClr val="65C5DB"/>
      </a:accent3>
      <a:accent4>
        <a:srgbClr val="7D7FD0"/>
      </a:accent4>
      <a:accent5>
        <a:srgbClr val="FA7F99"/>
      </a:accent5>
      <a:accent6>
        <a:srgbClr val="FF4E45"/>
      </a:accent6>
      <a:hlink>
        <a:srgbClr val="265775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102</Words>
  <Application>Microsoft Office PowerPoint</Application>
  <PresentationFormat>On-screen Show (16:9)</PresentationFormat>
  <Paragraphs>46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Bellota Text</vt:lpstr>
      <vt:lpstr>Bellota Text Light</vt:lpstr>
      <vt:lpstr>Catamaran ExtraBold</vt:lpstr>
      <vt:lpstr>Catamaran</vt:lpstr>
      <vt:lpstr>Bagot template</vt:lpstr>
      <vt:lpstr>TIK   SMP Kelas 8</vt:lpstr>
      <vt:lpstr>M1</vt:lpstr>
      <vt:lpstr>M2</vt:lpstr>
      <vt:lpstr>M2</vt:lpstr>
      <vt:lpstr>M3</vt:lpstr>
      <vt:lpstr>M4</vt:lpstr>
      <vt:lpstr>M4</vt:lpstr>
      <vt:lpstr>M5</vt:lpstr>
      <vt:lpstr>M6</vt:lpstr>
      <vt:lpstr>M6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Matematika  SD Kelas 5</dc:title>
  <dc:creator>ASUS</dc:creator>
  <cp:lastModifiedBy>ismail - [2010]</cp:lastModifiedBy>
  <cp:revision>9</cp:revision>
  <dcterms:modified xsi:type="dcterms:W3CDTF">2020-07-16T07:24:49Z</dcterms:modified>
</cp:coreProperties>
</file>