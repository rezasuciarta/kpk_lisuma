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8" r:id="rId1"/>
  </p:sldMasterIdLst>
  <p:notesMasterIdLst>
    <p:notesMasterId r:id="rId29"/>
  </p:notesMasterIdLst>
  <p:sldIdLst>
    <p:sldId id="259" r:id="rId2"/>
    <p:sldId id="267" r:id="rId3"/>
    <p:sldId id="285" r:id="rId4"/>
    <p:sldId id="294" r:id="rId5"/>
    <p:sldId id="295" r:id="rId6"/>
    <p:sldId id="296" r:id="rId7"/>
    <p:sldId id="297" r:id="rId8"/>
    <p:sldId id="306" r:id="rId9"/>
    <p:sldId id="298" r:id="rId10"/>
    <p:sldId id="299" r:id="rId11"/>
    <p:sldId id="300" r:id="rId12"/>
    <p:sldId id="286" r:id="rId13"/>
    <p:sldId id="287" r:id="rId14"/>
    <p:sldId id="301" r:id="rId15"/>
    <p:sldId id="307" r:id="rId16"/>
    <p:sldId id="302" r:id="rId17"/>
    <p:sldId id="303" r:id="rId18"/>
    <p:sldId id="304" r:id="rId19"/>
    <p:sldId id="288" r:id="rId20"/>
    <p:sldId id="289" r:id="rId21"/>
    <p:sldId id="305" r:id="rId22"/>
    <p:sldId id="290" r:id="rId23"/>
    <p:sldId id="291" r:id="rId24"/>
    <p:sldId id="308" r:id="rId25"/>
    <p:sldId id="309" r:id="rId26"/>
    <p:sldId id="310" r:id="rId27"/>
    <p:sldId id="311" r:id="rId28"/>
  </p:sldIdLst>
  <p:sldSz cx="9144000" cy="5143500" type="screen16x9"/>
  <p:notesSz cx="6858000" cy="9144000"/>
  <p:embeddedFontLst>
    <p:embeddedFont>
      <p:font typeface="Bellota Text Light" charset="0"/>
      <p:regular r:id="rId30"/>
      <p:bold r:id="rId31"/>
      <p:italic r:id="rId32"/>
      <p:boldItalic r:id="rId33"/>
    </p:embeddedFont>
    <p:embeddedFont>
      <p:font typeface="Catamaran ExtraBold" charset="0"/>
      <p:bold r:id="rId34"/>
    </p:embeddedFont>
    <p:embeddedFont>
      <p:font typeface="Catamaran" charset="0"/>
      <p:regular r:id="rId35"/>
      <p:bold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182B24A4-CE14-4CFF-B1E5-92728488463D}">
  <a:tblStyle styleId="{182B24A4-CE14-4CFF-B1E5-92728488463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2" d="100"/>
          <a:sy n="62" d="100"/>
        </p:scale>
        <p:origin x="-72" y="-49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01437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solidFill>
          <a:schemeClr val="dk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1630650" y="1333450"/>
            <a:ext cx="5882700" cy="24765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285750" algn="bl" rotWithShape="0">
              <a:srgbClr val="00131F">
                <a:alpha val="7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1927850" y="1583350"/>
            <a:ext cx="52884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927850" y="2840054"/>
            <a:ext cx="528840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Tyrannosaurus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" name="Google Shape;5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479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Plesiosaur">
  <p:cSld name="TITLE_ONLY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" name="Google Shape;6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8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Pterodactyl">
  <p:cSld name="TITLE_ONLY_1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7" name="Google Shape;6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Diplodocus">
  <p:cSld name="TITLE_ONLY_1_1_1_1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" name="Google Shape;8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82050" y="1127750"/>
            <a:ext cx="69798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82050" y="1633651"/>
            <a:ext cx="6979800" cy="23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1pPr>
            <a:lvl2pPr marL="914400" lvl="1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2pPr>
            <a:lvl3pPr marL="1371600" lvl="2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3pPr>
            <a:lvl4pPr marL="1828800" lvl="3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4pPr>
            <a:lvl5pPr marL="2286000" lvl="4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5pPr>
            <a:lvl6pPr marL="2743200" lvl="5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6pPr>
            <a:lvl7pPr marL="3200400" lvl="6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7pPr>
            <a:lvl8pPr marL="3657600" lvl="7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8pPr>
            <a:lvl9pPr marL="4114800" lvl="8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lvl="2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lvl="3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lvl="4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lvl="5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lvl="6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lvl="7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lvl="8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6" r:id="rId3"/>
    <p:sldLayoutId id="2147483657" r:id="rId4"/>
    <p:sldLayoutId id="2147483660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>
            <a:spLocks noGrp="1"/>
          </p:cNvSpPr>
          <p:nvPr>
            <p:ph type="ctrTitle"/>
          </p:nvPr>
        </p:nvSpPr>
        <p:spPr>
          <a:xfrm>
            <a:off x="1905000" y="1962150"/>
            <a:ext cx="52884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 smtClean="0"/>
              <a:t>Matematika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SD </a:t>
            </a:r>
            <a:r>
              <a:rPr lang="en-US" dirty="0" err="1" smtClean="0"/>
              <a:t>Kelas</a:t>
            </a:r>
            <a:r>
              <a:rPr lang="en-US" dirty="0" smtClean="0"/>
              <a:t> 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5" name="Google Shape;194;p33"/>
          <p:cNvSpPr txBox="1">
            <a:spLocks/>
          </p:cNvSpPr>
          <p:nvPr/>
        </p:nvSpPr>
        <p:spPr>
          <a:xfrm>
            <a:off x="990600" y="1885950"/>
            <a:ext cx="69798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 b="0" i="0" u="none" strike="noStrike" cap="none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 b="0" i="0" u="none" strike="noStrike" cap="none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 b="0" i="0" u="none" strike="noStrike" cap="none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 b="0" i="0" u="none" strike="noStrike" cap="none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 b="0" i="0" u="none" strike="noStrike" cap="none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 b="0" i="0" u="none" strike="noStrike" cap="none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 b="0" i="0" u="none" strike="noStrike" cap="none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 b="0" i="0" u="none" strike="noStrike" cap="none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 b="0" i="0" u="none" strike="noStrike" cap="none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r>
              <a:rPr lang="en-US" sz="3200" dirty="0" smtClean="0"/>
              <a:t>M1</a:t>
            </a:r>
          </a:p>
          <a:p>
            <a:r>
              <a:rPr lang="en-US" sz="3200" dirty="0" smtClean="0"/>
              <a:t>BILANGAN</a:t>
            </a:r>
            <a:endParaRPr lang="en-US" sz="32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M1 Bilangan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BILANGAN </a:t>
            </a:r>
            <a:endParaRPr lang="en" b="1" dirty="0" smtClean="0"/>
          </a:p>
          <a:p>
            <a:pPr algn="ctr">
              <a:buClr>
                <a:schemeClr val="dk1"/>
              </a:buClr>
              <a:buSzPts val="1100"/>
            </a:pPr>
            <a:endParaRPr lang="en" sz="1200" dirty="0" smtClean="0"/>
          </a:p>
          <a:p>
            <a:pPr marL="228600" indent="-2286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" sz="1200" b="1" dirty="0" smtClean="0"/>
              <a:t>Operasi Penjumlahan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smtClean="0"/>
              <a:t>- T</a:t>
            </a:r>
            <a:r>
              <a:rPr lang="en" sz="1200" b="1" dirty="0" smtClean="0"/>
              <a:t>ipe bersusun panjang			       - Tipe bersusun pendek 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/>
              <a:t> </a:t>
            </a:r>
            <a:r>
              <a:rPr lang="en-US" sz="1200" b="1" dirty="0" smtClean="0"/>
              <a:t>    C</a:t>
            </a:r>
            <a:r>
              <a:rPr lang="en" sz="1200" b="1" dirty="0" smtClean="0"/>
              <a:t>ontoh : 50.978 + 42.603 = ….		</a:t>
            </a:r>
            <a:r>
              <a:rPr lang="en" sz="1200" b="1" dirty="0"/>
              <a:t> </a:t>
            </a:r>
            <a:r>
              <a:rPr lang="en" sz="1200" b="1" dirty="0" smtClean="0"/>
              <a:t>         </a:t>
            </a:r>
            <a:r>
              <a:rPr lang="en-US" sz="1200" b="1" dirty="0" smtClean="0"/>
              <a:t>C</a:t>
            </a:r>
            <a:r>
              <a:rPr lang="en" sz="1200" b="1" dirty="0"/>
              <a:t>ontoh : 50.978 + 42.603 = ….</a:t>
            </a: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      Penyelesaian :			</a:t>
            </a:r>
            <a:r>
              <a:rPr lang="en" sz="1200" b="1" dirty="0"/>
              <a:t> </a:t>
            </a:r>
            <a:r>
              <a:rPr lang="en" sz="1200" b="1" dirty="0" smtClean="0"/>
              <a:t>          Penyelesaian </a:t>
            </a:r>
            <a:r>
              <a:rPr lang="en" sz="1200" b="1" dirty="0"/>
              <a:t>:</a:t>
            </a: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/>
              <a:t>	</a:t>
            </a:r>
            <a:r>
              <a:rPr lang="en" sz="1200" b="1" dirty="0" smtClean="0"/>
              <a:t> 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				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868" y="2495550"/>
            <a:ext cx="35814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647950"/>
            <a:ext cx="3076575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37147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M1 Bilangan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BILANGAN </a:t>
            </a:r>
            <a:endParaRPr lang="en" b="1" dirty="0" smtClean="0"/>
          </a:p>
          <a:p>
            <a:pPr algn="ctr">
              <a:buClr>
                <a:schemeClr val="dk1"/>
              </a:buClr>
              <a:buSzPts val="1100"/>
            </a:pPr>
            <a:endParaRPr lang="en" sz="1200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2. Operasi Pengurangan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smtClean="0"/>
              <a:t>- T</a:t>
            </a:r>
            <a:r>
              <a:rPr lang="en" sz="1200" b="1" dirty="0" smtClean="0"/>
              <a:t>ipe bersusun panjang			       - Tipe bersusun pendek 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/>
              <a:t> </a:t>
            </a:r>
            <a:r>
              <a:rPr lang="en-US" sz="1200" b="1" dirty="0" smtClean="0"/>
              <a:t>    C</a:t>
            </a:r>
            <a:r>
              <a:rPr lang="en" sz="1200" b="1" dirty="0" smtClean="0"/>
              <a:t>ontoh : 80.371 - 42.603= ….		</a:t>
            </a:r>
            <a:r>
              <a:rPr lang="en" sz="1200" b="1" dirty="0"/>
              <a:t> </a:t>
            </a:r>
            <a:r>
              <a:rPr lang="en" sz="1200" b="1" dirty="0" smtClean="0"/>
              <a:t>         </a:t>
            </a:r>
            <a:r>
              <a:rPr lang="en-US" sz="1200" b="1" dirty="0" smtClean="0"/>
              <a:t>C</a:t>
            </a:r>
            <a:r>
              <a:rPr lang="en" sz="1200" b="1" dirty="0"/>
              <a:t>ontoh : 80.371 - 42.603</a:t>
            </a:r>
            <a:r>
              <a:rPr lang="en" sz="1200" b="1" dirty="0" smtClean="0"/>
              <a:t>=…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      Penyelesaian :			</a:t>
            </a:r>
            <a:r>
              <a:rPr lang="en" sz="1200" b="1" dirty="0"/>
              <a:t> </a:t>
            </a:r>
            <a:r>
              <a:rPr lang="en" sz="1200" b="1" dirty="0" smtClean="0"/>
              <a:t>          Penyelesaian </a:t>
            </a:r>
            <a:r>
              <a:rPr lang="en" sz="1200" b="1" dirty="0"/>
              <a:t>:</a:t>
            </a: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/>
              <a:t>	</a:t>
            </a:r>
            <a:r>
              <a:rPr lang="en" sz="1200" b="1" dirty="0" smtClean="0"/>
              <a:t> 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				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571750"/>
            <a:ext cx="3277644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647950"/>
            <a:ext cx="2886075" cy="70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3330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M1 Bilangan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BILANGAN </a:t>
            </a:r>
            <a:endParaRPr lang="en" b="1" dirty="0" smtClean="0"/>
          </a:p>
          <a:p>
            <a:pPr algn="ctr">
              <a:buClr>
                <a:schemeClr val="dk1"/>
              </a:buClr>
              <a:buSzPts val="1100"/>
            </a:pPr>
            <a:endParaRPr lang="en" sz="1200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/>
              <a:t>3</a:t>
            </a:r>
            <a:r>
              <a:rPr lang="en" sz="1200" b="1" dirty="0" smtClean="0"/>
              <a:t>. Operasi Perkalian</a:t>
            </a:r>
          </a:p>
          <a:p>
            <a:pPr marL="171450" indent="-171450">
              <a:spcBef>
                <a:spcPts val="600"/>
              </a:spcBef>
              <a:buClr>
                <a:schemeClr val="dk1"/>
              </a:buClr>
              <a:buSzPts val="1100"/>
              <a:buFontTx/>
              <a:buChar char="-"/>
            </a:pPr>
            <a:r>
              <a:rPr lang="en-US" sz="1200" b="1" dirty="0" err="1" smtClean="0"/>
              <a:t>Perkalian</a:t>
            </a:r>
            <a:r>
              <a:rPr lang="en-US" sz="1200" b="1" dirty="0" smtClean="0"/>
              <a:t> 1 </a:t>
            </a:r>
            <a:r>
              <a:rPr lang="en-US" sz="1200" b="1" dirty="0" err="1" smtClean="0"/>
              <a:t>angka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dengan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kelipatan</a:t>
            </a:r>
            <a:r>
              <a:rPr lang="en-US" sz="1200" b="1" dirty="0" smtClean="0"/>
              <a:t> 10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smtClean="0"/>
              <a:t>     </a:t>
            </a:r>
            <a:r>
              <a:rPr lang="en-US" sz="1200" b="1" dirty="0" err="1" smtClean="0"/>
              <a:t>Bilangan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kelipatan</a:t>
            </a:r>
            <a:r>
              <a:rPr lang="en-US" sz="1200" b="1" dirty="0" smtClean="0"/>
              <a:t> 10 </a:t>
            </a:r>
            <a:r>
              <a:rPr lang="en-US" sz="1200" b="1" dirty="0" err="1" smtClean="0"/>
              <a:t>antara</a:t>
            </a:r>
            <a:r>
              <a:rPr lang="en-US" sz="1200" b="1" dirty="0" smtClean="0"/>
              <a:t> lain 10, 20, 30, 40, 50, 60, 70, 80,….. 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/>
              <a:t> </a:t>
            </a:r>
            <a:r>
              <a:rPr lang="en-US" sz="1200" b="1" dirty="0" smtClean="0"/>
              <a:t>     </a:t>
            </a:r>
            <a:r>
              <a:rPr lang="en-US" sz="1200" b="1" dirty="0" err="1" smtClean="0"/>
              <a:t>Contoh</a:t>
            </a:r>
            <a:r>
              <a:rPr lang="en-US" sz="1200" b="1" dirty="0" smtClean="0"/>
              <a:t>: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smtClean="0"/>
              <a:t>	6 x 60 = 360 		9 x 300 = 2700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-US" sz="1200" b="1" dirty="0" smtClean="0"/>
          </a:p>
          <a:p>
            <a:pPr marL="171450" indent="-171450">
              <a:spcBef>
                <a:spcPts val="600"/>
              </a:spcBef>
              <a:buClr>
                <a:schemeClr val="dk1"/>
              </a:buClr>
              <a:buSzPts val="1100"/>
              <a:buFontTx/>
              <a:buChar char="-"/>
            </a:pPr>
            <a:r>
              <a:rPr lang="en-US" sz="1200" b="1" dirty="0" err="1" smtClean="0"/>
              <a:t>Perkalian</a:t>
            </a:r>
            <a:r>
              <a:rPr lang="en-US" sz="1200" b="1" dirty="0" smtClean="0"/>
              <a:t> 1 </a:t>
            </a:r>
            <a:r>
              <a:rPr lang="en-US" sz="1200" b="1" dirty="0" err="1" smtClean="0"/>
              <a:t>angka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dengan</a:t>
            </a:r>
            <a:r>
              <a:rPr lang="en-US" sz="1200" b="1" dirty="0" smtClean="0"/>
              <a:t> 2 </a:t>
            </a:r>
            <a:r>
              <a:rPr lang="en-US" sz="1200" b="1" dirty="0" err="1" smtClean="0"/>
              <a:t>angka</a:t>
            </a:r>
            <a:r>
              <a:rPr lang="en" sz="1200" b="1" dirty="0" smtClean="0"/>
              <a:t>	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/>
              <a:t> </a:t>
            </a:r>
            <a:r>
              <a:rPr lang="en" sz="1200" b="1" dirty="0" smtClean="0"/>
              <a:t>   Contoh : 4 x 38 = 152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 marL="171450" indent="-171450">
              <a:spcBef>
                <a:spcPts val="600"/>
              </a:spcBef>
              <a:buClr>
                <a:schemeClr val="dk1"/>
              </a:buClr>
              <a:buSzPts val="1100"/>
              <a:buFontTx/>
              <a:buChar char="-"/>
            </a:pPr>
            <a:r>
              <a:rPr lang="en" sz="1200" b="1" dirty="0" smtClean="0"/>
              <a:t>Perkalian 1 angka dengan 3 angka atau lebih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/>
              <a:t> </a:t>
            </a:r>
            <a:r>
              <a:rPr lang="en" sz="1200" b="1" dirty="0" smtClean="0"/>
              <a:t>   Contoh : 4 x 238 = 952	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                    8 x 2.378 = 19.024	</a:t>
            </a: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				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4170915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M1 Bilangan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BILANGAN </a:t>
            </a:r>
            <a:endParaRPr lang="en" b="1" dirty="0" smtClean="0"/>
          </a:p>
          <a:p>
            <a:pPr algn="ctr">
              <a:buClr>
                <a:schemeClr val="dk1"/>
              </a:buClr>
              <a:buSzPts val="1100"/>
            </a:pPr>
            <a:endParaRPr lang="en" sz="1200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4. Operasi Pembagian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	</a:t>
            </a: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				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Contoh : </a:t>
            </a: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657350"/>
            <a:ext cx="2570544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918460"/>
            <a:ext cx="1066800" cy="14268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8215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M1 Bilangan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BILANGAN </a:t>
            </a:r>
            <a:endParaRPr lang="en" b="1" dirty="0" smtClean="0"/>
          </a:p>
          <a:p>
            <a:pPr algn="ctr">
              <a:buClr>
                <a:schemeClr val="dk1"/>
              </a:buClr>
              <a:buSzPts val="1100"/>
            </a:pPr>
            <a:endParaRPr lang="en" sz="1200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/>
              <a:t>5</a:t>
            </a:r>
            <a:r>
              <a:rPr lang="en" sz="1200" b="1" dirty="0" smtClean="0"/>
              <a:t>. Operasi Campuran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/>
              <a:t> </a:t>
            </a:r>
            <a:r>
              <a:rPr lang="en" sz="1200" b="1" dirty="0" smtClean="0"/>
              <a:t>    Pada operasi campuran, bilangan yang berada di dalam tanda kurung pengerjaannya didahulukan. Jika pada operasi tersebut tidak terdapat tanda kurung, pengerjannya dilakukan mengikuti aturan berikut ini :</a:t>
            </a:r>
          </a:p>
          <a:p>
            <a:pPr marL="228600" indent="-228600">
              <a:spcBef>
                <a:spcPts val="600"/>
              </a:spcBef>
              <a:buClr>
                <a:schemeClr val="dk1"/>
              </a:buClr>
              <a:buSzPts val="1100"/>
              <a:buAutoNum type="alphaLcPeriod"/>
            </a:pPr>
            <a:r>
              <a:rPr lang="en-US" sz="1200" b="1" dirty="0" smtClean="0"/>
              <a:t>P</a:t>
            </a:r>
            <a:r>
              <a:rPr lang="en" sz="1200" b="1" dirty="0" smtClean="0"/>
              <a:t>erkalian dan pembagian dikerjakan lebih dahulu daripada penjumlahan dan pengurangan.</a:t>
            </a:r>
          </a:p>
          <a:p>
            <a:pPr marL="228600" indent="-228600">
              <a:spcBef>
                <a:spcPts val="600"/>
              </a:spcBef>
              <a:buClr>
                <a:schemeClr val="dk1"/>
              </a:buClr>
              <a:buSzPts val="1100"/>
              <a:buAutoNum type="alphaLcPeriod"/>
            </a:pPr>
            <a:r>
              <a:rPr lang="en" sz="1200" b="1" dirty="0" smtClean="0"/>
              <a:t>Urutan pengerjaan sesuai dengan urutan soal.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Contoh : 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2 x 4 x (10 - 6) + (3 x 6) : 2 = ….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/>
              <a:t> </a:t>
            </a:r>
            <a:r>
              <a:rPr lang="en" sz="1200" b="1" dirty="0" smtClean="0"/>
              <a:t>   8    x       4     +    18    : 2 =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/>
              <a:t> </a:t>
            </a:r>
            <a:r>
              <a:rPr lang="en" sz="1200" b="1" dirty="0" smtClean="0"/>
              <a:t>          24            +          9     = 33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	</a:t>
            </a: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				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673874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5" name="Google Shape;194;p33"/>
          <p:cNvSpPr txBox="1">
            <a:spLocks/>
          </p:cNvSpPr>
          <p:nvPr/>
        </p:nvSpPr>
        <p:spPr>
          <a:xfrm>
            <a:off x="990600" y="1885950"/>
            <a:ext cx="69798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 b="0" i="0" u="none" strike="noStrike" cap="none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 b="0" i="0" u="none" strike="noStrike" cap="none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 b="0" i="0" u="none" strike="noStrike" cap="none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 b="0" i="0" u="none" strike="noStrike" cap="none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 b="0" i="0" u="none" strike="noStrike" cap="none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 b="0" i="0" u="none" strike="noStrike" cap="none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 b="0" i="0" u="none" strike="noStrike" cap="none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 b="0" i="0" u="none" strike="noStrike" cap="none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 b="0" i="0" u="none" strike="noStrike" cap="none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r>
              <a:rPr lang="en-US" sz="3200" dirty="0" smtClean="0"/>
              <a:t>M2</a:t>
            </a:r>
          </a:p>
          <a:p>
            <a:r>
              <a:rPr lang="en-US" sz="3200" dirty="0" smtClean="0"/>
              <a:t>SATUAN UKUR</a:t>
            </a:r>
            <a:endParaRPr lang="en-US" sz="32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480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M2 Satuan Ukur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SATUAN UKUR </a:t>
            </a:r>
            <a:endParaRPr lang="en" b="1" dirty="0" smtClean="0"/>
          </a:p>
          <a:p>
            <a:pPr algn="ctr">
              <a:buClr>
                <a:schemeClr val="dk1"/>
              </a:buClr>
              <a:buSzPts val="1100"/>
            </a:pPr>
            <a:endParaRPr lang="en" sz="1200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1. Satuan Panjang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				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9839" y="1367791"/>
            <a:ext cx="3544547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43651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M2 Satuan Ukur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SATUAN UKUR </a:t>
            </a:r>
            <a:endParaRPr lang="en" b="1" dirty="0" smtClean="0"/>
          </a:p>
          <a:p>
            <a:pPr algn="ctr">
              <a:buClr>
                <a:schemeClr val="dk1"/>
              </a:buClr>
              <a:buSzPts val="1100"/>
            </a:pPr>
            <a:endParaRPr lang="en" sz="1200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2.  Satuan Volume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				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276350"/>
            <a:ext cx="3181350" cy="299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49887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M2 Satuan Ukur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SATUAN UKUR </a:t>
            </a:r>
            <a:endParaRPr lang="en" b="1" dirty="0" smtClean="0"/>
          </a:p>
          <a:p>
            <a:pPr algn="ctr">
              <a:buClr>
                <a:schemeClr val="dk1"/>
              </a:buClr>
              <a:buSzPts val="1100"/>
            </a:pPr>
            <a:endParaRPr lang="en" sz="1200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3. Satuan Waktu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/>
              <a:t>	</a:t>
            </a:r>
            <a:r>
              <a:rPr lang="en" sz="1200" b="1" dirty="0" smtClean="0"/>
              <a:t>1 jam 	= 60 menit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/>
              <a:t>	</a:t>
            </a:r>
            <a:r>
              <a:rPr lang="en-US" sz="1200" b="1" dirty="0" smtClean="0"/>
              <a:t>1 </a:t>
            </a:r>
            <a:r>
              <a:rPr lang="en-US" sz="1200" b="1" dirty="0" err="1" smtClean="0"/>
              <a:t>menit</a:t>
            </a:r>
            <a:r>
              <a:rPr lang="en-US" sz="1200" b="1" dirty="0" smtClean="0"/>
              <a:t>	= 60 </a:t>
            </a:r>
            <a:r>
              <a:rPr lang="en-US" sz="1200" b="1" dirty="0" err="1" smtClean="0"/>
              <a:t>detik</a:t>
            </a:r>
            <a:endParaRPr lang="en-US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smtClean="0"/>
              <a:t>	1 jam	= 60 x 60 </a:t>
            </a:r>
            <a:r>
              <a:rPr lang="en-US" sz="1200" b="1" dirty="0" err="1" smtClean="0"/>
              <a:t>detik</a:t>
            </a:r>
            <a:r>
              <a:rPr lang="en-US" sz="1200" b="1" dirty="0" smtClean="0"/>
              <a:t> = 3.600 </a:t>
            </a:r>
            <a:r>
              <a:rPr lang="en-US" sz="1200" b="1" dirty="0" err="1" smtClean="0"/>
              <a:t>detik</a:t>
            </a:r>
            <a:endParaRPr lang="en-US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/>
              <a:t>	</a:t>
            </a:r>
            <a:r>
              <a:rPr lang="en-US" sz="1200" b="1" dirty="0" smtClean="0"/>
              <a:t>1 </a:t>
            </a:r>
            <a:r>
              <a:rPr lang="en-US" sz="1200" b="1" dirty="0" err="1" smtClean="0"/>
              <a:t>hari</a:t>
            </a:r>
            <a:r>
              <a:rPr lang="en-US" sz="1200" b="1" dirty="0" smtClean="0"/>
              <a:t>	= 24 jam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smtClean="0"/>
              <a:t>	1 </a:t>
            </a:r>
            <a:r>
              <a:rPr lang="en-US" sz="1200" b="1" dirty="0" err="1" smtClean="0"/>
              <a:t>minggu</a:t>
            </a:r>
            <a:r>
              <a:rPr lang="en-US" sz="1200" b="1" dirty="0" smtClean="0"/>
              <a:t>	= 7 </a:t>
            </a:r>
            <a:r>
              <a:rPr lang="en-US" sz="1200" b="1" dirty="0" err="1" smtClean="0"/>
              <a:t>hari</a:t>
            </a:r>
            <a:r>
              <a:rPr lang="en-US" sz="1200" b="1" dirty="0" smtClean="0"/>
              <a:t> = (7 x 24) jam = 168 jam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/>
              <a:t>	</a:t>
            </a:r>
            <a:r>
              <a:rPr lang="en-US" sz="1200" b="1" dirty="0" smtClean="0"/>
              <a:t>1 </a:t>
            </a:r>
            <a:r>
              <a:rPr lang="en-US" sz="1200" b="1" dirty="0" err="1" smtClean="0"/>
              <a:t>bulan</a:t>
            </a:r>
            <a:r>
              <a:rPr lang="en-US" sz="1200" b="1" dirty="0" smtClean="0"/>
              <a:t>	= 4 </a:t>
            </a:r>
            <a:r>
              <a:rPr lang="en-US" sz="1200" b="1" dirty="0" err="1" smtClean="0"/>
              <a:t>minggu</a:t>
            </a:r>
            <a:r>
              <a:rPr lang="en-US" sz="1200" b="1" dirty="0" smtClean="0"/>
              <a:t> = 30 </a:t>
            </a:r>
            <a:r>
              <a:rPr lang="en-US" sz="1200" b="1" dirty="0" err="1" smtClean="0"/>
              <a:t>hari</a:t>
            </a:r>
            <a:r>
              <a:rPr lang="en-US" sz="1200" b="1" dirty="0" smtClean="0"/>
              <a:t> (</a:t>
            </a:r>
            <a:r>
              <a:rPr lang="en-US" sz="1200" b="1" dirty="0" err="1" smtClean="0"/>
              <a:t>dipakai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dalam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perhitungan</a:t>
            </a:r>
            <a:r>
              <a:rPr lang="en-US" sz="1200" b="1" dirty="0" smtClean="0"/>
              <a:t>)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/>
              <a:t>	</a:t>
            </a:r>
            <a:r>
              <a:rPr lang="en-US" sz="1200" b="1" dirty="0" smtClean="0"/>
              <a:t>1 </a:t>
            </a:r>
            <a:r>
              <a:rPr lang="en-US" sz="1200" b="1" dirty="0" err="1" smtClean="0"/>
              <a:t>tahun</a:t>
            </a:r>
            <a:r>
              <a:rPr lang="en-US" sz="1200" b="1" dirty="0" smtClean="0"/>
              <a:t> 	= 12 </a:t>
            </a:r>
            <a:r>
              <a:rPr lang="en-US" sz="1200" b="1" dirty="0" err="1" smtClean="0"/>
              <a:t>bulan</a:t>
            </a:r>
            <a:r>
              <a:rPr lang="en-US" sz="1200" b="1" dirty="0" smtClean="0"/>
              <a:t> = 360 </a:t>
            </a:r>
            <a:r>
              <a:rPr lang="en-US" sz="1200" b="1" dirty="0" err="1" smtClean="0"/>
              <a:t>hari</a:t>
            </a:r>
            <a:r>
              <a:rPr lang="en-US" sz="1200" b="1" dirty="0" smtClean="0"/>
              <a:t> (</a:t>
            </a:r>
            <a:r>
              <a:rPr lang="en-US" sz="1200" b="1" dirty="0" err="1" smtClean="0"/>
              <a:t>dipakai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dalam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perhitungan</a:t>
            </a:r>
            <a:r>
              <a:rPr lang="en-US" sz="1200" b="1" dirty="0" smtClean="0"/>
              <a:t>)</a:t>
            </a: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				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237835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  <p:sp>
        <p:nvSpPr>
          <p:cNvPr id="5" name="Google Shape;194;p33"/>
          <p:cNvSpPr txBox="1">
            <a:spLocks/>
          </p:cNvSpPr>
          <p:nvPr/>
        </p:nvSpPr>
        <p:spPr>
          <a:xfrm>
            <a:off x="999127" y="1581150"/>
            <a:ext cx="6979800" cy="17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 b="0" i="0" u="none" strike="noStrike" cap="none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 b="0" i="0" u="none" strike="noStrike" cap="none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 b="0" i="0" u="none" strike="noStrike" cap="none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 b="0" i="0" u="none" strike="noStrike" cap="none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 b="0" i="0" u="none" strike="noStrike" cap="none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 b="0" i="0" u="none" strike="noStrike" cap="none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 b="0" i="0" u="none" strike="noStrike" cap="none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 b="0" i="0" u="none" strike="noStrike" cap="none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 b="0" i="0" u="none" strike="noStrike" cap="none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r>
              <a:rPr lang="en-US" sz="3200" dirty="0" smtClean="0"/>
              <a:t>M3</a:t>
            </a:r>
          </a:p>
          <a:p>
            <a:r>
              <a:rPr lang="en-US" sz="3200" dirty="0" smtClean="0"/>
              <a:t>LUAS DAN KELILING BANGUN DATAR</a:t>
            </a:r>
            <a:endParaRPr lang="en-US" sz="32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199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M3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KELILING BANGUN DATAR</a:t>
            </a:r>
            <a:endParaRPr lang="en" b="1" dirty="0" smtClean="0"/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smtClean="0"/>
              <a:t>1. </a:t>
            </a:r>
            <a:r>
              <a:rPr lang="en-US" sz="1200" b="1" dirty="0" err="1" smtClean="0"/>
              <a:t>Persegi</a:t>
            </a:r>
            <a:endParaRPr lang="en-US" sz="1200" b="1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smtClean="0"/>
              <a:t>L = s x s 				K = s + s + s + s = 4 x s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smtClean="0"/>
              <a:t>2. </a:t>
            </a:r>
            <a:r>
              <a:rPr lang="en-US" sz="1200" b="1" dirty="0" err="1" smtClean="0"/>
              <a:t>Persegi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Panjang</a:t>
            </a:r>
            <a:endParaRPr lang="en-US" sz="1200" b="1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smtClean="0"/>
              <a:t>L = p x l 				K = 2 x (p + l)</a:t>
            </a:r>
            <a:endParaRPr lang="en-US" sz="1200" b="1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smtClean="0"/>
              <a:t>3. </a:t>
            </a:r>
            <a:r>
              <a:rPr lang="en-US" sz="1200" b="1" dirty="0" err="1" smtClean="0"/>
              <a:t>Segitiga</a:t>
            </a:r>
            <a:r>
              <a:rPr lang="en-US" sz="1200" b="1" dirty="0" smtClean="0"/>
              <a:t> (</a:t>
            </a:r>
            <a:r>
              <a:rPr lang="en-US" sz="1200" b="1" dirty="0" err="1" smtClean="0"/>
              <a:t>siku-siku</a:t>
            </a:r>
            <a:r>
              <a:rPr lang="en-US" sz="1200" b="1" dirty="0" smtClean="0"/>
              <a:t>, </a:t>
            </a:r>
            <a:r>
              <a:rPr lang="en-US" sz="1200" b="1" dirty="0" err="1" smtClean="0"/>
              <a:t>sama</a:t>
            </a:r>
            <a:r>
              <a:rPr lang="en-US" sz="1200" b="1" dirty="0" smtClean="0"/>
              <a:t> kaki, </a:t>
            </a:r>
            <a:r>
              <a:rPr lang="en-US" sz="1200" b="1" dirty="0" err="1" smtClean="0"/>
              <a:t>dan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sama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sisi</a:t>
            </a:r>
            <a:r>
              <a:rPr lang="en-US" sz="1200" b="1" dirty="0" smtClean="0"/>
              <a:t>)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smtClean="0"/>
              <a:t>L= ½ x a x t				K = s + s + s </a:t>
            </a:r>
            <a:r>
              <a:rPr lang="en-US" sz="1200" b="1" dirty="0" err="1" smtClean="0"/>
              <a:t>atau</a:t>
            </a:r>
            <a:r>
              <a:rPr lang="en-US" sz="1200" b="1" dirty="0" smtClean="0"/>
              <a:t> K = a + b + c </a:t>
            </a:r>
            <a:endParaRPr lang="en-US" sz="1200" b="1" dirty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smtClean="0"/>
              <a:t>4. </a:t>
            </a:r>
            <a:r>
              <a:rPr lang="en-US" sz="1200" b="1" dirty="0" err="1" smtClean="0"/>
              <a:t>Trapesium</a:t>
            </a:r>
            <a:endParaRPr lang="en-US" sz="1200" b="1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smtClean="0"/>
              <a:t>L = ½ x (</a:t>
            </a:r>
            <a:r>
              <a:rPr lang="en-US" sz="1200" b="1" dirty="0" err="1" smtClean="0"/>
              <a:t>jumlah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sisi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sejajar</a:t>
            </a:r>
            <a:r>
              <a:rPr lang="en-US" sz="1200" b="1" dirty="0" smtClean="0"/>
              <a:t> x </a:t>
            </a:r>
            <a:r>
              <a:rPr lang="en-US" sz="1200" b="1" dirty="0" err="1" smtClean="0"/>
              <a:t>tinggi</a:t>
            </a:r>
            <a:r>
              <a:rPr lang="en-US" sz="1200" b="1" dirty="0" smtClean="0"/>
              <a:t>)		K = a + b + c + d </a:t>
            </a:r>
            <a:endParaRPr lang="en-US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1172864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M3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KELILING BANGUN DATAR</a:t>
            </a:r>
            <a:endParaRPr lang="en" b="1" dirty="0" smtClean="0"/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smtClean="0"/>
              <a:t>5. </a:t>
            </a:r>
            <a:r>
              <a:rPr lang="en-US" sz="1200" b="1" dirty="0" err="1" smtClean="0"/>
              <a:t>Jajaran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Genjang</a:t>
            </a:r>
            <a:endParaRPr lang="en-US" sz="1200" b="1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smtClean="0"/>
              <a:t>L = a x t				K = (2  x alas)  + (2 x </a:t>
            </a:r>
            <a:r>
              <a:rPr lang="en-US" sz="1200" b="1" dirty="0" err="1" smtClean="0"/>
              <a:t>sisi</a:t>
            </a:r>
            <a:r>
              <a:rPr lang="en-US" sz="1200" b="1" dirty="0" smtClean="0"/>
              <a:t> miring)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smtClean="0"/>
              <a:t>6. </a:t>
            </a:r>
            <a:r>
              <a:rPr lang="en-US" sz="1200" b="1" dirty="0" err="1" smtClean="0"/>
              <a:t>Belah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Ketupat</a:t>
            </a:r>
            <a:endParaRPr lang="en-US" sz="1200" b="1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smtClean="0"/>
              <a:t>L = ½ x d1 x d2 			K = s + s + s + s = 4 x s</a:t>
            </a:r>
            <a:endParaRPr lang="en-US" sz="1200" b="1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smtClean="0"/>
              <a:t>7. </a:t>
            </a:r>
            <a:r>
              <a:rPr lang="en-US" sz="1200" b="1" dirty="0" err="1" smtClean="0"/>
              <a:t>Layang</a:t>
            </a:r>
            <a:r>
              <a:rPr lang="en-US" sz="1200" b="1" dirty="0" smtClean="0"/>
              <a:t> - </a:t>
            </a:r>
            <a:r>
              <a:rPr lang="en-US" sz="1200" b="1" dirty="0" err="1" smtClean="0"/>
              <a:t>Layang</a:t>
            </a:r>
            <a:endParaRPr lang="en-US" sz="1200" b="1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smtClean="0"/>
              <a:t>L= </a:t>
            </a:r>
            <a:r>
              <a:rPr lang="en-US" sz="1200" b="1" dirty="0"/>
              <a:t>½ x d1 x d2 </a:t>
            </a:r>
            <a:r>
              <a:rPr lang="en-US" sz="1200" b="1" dirty="0" smtClean="0"/>
              <a:t>			K = 2 x ( x + y )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smtClean="0"/>
              <a:t>8. </a:t>
            </a:r>
            <a:r>
              <a:rPr lang="en-US" sz="1200" b="1" dirty="0" err="1" smtClean="0"/>
              <a:t>Lingkaran</a:t>
            </a:r>
            <a:endParaRPr lang="en-US" sz="1200" b="1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smtClean="0"/>
              <a:t>L =phi x phi 				K = phi x d</a:t>
            </a:r>
            <a:endParaRPr lang="en-US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4236613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  <p:sp>
        <p:nvSpPr>
          <p:cNvPr id="5" name="Google Shape;194;p33"/>
          <p:cNvSpPr txBox="1">
            <a:spLocks/>
          </p:cNvSpPr>
          <p:nvPr/>
        </p:nvSpPr>
        <p:spPr>
          <a:xfrm>
            <a:off x="999127" y="1581150"/>
            <a:ext cx="6979800" cy="17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 b="0" i="0" u="none" strike="noStrike" cap="none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 b="0" i="0" u="none" strike="noStrike" cap="none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 b="0" i="0" u="none" strike="noStrike" cap="none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 b="0" i="0" u="none" strike="noStrike" cap="none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 b="0" i="0" u="none" strike="noStrike" cap="none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 b="0" i="0" u="none" strike="noStrike" cap="none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 b="0" i="0" u="none" strike="noStrike" cap="none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 b="0" i="0" u="none" strike="noStrike" cap="none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 b="0" i="0" u="none" strike="noStrike" cap="none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r>
              <a:rPr lang="en-US" sz="3200" dirty="0" smtClean="0"/>
              <a:t>M4</a:t>
            </a:r>
          </a:p>
          <a:p>
            <a:r>
              <a:rPr lang="en-US" sz="3200" dirty="0" smtClean="0"/>
              <a:t>SIMETRI LIPAT</a:t>
            </a:r>
            <a:endParaRPr lang="en-US" sz="32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942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M4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SIMETRI LIPAT </a:t>
            </a:r>
            <a:endParaRPr lang="en" b="1" dirty="0" smtClean="0"/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 marL="228600" indent="-228600">
              <a:spcBef>
                <a:spcPts val="600"/>
              </a:spcBef>
              <a:buClr>
                <a:schemeClr val="dk1"/>
              </a:buClr>
              <a:buSzPts val="1100"/>
              <a:buAutoNum type="alphaLcPeriod"/>
            </a:pPr>
            <a:r>
              <a:rPr lang="en" sz="1200" b="1" dirty="0" smtClean="0"/>
              <a:t>Simetri lipat pada persegi atau bujur sangkar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       Persegi atau bujur sangkar mempunyai 4 simetri lipat : 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b. Simetri lipat pada persegi panjang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     Persegi panjang mempunyai 2 simetri lipat : </a:t>
            </a: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081" y="1581150"/>
            <a:ext cx="1112519" cy="1153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919" y="3134376"/>
            <a:ext cx="2062161" cy="1107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4805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M4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SIMETRI LIPAT </a:t>
            </a:r>
            <a:endParaRPr lang="en" b="1" dirty="0" smtClean="0"/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smtClean="0"/>
              <a:t>c. </a:t>
            </a:r>
            <a:r>
              <a:rPr lang="en-US" sz="1200" b="1" dirty="0" err="1" smtClean="0"/>
              <a:t>Simetri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lipat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pada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segitiga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sama</a:t>
            </a:r>
            <a:r>
              <a:rPr lang="en-US" sz="1200" b="1" dirty="0" smtClean="0"/>
              <a:t> kaki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smtClean="0"/>
              <a:t>     </a:t>
            </a:r>
            <a:r>
              <a:rPr lang="en-US" sz="1200" b="1" dirty="0" err="1" smtClean="0"/>
              <a:t>Segitiga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sama</a:t>
            </a:r>
            <a:r>
              <a:rPr lang="en-US" sz="1200" b="1" dirty="0" smtClean="0"/>
              <a:t> kaki </a:t>
            </a:r>
            <a:r>
              <a:rPr lang="en-US" sz="1200" b="1" dirty="0" err="1" smtClean="0"/>
              <a:t>mempunyai</a:t>
            </a:r>
            <a:r>
              <a:rPr lang="en-US" sz="1200" b="1" dirty="0" smtClean="0"/>
              <a:t> 1 </a:t>
            </a:r>
            <a:r>
              <a:rPr lang="en-US" sz="1200" b="1" dirty="0" err="1" smtClean="0"/>
              <a:t>simetri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lipat</a:t>
            </a:r>
            <a:r>
              <a:rPr lang="en-US" sz="1200" b="1" dirty="0" smtClean="0"/>
              <a:t>, A </a:t>
            </a:r>
            <a:r>
              <a:rPr lang="en-US" sz="1200" b="1" dirty="0" err="1" smtClean="0"/>
              <a:t>bertemu</a:t>
            </a:r>
            <a:r>
              <a:rPr lang="en-US" sz="1200" b="1" dirty="0" smtClean="0"/>
              <a:t> 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smtClean="0"/>
              <a:t>      </a:t>
            </a:r>
            <a:r>
              <a:rPr lang="en-US" sz="1200" b="1" dirty="0" err="1" smtClean="0"/>
              <a:t>dengan</a:t>
            </a:r>
            <a:r>
              <a:rPr lang="en-US" sz="1200" b="1" dirty="0" smtClean="0"/>
              <a:t>  B </a:t>
            </a:r>
            <a:r>
              <a:rPr lang="en-US" sz="1200" b="1" dirty="0" err="1" smtClean="0"/>
              <a:t>dimana</a:t>
            </a:r>
            <a:r>
              <a:rPr lang="en-US" sz="1200" b="1" dirty="0" smtClean="0"/>
              <a:t> C </a:t>
            </a:r>
            <a:r>
              <a:rPr lang="en-US" sz="1200" b="1" dirty="0" err="1" smtClean="0"/>
              <a:t>sebagai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sumbu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simetri</a:t>
            </a:r>
            <a:r>
              <a:rPr lang="en-US" sz="1200" b="1" dirty="0" smtClean="0"/>
              <a:t>.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-US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-US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-US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smtClean="0"/>
              <a:t>d. </a:t>
            </a:r>
            <a:r>
              <a:rPr lang="en-US" sz="1200" b="1" dirty="0" err="1" smtClean="0"/>
              <a:t>Simetri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lipat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pada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segitiga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sama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sisi</a:t>
            </a:r>
            <a:r>
              <a:rPr lang="en-US" sz="1200" b="1" dirty="0" smtClean="0"/>
              <a:t> 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/>
              <a:t> </a:t>
            </a:r>
            <a:r>
              <a:rPr lang="en-US" sz="1200" b="1" dirty="0" smtClean="0"/>
              <a:t>    </a:t>
            </a:r>
            <a:r>
              <a:rPr lang="en-US" sz="1200" b="1" dirty="0" err="1" smtClean="0"/>
              <a:t>Segitiga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sama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sisi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mempunyai</a:t>
            </a:r>
            <a:r>
              <a:rPr lang="en-US" sz="1200" b="1" dirty="0" smtClean="0"/>
              <a:t> 3 </a:t>
            </a:r>
            <a:r>
              <a:rPr lang="en-US" sz="1200" b="1" dirty="0" err="1" smtClean="0"/>
              <a:t>simetri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lipat</a:t>
            </a:r>
            <a:r>
              <a:rPr lang="en-US" sz="1200" b="1" dirty="0" smtClean="0"/>
              <a:t> </a:t>
            </a: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 </a:t>
            </a: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123950"/>
            <a:ext cx="1077424" cy="164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977" y="2952750"/>
            <a:ext cx="1520845" cy="1349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04105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M4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SIMETRI LIPAT </a:t>
            </a:r>
            <a:endParaRPr lang="en" b="1" dirty="0" smtClean="0"/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smtClean="0"/>
              <a:t>e. </a:t>
            </a:r>
            <a:r>
              <a:rPr lang="en-US" sz="1200" b="1" dirty="0" err="1" smtClean="0"/>
              <a:t>Simetri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lipat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pada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trapesium</a:t>
            </a:r>
            <a:endParaRPr lang="en-US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-US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-US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-US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-US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-US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/>
              <a:t>f</a:t>
            </a:r>
            <a:r>
              <a:rPr lang="en-US" sz="1200" b="1" dirty="0" smtClean="0"/>
              <a:t>. </a:t>
            </a:r>
            <a:r>
              <a:rPr lang="en-US" sz="1200" b="1" dirty="0" err="1" smtClean="0"/>
              <a:t>Simetri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lipat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pada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jajaran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genjang</a:t>
            </a:r>
            <a:endParaRPr lang="en-US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/>
              <a:t> </a:t>
            </a:r>
            <a:r>
              <a:rPr lang="en-US" sz="1200" b="1" dirty="0" smtClean="0"/>
              <a:t>    </a:t>
            </a:r>
            <a:r>
              <a:rPr lang="en-US" sz="1200" b="1" dirty="0" err="1" smtClean="0"/>
              <a:t>Simetri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lipat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pada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jajaran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genjang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adalah</a:t>
            </a:r>
            <a:r>
              <a:rPr lang="en-US" sz="1200" b="1" dirty="0" smtClean="0"/>
              <a:t> 0.</a:t>
            </a: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 </a:t>
            </a: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657350"/>
            <a:ext cx="2047330" cy="1077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2067" y="3460818"/>
            <a:ext cx="2362200" cy="963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1422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219200" y="1581150"/>
            <a:ext cx="6979800" cy="1250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 smtClean="0"/>
              <a:t>M5</a:t>
            </a:r>
            <a:br>
              <a:rPr lang="en" sz="3200" dirty="0" smtClean="0"/>
            </a:br>
            <a:r>
              <a:rPr lang="en" sz="3200" dirty="0" smtClean="0"/>
              <a:t>KELIPATAN DAN FAKTOR</a:t>
            </a:r>
            <a:endParaRPr sz="2800"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79792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M5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KELIPATAN SUATU BILANGAN</a:t>
            </a:r>
            <a:endParaRPr lang="en" b="1" dirty="0" smtClean="0"/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Kelipatan suatu bilangan dapat diartikan sebagai “hasil kali bilangan tersebut dengan bilangan asli” yang dimaksud dengan bilangan asli adalah 1, 2 , 3, 4, 5, 6, dan seterusnya.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Contoh :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AutoNum type="alphaLcPeriod"/>
            </a:pPr>
            <a:r>
              <a:rPr lang="en-US" sz="1200" b="1" dirty="0" smtClean="0"/>
              <a:t>B</a:t>
            </a:r>
            <a:r>
              <a:rPr lang="en" sz="1200" b="1" dirty="0" smtClean="0"/>
              <a:t>ilangan – bilangan  kelipatan 2 adalah 2, 4, 6, 8, 10,12, …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AutoNum type="alphaLcPeriod"/>
            </a:pPr>
            <a:r>
              <a:rPr lang="en" sz="1200" b="1" dirty="0" smtClean="0"/>
              <a:t>Bilangan – bilangan kelipatan 4 adalah 4, 8, 12, ….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AutoNum type="alphaLcPeriod"/>
            </a:pPr>
            <a:r>
              <a:rPr lang="en" sz="1200" b="1" dirty="0" smtClean="0"/>
              <a:t>Bilangan – bilangan kelipatan 8 adalah 8, 16, …. </a:t>
            </a: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3234726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M5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FAKTOR SUATU BILANGAN</a:t>
            </a:r>
            <a:endParaRPr lang="en" b="1" dirty="0" smtClean="0"/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Faktor suatu bilangan adalah suatu bilangan yang membagi bilangan lain menghasilkan bilangan asli.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Contoh :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AutoNum type="alphaLcPeriod"/>
            </a:pPr>
            <a:r>
              <a:rPr lang="en-US" sz="1200" b="1" dirty="0" err="1" smtClean="0"/>
              <a:t>Faktor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bilangan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dari</a:t>
            </a:r>
            <a:r>
              <a:rPr lang="en-US" sz="1200" b="1" dirty="0" smtClean="0"/>
              <a:t> 28 </a:t>
            </a:r>
            <a:r>
              <a:rPr lang="en-US" sz="1200" b="1" dirty="0" err="1" smtClean="0"/>
              <a:t>adalah</a:t>
            </a:r>
            <a:r>
              <a:rPr lang="en-US" sz="1200" b="1" dirty="0" smtClean="0"/>
              <a:t> ….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smtClean="0"/>
              <a:t>      Cara = 28 : 1 = 28 ; 28 : 2 = 14 ; 28 : 4 = 6 ; 28 : 6 = 4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smtClean="0"/>
              <a:t>      </a:t>
            </a:r>
            <a:r>
              <a:rPr lang="en-US" sz="1200" b="1" dirty="0" err="1" smtClean="0"/>
              <a:t>Bilangan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hasil</a:t>
            </a:r>
            <a:r>
              <a:rPr lang="en-US" sz="1200" b="1" dirty="0" smtClean="0"/>
              <a:t> : 4,6,14,28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/>
              <a:t> </a:t>
            </a:r>
            <a:r>
              <a:rPr lang="en-US" sz="1200" b="1" dirty="0" smtClean="0"/>
              <a:t>     </a:t>
            </a:r>
            <a:r>
              <a:rPr lang="en-US" sz="1200" b="1" dirty="0" err="1" smtClean="0"/>
              <a:t>Bilangan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pembagi</a:t>
            </a:r>
            <a:r>
              <a:rPr lang="en-US" sz="1200" b="1" dirty="0" smtClean="0"/>
              <a:t> : 1,2,4,6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err="1" smtClean="0"/>
              <a:t>Jadi</a:t>
            </a:r>
            <a:r>
              <a:rPr lang="en-US" sz="1200" b="1" dirty="0" smtClean="0"/>
              <a:t>, </a:t>
            </a:r>
            <a:r>
              <a:rPr lang="en-US" sz="1200" b="1" dirty="0" err="1" smtClean="0"/>
              <a:t>faktor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bilangan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dari</a:t>
            </a:r>
            <a:r>
              <a:rPr lang="en-US" sz="1200" b="1" dirty="0" smtClean="0"/>
              <a:t> 28 </a:t>
            </a:r>
            <a:r>
              <a:rPr lang="en-US" sz="1200" b="1" dirty="0" err="1" smtClean="0"/>
              <a:t>adalah</a:t>
            </a:r>
            <a:r>
              <a:rPr lang="en-US" sz="1200" b="1" dirty="0" smtClean="0"/>
              <a:t> 1, 2, 4, 6, 14, </a:t>
            </a:r>
            <a:r>
              <a:rPr lang="en-US" sz="1200" b="1" dirty="0" err="1" smtClean="0"/>
              <a:t>dan</a:t>
            </a:r>
            <a:r>
              <a:rPr lang="en-US" sz="1200" b="1" dirty="0" smtClean="0"/>
              <a:t> 28.</a:t>
            </a: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3289417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66800" y="1581150"/>
            <a:ext cx="6979800" cy="129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 smtClean="0"/>
              <a:t>M6</a:t>
            </a:r>
            <a:br>
              <a:rPr lang="en" sz="3200" dirty="0" smtClean="0"/>
            </a:br>
            <a:r>
              <a:rPr lang="en" sz="3200" dirty="0" smtClean="0"/>
              <a:t>MENGENAL BANGUN RUANG</a:t>
            </a:r>
            <a:endParaRPr sz="3200"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7409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M6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PENGENALAN BANGUN RUANG</a:t>
            </a:r>
            <a:endParaRPr lang="en" b="1" dirty="0" smtClean="0"/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 marL="342900" indent="-3429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" b="1" dirty="0" smtClean="0"/>
              <a:t>Kubus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b="1" dirty="0" smtClean="0"/>
              <a:t>Sifat – sifat kubus antara lain :</a:t>
            </a:r>
          </a:p>
          <a:p>
            <a:pPr marL="285750" indent="-285750">
              <a:spcBef>
                <a:spcPts val="600"/>
              </a:spcBef>
              <a:buClr>
                <a:schemeClr val="dk1"/>
              </a:buClr>
              <a:buSzPts val="1100"/>
              <a:buFontTx/>
              <a:buChar char="-"/>
            </a:pPr>
            <a:r>
              <a:rPr lang="en-US" b="1" dirty="0" smtClean="0"/>
              <a:t>M</a:t>
            </a:r>
            <a:r>
              <a:rPr lang="en" b="1" dirty="0" smtClean="0"/>
              <a:t>emiliki 4 buah diagonal ruang dan 12 buah diagonal bidang</a:t>
            </a:r>
          </a:p>
          <a:p>
            <a:pPr marL="285750" indent="-285750">
              <a:spcBef>
                <a:spcPts val="600"/>
              </a:spcBef>
              <a:buClr>
                <a:schemeClr val="dk1"/>
              </a:buClr>
              <a:buSzPts val="1100"/>
              <a:buFontTx/>
              <a:buChar char="-"/>
            </a:pPr>
            <a:r>
              <a:rPr lang="en-US" b="1" dirty="0" smtClean="0"/>
              <a:t>M</a:t>
            </a:r>
            <a:r>
              <a:rPr lang="en" b="1" dirty="0" smtClean="0"/>
              <a:t>emiliki 6 bidang sisi yang berbentuk bujur sangkar</a:t>
            </a:r>
          </a:p>
          <a:p>
            <a:pPr marL="285750" indent="-285750">
              <a:spcBef>
                <a:spcPts val="600"/>
              </a:spcBef>
              <a:buClr>
                <a:schemeClr val="dk1"/>
              </a:buClr>
              <a:buSzPts val="1100"/>
              <a:buFontTx/>
              <a:buChar char="-"/>
            </a:pPr>
            <a:r>
              <a:rPr lang="en-US" b="1" dirty="0" smtClean="0"/>
              <a:t>M</a:t>
            </a:r>
            <a:r>
              <a:rPr lang="en" b="1" dirty="0" smtClean="0"/>
              <a:t>emiliki 8 titik sudut dan semua sudut tersebut siku-siku</a:t>
            </a:r>
          </a:p>
          <a:p>
            <a:pPr marL="285750" indent="-285750">
              <a:spcBef>
                <a:spcPts val="600"/>
              </a:spcBef>
              <a:buClr>
                <a:schemeClr val="dk1"/>
              </a:buClr>
              <a:buSzPts val="1100"/>
              <a:buFontTx/>
              <a:buChar char="-"/>
            </a:pPr>
            <a:r>
              <a:rPr lang="en-US" b="1" dirty="0" smtClean="0"/>
              <a:t>M</a:t>
            </a:r>
            <a:r>
              <a:rPr lang="en" b="1" dirty="0" smtClean="0"/>
              <a:t>emiliki 12 buah rusuk yang sama panjang</a:t>
            </a:r>
          </a:p>
          <a:p>
            <a:pPr marL="285750" indent="-285750">
              <a:spcBef>
                <a:spcPts val="600"/>
              </a:spcBef>
              <a:buClr>
                <a:schemeClr val="dk1"/>
              </a:buClr>
              <a:buSzPts val="1100"/>
              <a:buFontTx/>
              <a:buChar char="-"/>
            </a:pPr>
            <a:r>
              <a:rPr lang="en-US" b="1" dirty="0" smtClean="0"/>
              <a:t>J</a:t>
            </a:r>
            <a:r>
              <a:rPr lang="en" b="1" dirty="0" smtClean="0"/>
              <a:t>aring – jaring kubus berupa 6 persegi yang saling kongruen.</a:t>
            </a:r>
            <a:endParaRPr lang="en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3913493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M6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PENGENALAN BANGUN RUANG</a:t>
            </a:r>
            <a:endParaRPr lang="en" b="1" dirty="0" smtClean="0"/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b="1" dirty="0" smtClean="0"/>
              <a:t>2. Balok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b="1" dirty="0" smtClean="0"/>
              <a:t>Sifat – sifat balokantara lain 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err="1"/>
              <a:t>Memiliki</a:t>
            </a:r>
            <a:r>
              <a:rPr lang="en-US" b="1" dirty="0"/>
              <a:t> 4 </a:t>
            </a:r>
            <a:r>
              <a:rPr lang="en-US" b="1" dirty="0" err="1"/>
              <a:t>buah</a:t>
            </a:r>
            <a:r>
              <a:rPr lang="en-US" b="1" dirty="0"/>
              <a:t> diagonal </a:t>
            </a:r>
            <a:r>
              <a:rPr lang="en-US" b="1" dirty="0" err="1"/>
              <a:t>ruang</a:t>
            </a:r>
            <a:r>
              <a:rPr lang="en-US" b="1" dirty="0"/>
              <a:t> </a:t>
            </a:r>
            <a:r>
              <a:rPr lang="en-US" b="1" dirty="0" err="1"/>
              <a:t>dan</a:t>
            </a:r>
            <a:r>
              <a:rPr lang="en-US" b="1" dirty="0"/>
              <a:t> 12 </a:t>
            </a:r>
            <a:r>
              <a:rPr lang="en-US" b="1" dirty="0" err="1"/>
              <a:t>buah</a:t>
            </a:r>
            <a:r>
              <a:rPr lang="en-US" b="1" dirty="0"/>
              <a:t> diagonal </a:t>
            </a:r>
            <a:r>
              <a:rPr lang="en-US" b="1" dirty="0" err="1"/>
              <a:t>bidang</a:t>
            </a:r>
            <a:endParaRPr lang="en-US" b="1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err="1"/>
              <a:t>Memiliki</a:t>
            </a:r>
            <a:r>
              <a:rPr lang="en-US" b="1" dirty="0"/>
              <a:t> 8 </a:t>
            </a:r>
            <a:r>
              <a:rPr lang="en-US" b="1" dirty="0" err="1"/>
              <a:t>buah</a:t>
            </a:r>
            <a:r>
              <a:rPr lang="en-US" b="1" dirty="0"/>
              <a:t> </a:t>
            </a:r>
            <a:r>
              <a:rPr lang="en-US" b="1" dirty="0" err="1"/>
              <a:t>titik</a:t>
            </a:r>
            <a:r>
              <a:rPr lang="en-US" b="1" dirty="0"/>
              <a:t> </a:t>
            </a:r>
            <a:r>
              <a:rPr lang="en-US" b="1" dirty="0" err="1"/>
              <a:t>sudut</a:t>
            </a:r>
            <a:r>
              <a:rPr lang="en-US" b="1" dirty="0"/>
              <a:t> </a:t>
            </a:r>
            <a:r>
              <a:rPr lang="en-US" b="1" dirty="0" err="1"/>
              <a:t>dan</a:t>
            </a:r>
            <a:r>
              <a:rPr lang="en-US" b="1" dirty="0"/>
              <a:t> </a:t>
            </a:r>
            <a:r>
              <a:rPr lang="en-US" b="1" dirty="0" err="1"/>
              <a:t>seluruhnya</a:t>
            </a:r>
            <a:r>
              <a:rPr lang="en-US" b="1" dirty="0"/>
              <a:t> </a:t>
            </a:r>
            <a:r>
              <a:rPr lang="en-US" b="1" dirty="0" err="1"/>
              <a:t>siku</a:t>
            </a:r>
            <a:r>
              <a:rPr lang="en-US" b="1" dirty="0"/>
              <a:t> – </a:t>
            </a:r>
            <a:r>
              <a:rPr lang="en-US" b="1" dirty="0" err="1"/>
              <a:t>siku</a:t>
            </a:r>
            <a:endParaRPr lang="en-US" b="1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err="1"/>
              <a:t>Memiliki</a:t>
            </a:r>
            <a:r>
              <a:rPr lang="en-US" b="1" dirty="0"/>
              <a:t> 12 </a:t>
            </a:r>
            <a:r>
              <a:rPr lang="en-US" b="1" dirty="0" err="1"/>
              <a:t>buah</a:t>
            </a:r>
            <a:r>
              <a:rPr lang="en-US" b="1" dirty="0"/>
              <a:t> </a:t>
            </a:r>
            <a:r>
              <a:rPr lang="en-US" b="1" dirty="0" err="1"/>
              <a:t>rusuk</a:t>
            </a:r>
            <a:r>
              <a:rPr lang="en-US" b="1" dirty="0"/>
              <a:t> </a:t>
            </a:r>
            <a:r>
              <a:rPr lang="en-US" b="1" dirty="0" err="1"/>
              <a:t>dan</a:t>
            </a:r>
            <a:r>
              <a:rPr lang="en-US" b="1" dirty="0"/>
              <a:t> 6 </a:t>
            </a:r>
            <a:r>
              <a:rPr lang="en-US" b="1" dirty="0" err="1"/>
              <a:t>pasang</a:t>
            </a:r>
            <a:r>
              <a:rPr lang="en-US" b="1" dirty="0"/>
              <a:t> </a:t>
            </a:r>
            <a:r>
              <a:rPr lang="en-US" b="1" dirty="0" err="1"/>
              <a:t>rusuk</a:t>
            </a:r>
            <a:r>
              <a:rPr lang="en-US" b="1" dirty="0"/>
              <a:t> </a:t>
            </a:r>
            <a:r>
              <a:rPr lang="en-US" b="1" dirty="0" err="1"/>
              <a:t>tersebut</a:t>
            </a:r>
            <a:r>
              <a:rPr lang="en-US" b="1" dirty="0"/>
              <a:t> </a:t>
            </a:r>
            <a:r>
              <a:rPr lang="en-US" b="1" dirty="0" err="1"/>
              <a:t>berhadapan</a:t>
            </a:r>
            <a:r>
              <a:rPr lang="en-US" b="1" dirty="0"/>
              <a:t> </a:t>
            </a:r>
            <a:r>
              <a:rPr lang="en-US" b="1" dirty="0" err="1"/>
              <a:t>sama</a:t>
            </a:r>
            <a:r>
              <a:rPr lang="en-US" b="1" dirty="0"/>
              <a:t> </a:t>
            </a:r>
            <a:r>
              <a:rPr lang="en-US" b="1" dirty="0" err="1"/>
              <a:t>panjang</a:t>
            </a:r>
            <a:endParaRPr lang="en-US" b="1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err="1"/>
              <a:t>Jaring</a:t>
            </a:r>
            <a:r>
              <a:rPr lang="en-US" b="1" dirty="0"/>
              <a:t> </a:t>
            </a:r>
            <a:r>
              <a:rPr lang="en-US" b="1" dirty="0" err="1"/>
              <a:t>Jaring</a:t>
            </a:r>
            <a:r>
              <a:rPr lang="en-US" b="1" dirty="0"/>
              <a:t> </a:t>
            </a:r>
            <a:r>
              <a:rPr lang="en-US" b="1" dirty="0" err="1"/>
              <a:t>Bangun</a:t>
            </a:r>
            <a:r>
              <a:rPr lang="en-US" b="1" dirty="0"/>
              <a:t> </a:t>
            </a:r>
            <a:r>
              <a:rPr lang="en-US" b="1" dirty="0" err="1"/>
              <a:t>Ruang</a:t>
            </a:r>
            <a:r>
              <a:rPr lang="en-US" b="1" dirty="0"/>
              <a:t> </a:t>
            </a:r>
            <a:r>
              <a:rPr lang="en-US" b="1" dirty="0" err="1"/>
              <a:t>Balok</a:t>
            </a:r>
            <a:r>
              <a:rPr lang="en-US" b="1" dirty="0"/>
              <a:t> </a:t>
            </a:r>
            <a:r>
              <a:rPr lang="en-US" b="1" dirty="0" err="1"/>
              <a:t>berupa</a:t>
            </a:r>
            <a:r>
              <a:rPr lang="en-US" b="1" dirty="0"/>
              <a:t> 6 </a:t>
            </a:r>
            <a:r>
              <a:rPr lang="en-US" b="1" dirty="0" err="1"/>
              <a:t>buah</a:t>
            </a:r>
            <a:r>
              <a:rPr lang="en-US" b="1" dirty="0"/>
              <a:t> </a:t>
            </a:r>
            <a:r>
              <a:rPr lang="en-US" b="1" dirty="0" err="1"/>
              <a:t>Persegi</a:t>
            </a:r>
            <a:r>
              <a:rPr lang="en-US" b="1" dirty="0"/>
              <a:t> </a:t>
            </a:r>
            <a:r>
              <a:rPr lang="en-US" b="1" dirty="0" err="1"/>
              <a:t>Panjang</a:t>
            </a:r>
            <a:endParaRPr lang="en-US" b="1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err="1"/>
              <a:t>Memiliki</a:t>
            </a:r>
            <a:r>
              <a:rPr lang="en-US" b="1" dirty="0"/>
              <a:t> 6 </a:t>
            </a:r>
            <a:r>
              <a:rPr lang="en-US" b="1" dirty="0" err="1"/>
              <a:t>Buah</a:t>
            </a:r>
            <a:r>
              <a:rPr lang="en-US" b="1" dirty="0"/>
              <a:t> </a:t>
            </a:r>
            <a:r>
              <a:rPr lang="en-US" b="1" dirty="0" err="1"/>
              <a:t>Bidang</a:t>
            </a:r>
            <a:r>
              <a:rPr lang="en-US" b="1" dirty="0"/>
              <a:t> </a:t>
            </a:r>
            <a:r>
              <a:rPr lang="en-US" b="1" dirty="0" err="1"/>
              <a:t>sisi</a:t>
            </a:r>
            <a:r>
              <a:rPr lang="en-US" b="1" dirty="0"/>
              <a:t> </a:t>
            </a:r>
            <a:r>
              <a:rPr lang="en-US" b="1" dirty="0" err="1"/>
              <a:t>yg</a:t>
            </a:r>
            <a:r>
              <a:rPr lang="en-US" b="1" dirty="0"/>
              <a:t> </a:t>
            </a:r>
            <a:r>
              <a:rPr lang="en-US" b="1" dirty="0" err="1"/>
              <a:t>terbentuk</a:t>
            </a:r>
            <a:r>
              <a:rPr lang="en-US" b="1" dirty="0"/>
              <a:t> </a:t>
            </a:r>
            <a:r>
              <a:rPr lang="en-US" b="1" dirty="0" err="1"/>
              <a:t>Persegi</a:t>
            </a:r>
            <a:r>
              <a:rPr lang="en-US" b="1" dirty="0"/>
              <a:t> </a:t>
            </a:r>
            <a:r>
              <a:rPr lang="en-US" b="1" dirty="0" err="1"/>
              <a:t>Panjang</a:t>
            </a:r>
            <a:r>
              <a:rPr lang="en-US" b="1" dirty="0"/>
              <a:t> </a:t>
            </a:r>
            <a:r>
              <a:rPr lang="en-US" b="1" dirty="0" err="1"/>
              <a:t>dan</a:t>
            </a:r>
            <a:r>
              <a:rPr lang="en-US" b="1" dirty="0"/>
              <a:t> 3 </a:t>
            </a:r>
            <a:r>
              <a:rPr lang="en-US" b="1" dirty="0" err="1"/>
              <a:t>pasang</a:t>
            </a:r>
            <a:r>
              <a:rPr lang="en-US" b="1" dirty="0"/>
              <a:t> </a:t>
            </a:r>
            <a:r>
              <a:rPr lang="en-US" b="1" dirty="0" err="1"/>
              <a:t>sisi</a:t>
            </a:r>
            <a:r>
              <a:rPr lang="en-US" b="1" dirty="0"/>
              <a:t> yang </a:t>
            </a:r>
            <a:r>
              <a:rPr lang="en-US" b="1" dirty="0" err="1"/>
              <a:t>saling</a:t>
            </a:r>
            <a:r>
              <a:rPr lang="en-US" b="1" dirty="0"/>
              <a:t> </a:t>
            </a:r>
            <a:r>
              <a:rPr lang="en-US" b="1" dirty="0" err="1"/>
              <a:t>Kongruen</a:t>
            </a:r>
            <a:endParaRPr lang="en-US" b="1" dirty="0"/>
          </a:p>
          <a:p>
            <a:pPr marL="285750" indent="-285750">
              <a:spcBef>
                <a:spcPts val="600"/>
              </a:spcBef>
              <a:buClr>
                <a:schemeClr val="dk1"/>
              </a:buClr>
              <a:buSzPts val="1100"/>
              <a:buFontTx/>
              <a:buChar char="-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2658538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M6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PENGENALAN BANGUN RUANG</a:t>
            </a:r>
            <a:endParaRPr lang="en" b="1" dirty="0" smtClean="0"/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b="1" dirty="0" smtClean="0"/>
              <a:t>3. Tabung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b="1" dirty="0" smtClean="0"/>
              <a:t>Sifat – sifat tabung antara lain 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err="1"/>
              <a:t>Memiliki</a:t>
            </a:r>
            <a:r>
              <a:rPr lang="en-US" b="1" dirty="0"/>
              <a:t> Alas </a:t>
            </a:r>
            <a:r>
              <a:rPr lang="en-US" b="1" dirty="0" err="1"/>
              <a:t>dan</a:t>
            </a:r>
            <a:r>
              <a:rPr lang="en-US" b="1" dirty="0"/>
              <a:t> </a:t>
            </a:r>
            <a:r>
              <a:rPr lang="en-US" b="1" dirty="0" err="1"/>
              <a:t>Tutup</a:t>
            </a:r>
            <a:r>
              <a:rPr lang="en-US" b="1" dirty="0"/>
              <a:t> yang </a:t>
            </a:r>
            <a:r>
              <a:rPr lang="en-US" b="1" dirty="0" err="1"/>
              <a:t>berbentuk</a:t>
            </a:r>
            <a:r>
              <a:rPr lang="en-US" b="1" dirty="0"/>
              <a:t> </a:t>
            </a:r>
            <a:r>
              <a:rPr lang="en-US" b="1" dirty="0" err="1"/>
              <a:t>Lingkaran</a:t>
            </a:r>
            <a:endParaRPr lang="en-US" b="1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err="1"/>
              <a:t>Jarak</a:t>
            </a:r>
            <a:r>
              <a:rPr lang="en-US" b="1" dirty="0"/>
              <a:t> </a:t>
            </a:r>
            <a:r>
              <a:rPr lang="en-US" b="1" dirty="0" err="1"/>
              <a:t>diantara</a:t>
            </a:r>
            <a:r>
              <a:rPr lang="en-US" b="1" dirty="0"/>
              <a:t> </a:t>
            </a:r>
            <a:r>
              <a:rPr lang="en-US" b="1" dirty="0" err="1"/>
              <a:t>lingkaran</a:t>
            </a:r>
            <a:r>
              <a:rPr lang="en-US" b="1" dirty="0"/>
              <a:t> </a:t>
            </a:r>
            <a:r>
              <a:rPr lang="en-US" b="1" dirty="0" err="1"/>
              <a:t>tutup</a:t>
            </a:r>
            <a:r>
              <a:rPr lang="en-US" b="1" dirty="0"/>
              <a:t> </a:t>
            </a:r>
            <a:r>
              <a:rPr lang="en-US" b="1" dirty="0" err="1"/>
              <a:t>dan</a:t>
            </a:r>
            <a:r>
              <a:rPr lang="en-US" b="1" dirty="0"/>
              <a:t> </a:t>
            </a:r>
            <a:r>
              <a:rPr lang="en-US" b="1" dirty="0" err="1"/>
              <a:t>lingkaran</a:t>
            </a:r>
            <a:r>
              <a:rPr lang="en-US" b="1" dirty="0"/>
              <a:t> alas </a:t>
            </a:r>
            <a:r>
              <a:rPr lang="en-US" b="1" dirty="0" err="1"/>
              <a:t>disebut</a:t>
            </a:r>
            <a:r>
              <a:rPr lang="en-US" b="1" dirty="0"/>
              <a:t> </a:t>
            </a:r>
            <a:r>
              <a:rPr lang="en-US" b="1" dirty="0" err="1"/>
              <a:t>juga</a:t>
            </a:r>
            <a:r>
              <a:rPr lang="en-US" b="1" dirty="0"/>
              <a:t> </a:t>
            </a:r>
            <a:r>
              <a:rPr lang="en-US" b="1" dirty="0" err="1"/>
              <a:t>dengan</a:t>
            </a:r>
            <a:r>
              <a:rPr lang="en-US" b="1" dirty="0"/>
              <a:t> </a:t>
            </a:r>
            <a:r>
              <a:rPr lang="en-US" b="1" dirty="0" err="1"/>
              <a:t>tinggi</a:t>
            </a:r>
            <a:r>
              <a:rPr lang="en-US" b="1" dirty="0"/>
              <a:t> </a:t>
            </a:r>
            <a:r>
              <a:rPr lang="en-US" b="1" dirty="0" err="1"/>
              <a:t>tabung</a:t>
            </a:r>
            <a:endParaRPr lang="en-US" b="1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err="1"/>
              <a:t>Jaring</a:t>
            </a:r>
            <a:r>
              <a:rPr lang="en-US" b="1" dirty="0"/>
              <a:t> </a:t>
            </a:r>
            <a:r>
              <a:rPr lang="en-US" b="1" dirty="0" err="1"/>
              <a:t>Jaring</a:t>
            </a:r>
            <a:r>
              <a:rPr lang="en-US" b="1" dirty="0"/>
              <a:t> </a:t>
            </a:r>
            <a:r>
              <a:rPr lang="en-US" b="1" dirty="0" err="1"/>
              <a:t>Tabung</a:t>
            </a:r>
            <a:r>
              <a:rPr lang="en-US" b="1" dirty="0"/>
              <a:t> </a:t>
            </a:r>
            <a:r>
              <a:rPr lang="en-US" b="1" dirty="0" err="1"/>
              <a:t>berupa</a:t>
            </a:r>
            <a:r>
              <a:rPr lang="en-US" b="1" dirty="0"/>
              <a:t> 1 </a:t>
            </a:r>
            <a:r>
              <a:rPr lang="en-US" b="1" dirty="0" err="1"/>
              <a:t>buah</a:t>
            </a:r>
            <a:r>
              <a:rPr lang="en-US" b="1" dirty="0"/>
              <a:t> </a:t>
            </a:r>
            <a:r>
              <a:rPr lang="en-US" b="1" dirty="0" err="1"/>
              <a:t>persegi</a:t>
            </a:r>
            <a:r>
              <a:rPr lang="en-US" b="1" dirty="0"/>
              <a:t> </a:t>
            </a:r>
            <a:r>
              <a:rPr lang="en-US" b="1" dirty="0" err="1"/>
              <a:t>panjang</a:t>
            </a:r>
            <a:r>
              <a:rPr lang="en-US" b="1" dirty="0"/>
              <a:t> </a:t>
            </a:r>
            <a:r>
              <a:rPr lang="en-US" b="1" dirty="0" err="1"/>
              <a:t>dan</a:t>
            </a:r>
            <a:r>
              <a:rPr lang="en-US" b="1" dirty="0"/>
              <a:t> 2 </a:t>
            </a:r>
            <a:r>
              <a:rPr lang="en-US" b="1" dirty="0" err="1"/>
              <a:t>buah</a:t>
            </a:r>
            <a:r>
              <a:rPr lang="en-US" b="1" dirty="0"/>
              <a:t> </a:t>
            </a:r>
            <a:r>
              <a:rPr lang="en-US" b="1" dirty="0" err="1"/>
              <a:t>lingkaran</a:t>
            </a:r>
            <a:endParaRPr lang="en-US" b="1" dirty="0"/>
          </a:p>
          <a:p>
            <a:pPr marL="285750" indent="-285750">
              <a:spcBef>
                <a:spcPts val="600"/>
              </a:spcBef>
              <a:buClr>
                <a:schemeClr val="dk1"/>
              </a:buClr>
              <a:buSzPts val="1100"/>
              <a:buFontTx/>
              <a:buChar char="-"/>
            </a:pPr>
            <a:endParaRPr lang="en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b="1" dirty="0" smtClean="0"/>
              <a:t>4. Kerucut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b="1" dirty="0"/>
              <a:t>Sifat – sifat  </a:t>
            </a:r>
            <a:r>
              <a:rPr lang="en" b="1" dirty="0" smtClean="0"/>
              <a:t>kerucut </a:t>
            </a:r>
            <a:r>
              <a:rPr lang="en" b="1" dirty="0"/>
              <a:t>antara lain 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err="1"/>
              <a:t>Mempunyai</a:t>
            </a:r>
            <a:r>
              <a:rPr lang="en-US" b="1" dirty="0"/>
              <a:t> 1 </a:t>
            </a:r>
            <a:r>
              <a:rPr lang="en-US" b="1" dirty="0" err="1"/>
              <a:t>Buah</a:t>
            </a:r>
            <a:r>
              <a:rPr lang="en-US" b="1" dirty="0"/>
              <a:t> </a:t>
            </a:r>
            <a:r>
              <a:rPr lang="en-US" b="1" dirty="0" err="1"/>
              <a:t>Titik</a:t>
            </a:r>
            <a:r>
              <a:rPr lang="en-US" b="1" dirty="0"/>
              <a:t> </a:t>
            </a:r>
            <a:r>
              <a:rPr lang="en-US" b="1" dirty="0" err="1"/>
              <a:t>Sudut</a:t>
            </a:r>
            <a:endParaRPr lang="en-US" b="1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err="1"/>
              <a:t>Mempunyai</a:t>
            </a:r>
            <a:r>
              <a:rPr lang="en-US" b="1" dirty="0"/>
              <a:t> 1 </a:t>
            </a:r>
            <a:r>
              <a:rPr lang="en-US" b="1" dirty="0" err="1"/>
              <a:t>Buah</a:t>
            </a:r>
            <a:r>
              <a:rPr lang="en-US" b="1" dirty="0"/>
              <a:t> </a:t>
            </a:r>
            <a:r>
              <a:rPr lang="en-US" b="1" dirty="0" err="1"/>
              <a:t>Rusuk</a:t>
            </a:r>
            <a:r>
              <a:rPr lang="en-US" b="1" dirty="0"/>
              <a:t> </a:t>
            </a:r>
            <a:r>
              <a:rPr lang="en-US" b="1" dirty="0" err="1"/>
              <a:t>Sudut</a:t>
            </a:r>
            <a:endParaRPr lang="en-US" b="1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err="1"/>
              <a:t>Mempunyai</a:t>
            </a:r>
            <a:r>
              <a:rPr lang="en-US" b="1" dirty="0"/>
              <a:t> 2 </a:t>
            </a:r>
            <a:r>
              <a:rPr lang="en-US" b="1" dirty="0" err="1"/>
              <a:t>Buah</a:t>
            </a:r>
            <a:r>
              <a:rPr lang="en-US" b="1" dirty="0"/>
              <a:t> </a:t>
            </a:r>
            <a:r>
              <a:rPr lang="en-US" b="1" dirty="0" err="1"/>
              <a:t>Sisi</a:t>
            </a:r>
            <a:r>
              <a:rPr lang="en-US" b="1" dirty="0"/>
              <a:t> yang </a:t>
            </a:r>
            <a:r>
              <a:rPr lang="en-US" b="1" dirty="0" err="1"/>
              <a:t>terbagi</a:t>
            </a:r>
            <a:r>
              <a:rPr lang="en-US" b="1" dirty="0"/>
              <a:t> </a:t>
            </a:r>
            <a:r>
              <a:rPr lang="en-US" b="1" dirty="0" err="1"/>
              <a:t>antara</a:t>
            </a:r>
            <a:r>
              <a:rPr lang="en-US" b="1" dirty="0"/>
              <a:t> 1 </a:t>
            </a:r>
            <a:r>
              <a:rPr lang="en-US" b="1" dirty="0" err="1"/>
              <a:t>sisi</a:t>
            </a:r>
            <a:r>
              <a:rPr lang="en-US" b="1" dirty="0"/>
              <a:t> </a:t>
            </a:r>
            <a:r>
              <a:rPr lang="en-US" b="1" dirty="0" err="1"/>
              <a:t>merupakan</a:t>
            </a:r>
            <a:r>
              <a:rPr lang="en-US" b="1" dirty="0"/>
              <a:t> alas </a:t>
            </a:r>
            <a:r>
              <a:rPr lang="en-US" b="1" dirty="0" err="1"/>
              <a:t>yg</a:t>
            </a:r>
            <a:r>
              <a:rPr lang="en-US" b="1" dirty="0"/>
              <a:t> </a:t>
            </a:r>
            <a:r>
              <a:rPr lang="en-US" b="1" dirty="0" err="1"/>
              <a:t>dibentuk</a:t>
            </a:r>
            <a:r>
              <a:rPr lang="en-US" b="1" dirty="0"/>
              <a:t> </a:t>
            </a:r>
            <a:r>
              <a:rPr lang="en-US" b="1" dirty="0" err="1"/>
              <a:t>oleh</a:t>
            </a:r>
            <a:r>
              <a:rPr lang="en-US" b="1" dirty="0"/>
              <a:t> </a:t>
            </a:r>
            <a:r>
              <a:rPr lang="en-US" b="1" dirty="0" err="1"/>
              <a:t>lingkaran</a:t>
            </a:r>
            <a:r>
              <a:rPr lang="en-US" b="1" dirty="0"/>
              <a:t> </a:t>
            </a:r>
            <a:r>
              <a:rPr lang="en-US" b="1" dirty="0" err="1"/>
              <a:t>dan</a:t>
            </a:r>
            <a:r>
              <a:rPr lang="en-US" b="1" dirty="0"/>
              <a:t> 1 </a:t>
            </a:r>
            <a:r>
              <a:rPr lang="en-US" b="1" dirty="0" err="1"/>
              <a:t>buah</a:t>
            </a:r>
            <a:r>
              <a:rPr lang="en-US" b="1" dirty="0"/>
              <a:t> </a:t>
            </a:r>
            <a:r>
              <a:rPr lang="en-US" b="1" dirty="0" err="1"/>
              <a:t>sisinya</a:t>
            </a:r>
            <a:r>
              <a:rPr lang="en-US" b="1" dirty="0"/>
              <a:t> </a:t>
            </a:r>
            <a:r>
              <a:rPr lang="en-US" b="1" dirty="0" err="1"/>
              <a:t>lagi</a:t>
            </a:r>
            <a:r>
              <a:rPr lang="en-US" b="1" dirty="0"/>
              <a:t> </a:t>
            </a:r>
            <a:r>
              <a:rPr lang="en-US" b="1" dirty="0" err="1"/>
              <a:t>merupakan</a:t>
            </a:r>
            <a:r>
              <a:rPr lang="en-US" b="1" dirty="0"/>
              <a:t> </a:t>
            </a:r>
            <a:r>
              <a:rPr lang="en-US" b="1" dirty="0" err="1"/>
              <a:t>sisi</a:t>
            </a:r>
            <a:r>
              <a:rPr lang="en-US" b="1" dirty="0"/>
              <a:t> </a:t>
            </a:r>
            <a:r>
              <a:rPr lang="en-US" b="1" dirty="0" err="1"/>
              <a:t>kerucut</a:t>
            </a:r>
            <a:r>
              <a:rPr lang="en-US" b="1" dirty="0"/>
              <a:t> (</a:t>
            </a:r>
            <a:r>
              <a:rPr lang="en-US" b="1" dirty="0" err="1"/>
              <a:t>Sisi</a:t>
            </a:r>
            <a:r>
              <a:rPr lang="en-US" b="1" dirty="0"/>
              <a:t> </a:t>
            </a:r>
            <a:r>
              <a:rPr lang="en-US" b="1" dirty="0" err="1"/>
              <a:t>Lengkung</a:t>
            </a:r>
            <a:r>
              <a:rPr lang="en-US" b="1" dirty="0"/>
              <a:t>).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2527878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M6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PENGENALAN BANGUN RUANG</a:t>
            </a:r>
            <a:endParaRPr lang="en" b="1" dirty="0" smtClean="0"/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b="1" dirty="0" smtClean="0"/>
              <a:t>5. Bola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b="1" dirty="0" smtClean="0"/>
              <a:t>Sifat – sifat bola antara lain 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err="1"/>
              <a:t>Mempunyai</a:t>
            </a:r>
            <a:r>
              <a:rPr lang="en-US" b="1" dirty="0"/>
              <a:t> 1 </a:t>
            </a:r>
            <a:r>
              <a:rPr lang="en-US" b="1" dirty="0" err="1"/>
              <a:t>buah</a:t>
            </a:r>
            <a:r>
              <a:rPr lang="en-US" b="1" dirty="0"/>
              <a:t> </a:t>
            </a:r>
            <a:r>
              <a:rPr lang="en-US" b="1" dirty="0" err="1"/>
              <a:t>sisi</a:t>
            </a:r>
            <a:endParaRPr lang="en-US" b="1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err="1"/>
              <a:t>Mempunyai</a:t>
            </a:r>
            <a:r>
              <a:rPr lang="en-US" b="1" dirty="0"/>
              <a:t> 1 </a:t>
            </a:r>
            <a:r>
              <a:rPr lang="en-US" b="1" dirty="0" err="1"/>
              <a:t>buah</a:t>
            </a:r>
            <a:r>
              <a:rPr lang="en-US" b="1" dirty="0"/>
              <a:t> </a:t>
            </a:r>
            <a:r>
              <a:rPr lang="en-US" b="1" dirty="0" err="1"/>
              <a:t>titik</a:t>
            </a:r>
            <a:r>
              <a:rPr lang="en-US" b="1" dirty="0"/>
              <a:t> </a:t>
            </a:r>
            <a:r>
              <a:rPr lang="en-US" b="1" dirty="0" err="1"/>
              <a:t>pusat</a:t>
            </a:r>
            <a:endParaRPr lang="en-US" b="1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err="1"/>
              <a:t>Tidak</a:t>
            </a:r>
            <a:r>
              <a:rPr lang="en-US" b="1" dirty="0"/>
              <a:t> </a:t>
            </a:r>
            <a:r>
              <a:rPr lang="en-US" b="1" dirty="0" err="1"/>
              <a:t>mempunyai</a:t>
            </a:r>
            <a:r>
              <a:rPr lang="en-US" b="1" dirty="0"/>
              <a:t> </a:t>
            </a:r>
            <a:r>
              <a:rPr lang="en-US" b="1" dirty="0" err="1"/>
              <a:t>titik</a:t>
            </a:r>
            <a:r>
              <a:rPr lang="en-US" b="1" dirty="0"/>
              <a:t> </a:t>
            </a:r>
            <a:r>
              <a:rPr lang="en-US" b="1" dirty="0" err="1"/>
              <a:t>sudut</a:t>
            </a:r>
            <a:endParaRPr lang="en-US" b="1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err="1"/>
              <a:t>Mempunyai</a:t>
            </a:r>
            <a:r>
              <a:rPr lang="en-US" b="1" dirty="0"/>
              <a:t> </a:t>
            </a:r>
            <a:r>
              <a:rPr lang="en-US" b="1" dirty="0" err="1"/>
              <a:t>jari</a:t>
            </a:r>
            <a:r>
              <a:rPr lang="en-US" b="1" dirty="0"/>
              <a:t> </a:t>
            </a:r>
            <a:r>
              <a:rPr lang="en-US" b="1" dirty="0" err="1"/>
              <a:t>jari</a:t>
            </a:r>
            <a:r>
              <a:rPr lang="en-US" b="1" dirty="0"/>
              <a:t> </a:t>
            </a:r>
            <a:r>
              <a:rPr lang="en-US" b="1" dirty="0" err="1"/>
              <a:t>yg</a:t>
            </a:r>
            <a:r>
              <a:rPr lang="en-US" b="1" dirty="0"/>
              <a:t> </a:t>
            </a:r>
            <a:r>
              <a:rPr lang="en-US" b="1" dirty="0" err="1"/>
              <a:t>tak</a:t>
            </a:r>
            <a:r>
              <a:rPr lang="en-US" b="1" dirty="0"/>
              <a:t> </a:t>
            </a:r>
            <a:r>
              <a:rPr lang="en-US" b="1" dirty="0" err="1"/>
              <a:t>terhingga</a:t>
            </a:r>
            <a:r>
              <a:rPr lang="en-US" b="1" dirty="0"/>
              <a:t> </a:t>
            </a:r>
            <a:r>
              <a:rPr lang="en-US" b="1" dirty="0" err="1"/>
              <a:t>dan</a:t>
            </a:r>
            <a:r>
              <a:rPr lang="en-US" b="1" dirty="0"/>
              <a:t> </a:t>
            </a:r>
            <a:r>
              <a:rPr lang="en-US" b="1" dirty="0" err="1"/>
              <a:t>semuanya</a:t>
            </a:r>
            <a:r>
              <a:rPr lang="en-US" b="1" dirty="0"/>
              <a:t> </a:t>
            </a:r>
            <a:r>
              <a:rPr lang="en-US" b="1" dirty="0" err="1"/>
              <a:t>itu</a:t>
            </a:r>
            <a:r>
              <a:rPr lang="en-US" b="1" dirty="0"/>
              <a:t> </a:t>
            </a:r>
            <a:r>
              <a:rPr lang="en-US" b="1" dirty="0" err="1"/>
              <a:t>sama</a:t>
            </a:r>
            <a:r>
              <a:rPr lang="en-US" b="1" dirty="0"/>
              <a:t> </a:t>
            </a:r>
            <a:r>
              <a:rPr lang="en-US" b="1" dirty="0" err="1"/>
              <a:t>panjang</a:t>
            </a:r>
            <a:endParaRPr lang="en-US" b="1" dirty="0"/>
          </a:p>
          <a:p>
            <a:pPr marL="285750" indent="-285750">
              <a:spcBef>
                <a:spcPts val="600"/>
              </a:spcBef>
              <a:buClr>
                <a:schemeClr val="dk1"/>
              </a:buClr>
              <a:buSzPts val="1100"/>
              <a:buFontTx/>
              <a:buChar char="-"/>
            </a:pPr>
            <a:endParaRPr lang="en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b="1" dirty="0" smtClean="0"/>
              <a:t>6. Prima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b="1" dirty="0"/>
              <a:t>Sifat – sifat  </a:t>
            </a:r>
            <a:r>
              <a:rPr lang="en" b="1" dirty="0" smtClean="0"/>
              <a:t>prisma antara </a:t>
            </a:r>
            <a:r>
              <a:rPr lang="en" b="1" dirty="0"/>
              <a:t>lain 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err="1"/>
              <a:t>Memiliki</a:t>
            </a:r>
            <a:r>
              <a:rPr lang="en-US" b="1" dirty="0"/>
              <a:t> 6 </a:t>
            </a:r>
            <a:r>
              <a:rPr lang="en-US" b="1" dirty="0" err="1"/>
              <a:t>buah</a:t>
            </a:r>
            <a:r>
              <a:rPr lang="en-US" b="1" dirty="0"/>
              <a:t> </a:t>
            </a:r>
            <a:r>
              <a:rPr lang="en-US" b="1" dirty="0" err="1"/>
              <a:t>titik</a:t>
            </a:r>
            <a:r>
              <a:rPr lang="en-US" b="1" dirty="0"/>
              <a:t> </a:t>
            </a:r>
            <a:r>
              <a:rPr lang="en-US" b="1" dirty="0" err="1"/>
              <a:t>sudut</a:t>
            </a:r>
            <a:endParaRPr lang="en-US" b="1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err="1"/>
              <a:t>Memiliki</a:t>
            </a:r>
            <a:r>
              <a:rPr lang="en-US" b="1" dirty="0"/>
              <a:t> 9 </a:t>
            </a:r>
            <a:r>
              <a:rPr lang="en-US" b="1" dirty="0" err="1"/>
              <a:t>buah</a:t>
            </a:r>
            <a:r>
              <a:rPr lang="en-US" b="1" dirty="0"/>
              <a:t> </a:t>
            </a:r>
            <a:r>
              <a:rPr lang="en-US" b="1" dirty="0" err="1"/>
              <a:t>rusuk</a:t>
            </a:r>
            <a:endParaRPr lang="en-US" b="1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err="1"/>
              <a:t>Jaring</a:t>
            </a:r>
            <a:r>
              <a:rPr lang="en-US" b="1" dirty="0"/>
              <a:t> – </a:t>
            </a:r>
            <a:r>
              <a:rPr lang="en-US" b="1" dirty="0" err="1"/>
              <a:t>Jaring</a:t>
            </a:r>
            <a:r>
              <a:rPr lang="en-US" b="1" dirty="0"/>
              <a:t> </a:t>
            </a:r>
            <a:r>
              <a:rPr lang="en-US" b="1" dirty="0" err="1"/>
              <a:t>Bangun</a:t>
            </a:r>
            <a:r>
              <a:rPr lang="en-US" b="1" dirty="0"/>
              <a:t> </a:t>
            </a:r>
            <a:r>
              <a:rPr lang="en-US" b="1" dirty="0" err="1"/>
              <a:t>Ruang</a:t>
            </a:r>
            <a:r>
              <a:rPr lang="en-US" b="1" dirty="0"/>
              <a:t> </a:t>
            </a:r>
            <a:r>
              <a:rPr lang="en-US" b="1" dirty="0" err="1"/>
              <a:t>Prisma</a:t>
            </a:r>
            <a:r>
              <a:rPr lang="en-US" b="1" dirty="0"/>
              <a:t> </a:t>
            </a:r>
            <a:r>
              <a:rPr lang="en-US" b="1" dirty="0" err="1"/>
              <a:t>berupa</a:t>
            </a:r>
            <a:r>
              <a:rPr lang="en-US" b="1" dirty="0"/>
              <a:t> 2 </a:t>
            </a:r>
            <a:r>
              <a:rPr lang="en-US" b="1" dirty="0" err="1"/>
              <a:t>segitiga</a:t>
            </a:r>
            <a:r>
              <a:rPr lang="en-US" b="1" dirty="0"/>
              <a:t> </a:t>
            </a:r>
            <a:r>
              <a:rPr lang="en-US" b="1" dirty="0" err="1"/>
              <a:t>dan</a:t>
            </a:r>
            <a:r>
              <a:rPr lang="en-US" b="1" dirty="0"/>
              <a:t> 3 </a:t>
            </a:r>
            <a:r>
              <a:rPr lang="en-US" b="1" dirty="0" err="1"/>
              <a:t>buah</a:t>
            </a:r>
            <a:r>
              <a:rPr lang="en-US" b="1" dirty="0"/>
              <a:t> </a:t>
            </a:r>
            <a:r>
              <a:rPr lang="en-US" b="1" dirty="0" err="1"/>
              <a:t>persegi</a:t>
            </a:r>
            <a:r>
              <a:rPr lang="en-US" b="1" dirty="0"/>
              <a:t> </a:t>
            </a:r>
            <a:r>
              <a:rPr lang="en-US" b="1" dirty="0" err="1"/>
              <a:t>panjang</a:t>
            </a:r>
            <a:endParaRPr lang="en-US" b="1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err="1"/>
              <a:t>Mempunyai</a:t>
            </a:r>
            <a:r>
              <a:rPr lang="en-US" b="1" dirty="0"/>
              <a:t> 5 </a:t>
            </a:r>
            <a:r>
              <a:rPr lang="en-US" b="1" dirty="0" err="1"/>
              <a:t>buah</a:t>
            </a:r>
            <a:r>
              <a:rPr lang="en-US" b="1" dirty="0"/>
              <a:t> </a:t>
            </a:r>
            <a:r>
              <a:rPr lang="en-US" b="1" dirty="0" err="1"/>
              <a:t>bidang</a:t>
            </a:r>
            <a:r>
              <a:rPr lang="en-US" b="1" dirty="0"/>
              <a:t> </a:t>
            </a:r>
            <a:r>
              <a:rPr lang="en-US" b="1" dirty="0" err="1"/>
              <a:t>sisi</a:t>
            </a:r>
            <a:r>
              <a:rPr lang="en-US" b="1" dirty="0"/>
              <a:t> yang </a:t>
            </a:r>
            <a:r>
              <a:rPr lang="en-US" b="1" dirty="0" err="1"/>
              <a:t>terbagi</a:t>
            </a:r>
            <a:r>
              <a:rPr lang="en-US" b="1" dirty="0"/>
              <a:t> </a:t>
            </a:r>
            <a:r>
              <a:rPr lang="en-US" b="1" dirty="0" err="1"/>
              <a:t>menjadi</a:t>
            </a:r>
            <a:r>
              <a:rPr lang="en-US" b="1" dirty="0"/>
              <a:t> 2 </a:t>
            </a:r>
            <a:r>
              <a:rPr lang="en-US" b="1" dirty="0" err="1"/>
              <a:t>buah</a:t>
            </a:r>
            <a:r>
              <a:rPr lang="en-US" b="1" dirty="0"/>
              <a:t> </a:t>
            </a:r>
            <a:r>
              <a:rPr lang="en-US" b="1" dirty="0" err="1"/>
              <a:t>sisi</a:t>
            </a:r>
            <a:r>
              <a:rPr lang="en-US" b="1" dirty="0"/>
              <a:t> </a:t>
            </a:r>
            <a:r>
              <a:rPr lang="en-US" b="1" dirty="0" err="1"/>
              <a:t>berbentuk</a:t>
            </a:r>
            <a:r>
              <a:rPr lang="en-US" b="1" dirty="0"/>
              <a:t> </a:t>
            </a:r>
            <a:r>
              <a:rPr lang="en-US" b="1" dirty="0" err="1"/>
              <a:t>segitiga</a:t>
            </a:r>
            <a:r>
              <a:rPr lang="en-US" b="1" dirty="0"/>
              <a:t> </a:t>
            </a:r>
            <a:r>
              <a:rPr lang="en-US" b="1" dirty="0" err="1"/>
              <a:t>serta</a:t>
            </a:r>
            <a:r>
              <a:rPr lang="en-US" b="1" dirty="0"/>
              <a:t> 3 </a:t>
            </a:r>
            <a:r>
              <a:rPr lang="en-US" b="1" dirty="0" err="1"/>
              <a:t>sisi</a:t>
            </a:r>
            <a:r>
              <a:rPr lang="en-US" b="1" dirty="0"/>
              <a:t> </a:t>
            </a:r>
            <a:r>
              <a:rPr lang="en-US" b="1" dirty="0" err="1"/>
              <a:t>yg</a:t>
            </a:r>
            <a:r>
              <a:rPr lang="en-US" b="1" dirty="0"/>
              <a:t> </a:t>
            </a:r>
            <a:r>
              <a:rPr lang="en-US" b="1" dirty="0" err="1"/>
              <a:t>berbentuk</a:t>
            </a:r>
            <a:r>
              <a:rPr lang="en-US" b="1" dirty="0"/>
              <a:t> </a:t>
            </a:r>
            <a:r>
              <a:rPr lang="en-US" b="1" dirty="0" err="1"/>
              <a:t>segi</a:t>
            </a:r>
            <a:r>
              <a:rPr lang="en-US" b="1" dirty="0"/>
              <a:t> </a:t>
            </a:r>
            <a:r>
              <a:rPr lang="en-US" b="1" dirty="0" err="1"/>
              <a:t>empat</a:t>
            </a:r>
            <a:endParaRPr lang="en-US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3462272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M6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PENGENALAN BANGUN RUANG</a:t>
            </a:r>
            <a:endParaRPr lang="en" b="1" dirty="0" smtClean="0"/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b="1" dirty="0" smtClean="0"/>
              <a:t>7. Limas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b="1" dirty="0" smtClean="0"/>
              <a:t>Sifat – sifat limas antara lain 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err="1"/>
              <a:t>Memiliki</a:t>
            </a:r>
            <a:r>
              <a:rPr lang="en-US" b="1" dirty="0"/>
              <a:t> 5 </a:t>
            </a:r>
            <a:r>
              <a:rPr lang="en-US" b="1" dirty="0" err="1"/>
              <a:t>titik</a:t>
            </a:r>
            <a:r>
              <a:rPr lang="en-US" b="1" dirty="0"/>
              <a:t> </a:t>
            </a:r>
            <a:r>
              <a:rPr lang="en-US" b="1" dirty="0" err="1"/>
              <a:t>sudut</a:t>
            </a:r>
            <a:endParaRPr lang="en-US" b="1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err="1"/>
              <a:t>Memiliki</a:t>
            </a:r>
            <a:r>
              <a:rPr lang="en-US" b="1" dirty="0"/>
              <a:t> 6 </a:t>
            </a:r>
            <a:r>
              <a:rPr lang="en-US" b="1" dirty="0" err="1"/>
              <a:t>rusuk</a:t>
            </a:r>
            <a:endParaRPr lang="en-US" b="1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err="1"/>
              <a:t>Memiliki</a:t>
            </a:r>
            <a:r>
              <a:rPr lang="en-US" b="1" dirty="0"/>
              <a:t> Alas yang </a:t>
            </a:r>
            <a:r>
              <a:rPr lang="en-US" b="1" dirty="0" err="1"/>
              <a:t>berbentuk</a:t>
            </a:r>
            <a:r>
              <a:rPr lang="en-US" b="1" dirty="0"/>
              <a:t> </a:t>
            </a:r>
            <a:r>
              <a:rPr lang="en-US" b="1" dirty="0" err="1"/>
              <a:t>segitiga</a:t>
            </a:r>
            <a:endParaRPr lang="en-US" b="1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err="1"/>
              <a:t>Memiliki</a:t>
            </a:r>
            <a:r>
              <a:rPr lang="en-US" b="1" dirty="0"/>
              <a:t> 4 </a:t>
            </a:r>
            <a:r>
              <a:rPr lang="en-US" b="1" dirty="0" err="1"/>
              <a:t>bidang</a:t>
            </a:r>
            <a:r>
              <a:rPr lang="en-US" b="1" dirty="0"/>
              <a:t> </a:t>
            </a:r>
            <a:r>
              <a:rPr lang="en-US" b="1" dirty="0" err="1"/>
              <a:t>sisi</a:t>
            </a:r>
            <a:r>
              <a:rPr lang="en-US" b="1" dirty="0"/>
              <a:t> </a:t>
            </a:r>
            <a:r>
              <a:rPr lang="en-US" b="1" dirty="0" err="1"/>
              <a:t>yg</a:t>
            </a:r>
            <a:r>
              <a:rPr lang="en-US" b="1" dirty="0"/>
              <a:t> </a:t>
            </a:r>
            <a:r>
              <a:rPr lang="en-US" b="1" dirty="0" err="1"/>
              <a:t>seluruh-nya</a:t>
            </a:r>
            <a:r>
              <a:rPr lang="en-US" b="1" dirty="0"/>
              <a:t> </a:t>
            </a:r>
            <a:r>
              <a:rPr lang="en-US" b="1" dirty="0" err="1"/>
              <a:t>terbentuk</a:t>
            </a:r>
            <a:r>
              <a:rPr lang="en-US" b="1" dirty="0"/>
              <a:t> </a:t>
            </a:r>
            <a:r>
              <a:rPr lang="en-US" b="1" dirty="0" err="1"/>
              <a:t>segitiga</a:t>
            </a:r>
            <a:r>
              <a:rPr lang="en-US" b="1" dirty="0"/>
              <a:t> yang </a:t>
            </a:r>
            <a:r>
              <a:rPr lang="en-US" b="1" dirty="0" err="1"/>
              <a:t>terbagi</a:t>
            </a:r>
            <a:r>
              <a:rPr lang="en-US" b="1" dirty="0"/>
              <a:t> </a:t>
            </a:r>
            <a:r>
              <a:rPr lang="en-US" b="1" dirty="0" err="1"/>
              <a:t>antara</a:t>
            </a:r>
            <a:r>
              <a:rPr lang="en-US" b="1" dirty="0"/>
              <a:t> 1 </a:t>
            </a:r>
            <a:r>
              <a:rPr lang="en-US" b="1" dirty="0" err="1"/>
              <a:t>buah</a:t>
            </a:r>
            <a:r>
              <a:rPr lang="en-US" b="1" dirty="0"/>
              <a:t> alas </a:t>
            </a:r>
            <a:r>
              <a:rPr lang="en-US" b="1" dirty="0" err="1"/>
              <a:t>dan</a:t>
            </a:r>
            <a:r>
              <a:rPr lang="en-US" b="1" dirty="0"/>
              <a:t> 3 </a:t>
            </a:r>
            <a:r>
              <a:rPr lang="en-US" b="1" dirty="0" err="1"/>
              <a:t>buah</a:t>
            </a:r>
            <a:r>
              <a:rPr lang="en-US" b="1" dirty="0"/>
              <a:t> </a:t>
            </a:r>
            <a:r>
              <a:rPr lang="en-US" b="1" dirty="0" err="1"/>
              <a:t>sisi</a:t>
            </a:r>
            <a:r>
              <a:rPr lang="en-US" b="1" dirty="0"/>
              <a:t> </a:t>
            </a:r>
            <a:r>
              <a:rPr lang="en-US" b="1" dirty="0" err="1"/>
              <a:t>tegak</a:t>
            </a:r>
            <a:endParaRPr lang="en-US" b="1" dirty="0"/>
          </a:p>
          <a:p>
            <a:pPr marL="285750" indent="-285750">
              <a:spcBef>
                <a:spcPts val="600"/>
              </a:spcBef>
              <a:buClr>
                <a:schemeClr val="dk1"/>
              </a:buClr>
              <a:buSzPts val="1100"/>
              <a:buFontTx/>
              <a:buChar char="-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1533577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got template">
  <a:themeElements>
    <a:clrScheme name="Custom 347">
      <a:dk1>
        <a:srgbClr val="143C55"/>
      </a:dk1>
      <a:lt1>
        <a:srgbClr val="FFFFFF"/>
      </a:lt1>
      <a:dk2>
        <a:srgbClr val="748C9C"/>
      </a:dk2>
      <a:lt2>
        <a:srgbClr val="F7F9EA"/>
      </a:lt2>
      <a:accent1>
        <a:srgbClr val="FEAB19"/>
      </a:accent1>
      <a:accent2>
        <a:srgbClr val="85CE5B"/>
      </a:accent2>
      <a:accent3>
        <a:srgbClr val="65C5DB"/>
      </a:accent3>
      <a:accent4>
        <a:srgbClr val="7D7FD0"/>
      </a:accent4>
      <a:accent5>
        <a:srgbClr val="FA7F99"/>
      </a:accent5>
      <a:accent6>
        <a:srgbClr val="FF4E45"/>
      </a:accent6>
      <a:hlink>
        <a:srgbClr val="265775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891</Words>
  <Application>Microsoft Office PowerPoint</Application>
  <PresentationFormat>On-screen Show (16:9)</PresentationFormat>
  <Paragraphs>276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Bellota Text Light</vt:lpstr>
      <vt:lpstr>Catamaran ExtraBold</vt:lpstr>
      <vt:lpstr>Catamaran</vt:lpstr>
      <vt:lpstr>Bagot template</vt:lpstr>
      <vt:lpstr>Matematika  SD Kelas 5</vt:lpstr>
      <vt:lpstr>PowerPoint Presentation</vt:lpstr>
      <vt:lpstr>M1 Bilangan</vt:lpstr>
      <vt:lpstr>M1 Bilangan</vt:lpstr>
      <vt:lpstr>M1 Bilangan</vt:lpstr>
      <vt:lpstr>M1 Bilangan</vt:lpstr>
      <vt:lpstr>M1 Bilangan</vt:lpstr>
      <vt:lpstr>PowerPoint Presentation</vt:lpstr>
      <vt:lpstr>M2 Satuan Ukur</vt:lpstr>
      <vt:lpstr>M2 Satuan Ukur</vt:lpstr>
      <vt:lpstr>M2 Satuan Ukur</vt:lpstr>
      <vt:lpstr>PowerPoint Presentation</vt:lpstr>
      <vt:lpstr>M3</vt:lpstr>
      <vt:lpstr>M3</vt:lpstr>
      <vt:lpstr>PowerPoint Presentation</vt:lpstr>
      <vt:lpstr>M4</vt:lpstr>
      <vt:lpstr>M4</vt:lpstr>
      <vt:lpstr>M4</vt:lpstr>
      <vt:lpstr>M5 KELIPATAN DAN FAKTOR</vt:lpstr>
      <vt:lpstr>M5</vt:lpstr>
      <vt:lpstr>M5</vt:lpstr>
      <vt:lpstr>M6 MENGENAL BANGUN RUANG</vt:lpstr>
      <vt:lpstr>M6</vt:lpstr>
      <vt:lpstr>M6</vt:lpstr>
      <vt:lpstr>M6</vt:lpstr>
      <vt:lpstr>M6</vt:lpstr>
      <vt:lpstr>M6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Matematika  SD Kelas 5</dc:title>
  <dc:creator>ASUS</dc:creator>
  <cp:lastModifiedBy>ismail - [2010]</cp:lastModifiedBy>
  <cp:revision>29</cp:revision>
  <dcterms:modified xsi:type="dcterms:W3CDTF">2020-07-15T13:57:39Z</dcterms:modified>
</cp:coreProperties>
</file>