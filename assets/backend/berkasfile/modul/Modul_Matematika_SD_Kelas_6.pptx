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3"/>
  </p:notesMasterIdLst>
  <p:sldIdLst>
    <p:sldId id="259" r:id="rId2"/>
    <p:sldId id="267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</p:sldIdLst>
  <p:sldSz cx="9144000" cy="5143500" type="screen16x9"/>
  <p:notesSz cx="6858000" cy="9144000"/>
  <p:embeddedFontLst>
    <p:embeddedFont>
      <p:font typeface="Catamaran" charset="0"/>
      <p:regular r:id="rId14"/>
      <p:bold r:id="rId15"/>
    </p:embeddedFont>
    <p:embeddedFont>
      <p:font typeface="Bellota Text Light" charset="0"/>
      <p:regular r:id="rId16"/>
      <p:bold r:id="rId17"/>
      <p:italic r:id="rId18"/>
      <p:boldItalic r:id="rId19"/>
    </p:embeddedFont>
    <p:embeddedFont>
      <p:font typeface="Catamaran ExtraBold" charset="0"/>
      <p:bold r:id="rId20"/>
    </p:embeddedFont>
    <p:embeddedFont>
      <p:font typeface="Cambria Math" pitchFamily="18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7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Penggunaan Sifat-Sifat Operasi Hitung</a:t>
            </a:r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S</a:t>
            </a:r>
            <a:r>
              <a:rPr lang="en-US" sz="1200" b="1" dirty="0" smtClean="0"/>
              <a:t>i</a:t>
            </a:r>
            <a:r>
              <a:rPr lang="en" sz="1200" b="1" dirty="0" smtClean="0"/>
              <a:t>fat Komunikatif (Pertukaran)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Penjumlahan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56 + 64 = 120 dan 64 + 56 = 120 sehingga 26 +64 = 64 +56.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Perkalian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12 x 24 = 288 dan 24 x 12=288 sehingga 12 x 24 = 24 x 12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Sifat Asosiatif (Pengelompokan)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Penjumlahan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Secara umum sifat asosiatif pada penjumlahan dapat ditulis : (a+b) +c = a+ (b+c)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Perkalian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/>
              <a:t>Secara umum sifat asosiatif pada penjumlahan dapat ditulis : (</a:t>
            </a:r>
            <a:r>
              <a:rPr lang="en" sz="1200" b="1" dirty="0" smtClean="0"/>
              <a:t>axb</a:t>
            </a:r>
            <a:r>
              <a:rPr lang="en" sz="1200" b="1" dirty="0"/>
              <a:t>) </a:t>
            </a:r>
            <a:r>
              <a:rPr lang="en" sz="1200" b="1" dirty="0" smtClean="0"/>
              <a:t>xc </a:t>
            </a:r>
            <a:r>
              <a:rPr lang="en" sz="1200" b="1" dirty="0"/>
              <a:t>= </a:t>
            </a:r>
            <a:r>
              <a:rPr lang="en" sz="1200" b="1" dirty="0" smtClean="0"/>
              <a:t>ax </a:t>
            </a:r>
            <a:r>
              <a:rPr lang="en" sz="1200" b="1" dirty="0"/>
              <a:t>(</a:t>
            </a:r>
            <a:r>
              <a:rPr lang="en" sz="1200" b="1" dirty="0" smtClean="0"/>
              <a:t>bxc</a:t>
            </a:r>
            <a:r>
              <a:rPr lang="en" b="1" dirty="0"/>
              <a:t>)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Penggunaan Sifat-Sifat Operasi Hitung</a:t>
            </a:r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3. Sifat Distributif (Penyebaran)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Secara umum sifat distributif pada penjumlahan dan pengurangan: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a</a:t>
            </a:r>
            <a:r>
              <a:rPr lang="en" sz="1200" b="1" dirty="0" smtClean="0"/>
              <a:t> x (b + c) = (a x b) + (a x c)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a</a:t>
            </a:r>
            <a:r>
              <a:rPr lang="en" sz="1200" b="1" dirty="0" smtClean="0"/>
              <a:t> x (b - c) = (a x b) – (a x c)</a:t>
            </a:r>
          </a:p>
          <a:p>
            <a:pPr marL="171450" indent="-171450">
              <a:spcBef>
                <a:spcPts val="600"/>
              </a:spcBef>
              <a:buClr>
                <a:schemeClr val="dk1"/>
              </a:buClr>
              <a:buSzPts val="1100"/>
              <a:buFontTx/>
              <a:buChar char="-"/>
            </a:pPr>
            <a:r>
              <a:rPr lang="en" sz="1200" b="1" dirty="0" smtClean="0"/>
              <a:t>Perkalian 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12 x 24 = 288 dan 24 x 12=288 sehingga 12 x 24 = 24 x 12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3714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Cara Menentukan Faktorisasi Prima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Faktorisasi prima adalah penjabaran suatu bilangan menjadi perkalian-perkalian bilangan prima. Jadi, dengan perkalian beberapa bilangan prima diperoleh hasil bilangan itu.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Contoh : 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6 = 2 x 3          (2 </a:t>
            </a:r>
            <a:r>
              <a:rPr lang="en-US" sz="1200" b="1" dirty="0" err="1"/>
              <a:t>dan</a:t>
            </a:r>
            <a:r>
              <a:rPr lang="en-US" sz="1200" b="1" dirty="0"/>
              <a:t> 3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prima)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20 = 2 x 2 x 5  (2 </a:t>
            </a:r>
            <a:r>
              <a:rPr lang="en-US" sz="1200" b="1" dirty="0" err="1"/>
              <a:t>dan</a:t>
            </a:r>
            <a:r>
              <a:rPr lang="en-US" sz="1200" b="1" dirty="0"/>
              <a:t> 5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prima)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45 = 3 x 3 x 5  (3 </a:t>
            </a:r>
            <a:r>
              <a:rPr lang="en-US" sz="1200" b="1" dirty="0" err="1"/>
              <a:t>dan</a:t>
            </a:r>
            <a:r>
              <a:rPr lang="en-US" sz="1200" b="1" dirty="0"/>
              <a:t> 5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prima)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70 = 2 x 5 x 7  (2, 5, </a:t>
            </a:r>
            <a:r>
              <a:rPr lang="en-US" sz="1200" b="1" dirty="0" err="1"/>
              <a:t>dan</a:t>
            </a:r>
            <a:r>
              <a:rPr lang="en-US" sz="1200" b="1" dirty="0"/>
              <a:t> 7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prima)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Cara Menentukan Faktorisasi Prima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Contoh</a:t>
            </a:r>
            <a:r>
              <a:rPr lang="en-US" sz="1200" b="1" dirty="0" smtClean="0"/>
              <a:t> : 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1885950"/>
            <a:ext cx="4343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Cara Mencari KPK dan FPB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Cara </a:t>
            </a:r>
            <a:r>
              <a:rPr lang="en-US" sz="1200" b="1" dirty="0" err="1" smtClean="0"/>
              <a:t>dengan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pohon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faktor</a:t>
            </a:r>
            <a:endParaRPr lang="en-US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KPK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akronim</a:t>
            </a:r>
            <a:r>
              <a:rPr lang="en-US" sz="1200" b="1" dirty="0"/>
              <a:t> </a:t>
            </a:r>
            <a:r>
              <a:rPr lang="en-US" sz="1200" b="1" dirty="0" err="1"/>
              <a:t>dari</a:t>
            </a:r>
            <a:r>
              <a:rPr lang="en-US" sz="1200" b="1" dirty="0"/>
              <a:t> </a:t>
            </a:r>
            <a:r>
              <a:rPr lang="en-US" sz="1200" b="1" dirty="0" err="1"/>
              <a:t>Kelipatan</a:t>
            </a:r>
            <a:r>
              <a:rPr lang="en-US" sz="1200" b="1" dirty="0"/>
              <a:t> Persekutuan </a:t>
            </a:r>
            <a:r>
              <a:rPr lang="en-US" sz="1200" b="1" dirty="0" err="1"/>
              <a:t>Terkecil</a:t>
            </a:r>
            <a:r>
              <a:rPr lang="en-US" sz="1200" b="1" dirty="0"/>
              <a:t> </a:t>
            </a:r>
            <a:r>
              <a:rPr lang="en-US" sz="1200" b="1" dirty="0" err="1"/>
              <a:t>yaitu</a:t>
            </a:r>
            <a:r>
              <a:rPr lang="en-US" sz="1200" b="1" dirty="0"/>
              <a:t> </a:t>
            </a:r>
            <a:r>
              <a:rPr lang="en-US" sz="1200" b="1" dirty="0" err="1"/>
              <a:t>dua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yang </a:t>
            </a:r>
            <a:r>
              <a:rPr lang="en-US" sz="1200" b="1" dirty="0" err="1"/>
              <a:t>termasuk</a:t>
            </a:r>
            <a:r>
              <a:rPr lang="en-US" sz="1200" b="1" dirty="0"/>
              <a:t> </a:t>
            </a:r>
            <a:r>
              <a:rPr lang="en-US" sz="1200" b="1" dirty="0" err="1"/>
              <a:t>ke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</a:t>
            </a:r>
            <a:r>
              <a:rPr lang="en-US" sz="1200" b="1" dirty="0" err="1"/>
              <a:t>positif</a:t>
            </a:r>
            <a:r>
              <a:rPr lang="en-US" sz="1200" b="1" dirty="0"/>
              <a:t> </a:t>
            </a:r>
            <a:r>
              <a:rPr lang="en-US" sz="1200" b="1" dirty="0" err="1"/>
              <a:t>terkecil</a:t>
            </a:r>
            <a:r>
              <a:rPr lang="en-US" sz="1200" b="1" dirty="0"/>
              <a:t>. Salah </a:t>
            </a:r>
            <a:r>
              <a:rPr lang="en-US" sz="1200" b="1" dirty="0" err="1"/>
              <a:t>satu</a:t>
            </a:r>
            <a:r>
              <a:rPr lang="en-US" sz="1200" b="1" dirty="0"/>
              <a:t> </a:t>
            </a:r>
            <a:r>
              <a:rPr lang="en-US" sz="1200" b="1" dirty="0" err="1"/>
              <a:t>ciri-ciri</a:t>
            </a:r>
            <a:r>
              <a:rPr lang="en-US" sz="1200" b="1" dirty="0"/>
              <a:t> </a:t>
            </a:r>
            <a:r>
              <a:rPr lang="en-US" sz="1200" b="1" dirty="0" err="1"/>
              <a:t>dari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yang </a:t>
            </a:r>
            <a:r>
              <a:rPr lang="en-US" sz="1200" b="1" dirty="0" err="1"/>
              <a:t>termasuk</a:t>
            </a:r>
            <a:r>
              <a:rPr lang="en-US" sz="1200" b="1" dirty="0"/>
              <a:t> </a:t>
            </a:r>
            <a:r>
              <a:rPr lang="en-US" sz="1200" b="1" dirty="0" err="1"/>
              <a:t>ke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KPK </a:t>
            </a:r>
            <a:r>
              <a:rPr lang="en-US" sz="1200" b="1" dirty="0" err="1"/>
              <a:t>adalah</a:t>
            </a:r>
            <a:r>
              <a:rPr lang="en-US" sz="1200" b="1" dirty="0"/>
              <a:t>, </a:t>
            </a:r>
            <a:r>
              <a:rPr lang="en-US" sz="1200" b="1" dirty="0" err="1"/>
              <a:t>bilangan</a:t>
            </a:r>
            <a:r>
              <a:rPr lang="en-US" sz="1200" b="1" dirty="0"/>
              <a:t> </a:t>
            </a:r>
            <a:r>
              <a:rPr lang="en-US" sz="1200" b="1" dirty="0" err="1"/>
              <a:t>tersebut</a:t>
            </a:r>
            <a:r>
              <a:rPr lang="en-US" sz="1200" b="1" dirty="0"/>
              <a:t> </a:t>
            </a:r>
            <a:r>
              <a:rPr lang="en-US" sz="1200" b="1" dirty="0" err="1"/>
              <a:t>bisa</a:t>
            </a:r>
            <a:r>
              <a:rPr lang="en-US" sz="1200" b="1" dirty="0"/>
              <a:t> </a:t>
            </a:r>
            <a:r>
              <a:rPr lang="en-US" sz="1200" b="1" dirty="0" err="1"/>
              <a:t>habis</a:t>
            </a:r>
            <a:r>
              <a:rPr lang="en-US" sz="1200" b="1" dirty="0"/>
              <a:t> </a:t>
            </a:r>
            <a:r>
              <a:rPr lang="en-US" sz="1200" b="1" dirty="0" err="1"/>
              <a:t>dibagi</a:t>
            </a:r>
            <a:r>
              <a:rPr lang="en-US" sz="1200" b="1" dirty="0"/>
              <a:t> </a:t>
            </a:r>
            <a:r>
              <a:rPr lang="en-US" sz="1200" b="1" dirty="0" err="1"/>
              <a:t>oleh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</a:t>
            </a:r>
            <a:r>
              <a:rPr lang="en-US" sz="1200" b="1" dirty="0" err="1"/>
              <a:t>itu</a:t>
            </a:r>
            <a:r>
              <a:rPr lang="en-US" sz="1200" b="1" dirty="0"/>
              <a:t> </a:t>
            </a:r>
            <a:r>
              <a:rPr lang="en-US" sz="1200" b="1" dirty="0" err="1"/>
              <a:t>sendiri</a:t>
            </a:r>
            <a:r>
              <a:rPr lang="en-US" sz="1200" b="1" dirty="0"/>
              <a:t>. </a:t>
            </a:r>
            <a:r>
              <a:rPr lang="en-US" sz="1200" b="1" dirty="0" err="1"/>
              <a:t>Untuk</a:t>
            </a:r>
            <a:r>
              <a:rPr lang="en-US" sz="1200" b="1" dirty="0"/>
              <a:t> </a:t>
            </a:r>
            <a:r>
              <a:rPr lang="en-US" sz="1200" b="1" dirty="0" err="1"/>
              <a:t>mencari</a:t>
            </a:r>
            <a:r>
              <a:rPr lang="en-US" sz="1200" b="1" dirty="0"/>
              <a:t> KPK </a:t>
            </a:r>
            <a:r>
              <a:rPr lang="en-US" sz="1200" b="1" dirty="0" err="1"/>
              <a:t>dengan</a:t>
            </a:r>
            <a:r>
              <a:rPr lang="en-US" sz="1200" b="1" dirty="0"/>
              <a:t> </a:t>
            </a:r>
            <a:r>
              <a:rPr lang="en-US" sz="1200" b="1" dirty="0" err="1"/>
              <a:t>menggunakan</a:t>
            </a:r>
            <a:r>
              <a:rPr lang="en-US" sz="1200" b="1" dirty="0"/>
              <a:t> </a:t>
            </a:r>
            <a:r>
              <a:rPr lang="en-US" sz="1200" b="1" dirty="0" err="1"/>
              <a:t>faktorisasi</a:t>
            </a:r>
            <a:r>
              <a:rPr lang="en-US" sz="1200" b="1" dirty="0"/>
              <a:t> prima </a:t>
            </a:r>
            <a:r>
              <a:rPr lang="en-US" sz="1200" b="1" dirty="0" err="1"/>
              <a:t>adalah</a:t>
            </a:r>
            <a:r>
              <a:rPr lang="en-US" sz="1200" b="1" dirty="0"/>
              <a:t> </a:t>
            </a:r>
            <a:r>
              <a:rPr lang="en-US" sz="1200" b="1" dirty="0" err="1"/>
              <a:t>dengan</a:t>
            </a:r>
            <a:r>
              <a:rPr lang="en-US" sz="1200" b="1" dirty="0"/>
              <a:t> </a:t>
            </a:r>
            <a:r>
              <a:rPr lang="en-US" sz="1200" b="1" dirty="0" err="1"/>
              <a:t>mengalikan</a:t>
            </a:r>
            <a:r>
              <a:rPr lang="en-US" sz="1200" b="1" dirty="0"/>
              <a:t> </a:t>
            </a:r>
            <a:r>
              <a:rPr lang="en-US" sz="1200" b="1" dirty="0" err="1"/>
              <a:t>seluruh</a:t>
            </a:r>
            <a:r>
              <a:rPr lang="en-US" sz="1200" b="1" dirty="0"/>
              <a:t> </a:t>
            </a:r>
            <a:r>
              <a:rPr lang="en-US" sz="1200" b="1" dirty="0" err="1"/>
              <a:t>bilangan</a:t>
            </a:r>
            <a:r>
              <a:rPr lang="en-US" sz="1200" b="1" dirty="0"/>
              <a:t> </a:t>
            </a:r>
            <a:r>
              <a:rPr lang="en-US" sz="1200" b="1" dirty="0" err="1"/>
              <a:t>faktor</a:t>
            </a:r>
            <a:r>
              <a:rPr lang="en-US" sz="1200" b="1" dirty="0"/>
              <a:t> </a:t>
            </a:r>
            <a:r>
              <a:rPr lang="en-US" sz="1200" b="1" dirty="0" err="1"/>
              <a:t>tersebut</a:t>
            </a:r>
            <a:r>
              <a:rPr lang="en-US" sz="1200" b="1" dirty="0"/>
              <a:t> </a:t>
            </a:r>
            <a:r>
              <a:rPr lang="en-US" sz="1200" b="1" dirty="0" err="1"/>
              <a:t>dengan</a:t>
            </a:r>
            <a:r>
              <a:rPr lang="en-US" sz="1200" b="1" dirty="0"/>
              <a:t> </a:t>
            </a:r>
            <a:r>
              <a:rPr lang="en-US" sz="1200" b="1" dirty="0" err="1"/>
              <a:t>pangkat</a:t>
            </a:r>
            <a:r>
              <a:rPr lang="en-US" sz="1200" b="1" dirty="0"/>
              <a:t> </a:t>
            </a:r>
            <a:r>
              <a:rPr lang="en-US" sz="1200" b="1" dirty="0" err="1"/>
              <a:t>terbesar</a:t>
            </a:r>
            <a:r>
              <a:rPr lang="en-US" sz="1200" b="1" dirty="0" smtClean="0"/>
              <a:t>. </a:t>
            </a:r>
            <a:r>
              <a:rPr lang="en-US" sz="1200" b="1" dirty="0" err="1" smtClean="0"/>
              <a:t>Contoh</a:t>
            </a:r>
            <a:r>
              <a:rPr lang="en-US" sz="1200" b="1" dirty="0" smtClean="0"/>
              <a:t> : 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105150"/>
            <a:ext cx="38100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Google Shape;119;p23"/>
              <p:cNvSpPr txBox="1">
                <a:spLocks/>
              </p:cNvSpPr>
              <p:nvPr/>
            </p:nvSpPr>
            <p:spPr>
              <a:xfrm>
                <a:off x="770467" y="819150"/>
                <a:ext cx="7467600" cy="3657600"/>
              </a:xfrm>
              <a:prstGeom prst="rect">
                <a:avLst/>
              </a:prstGeom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b="1" dirty="0" smtClean="0"/>
                  <a:t>Menentukan Jarak, Waktu, dan Kecepatan</a:t>
                </a:r>
              </a:p>
              <a:p>
                <a:pPr algn="ctr">
                  <a:lnSpc>
                    <a:spcPct val="150000"/>
                  </a:lnSpc>
                  <a:buClr>
                    <a:schemeClr val="dk1"/>
                  </a:buClr>
                  <a:buSzPts val="1100"/>
                </a:pPr>
                <a:endParaRPr lang="en" sz="1200" dirty="0" smtClean="0"/>
              </a:p>
              <a:p>
                <a:pPr marL="228600" indent="-228600"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  <a:buAutoNum type="arabicPeriod"/>
                </a:pPr>
                <a:r>
                  <a:rPr lang="en-US" sz="1200" b="1" dirty="0" err="1" smtClean="0"/>
                  <a:t>Mentukan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merupakan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perbandingan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antara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yang </a:t>
                </a:r>
                <a:r>
                  <a:rPr lang="en-US" sz="1200" b="1" dirty="0" err="1" smtClean="0"/>
                  <a:t>ditempuh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dengan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tempuhnya</a:t>
                </a:r>
                <a:r>
                  <a:rPr lang="en-US" sz="1200" b="1" dirty="0" smtClean="0"/>
                  <a:t>. </a:t>
                </a:r>
                <a:r>
                  <a:rPr lang="en-US" sz="1200" b="1" dirty="0" err="1" smtClean="0"/>
                  <a:t>Secara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sistematis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bisa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ditulis</a:t>
                </a:r>
                <a:r>
                  <a:rPr lang="en-US" sz="1200" b="1" dirty="0" smtClean="0"/>
                  <a:t> :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/>
                  <a:t>	</a:t>
                </a:r>
                <a:r>
                  <a:rPr lang="en-US" sz="1200" b="1" dirty="0" smtClean="0"/>
                  <a:t>	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/>
                          </a:rPr>
                          <m:t>𝒋𝒂𝒓𝒂𝒌</m:t>
                        </m:r>
                      </m:num>
                      <m:den>
                        <m:r>
                          <a:rPr lang="en-US" sz="1200" b="1" i="1" smtClean="0">
                            <a:latin typeface="Cambria Math"/>
                          </a:rPr>
                          <m:t>𝒘𝒂𝒌𝒕𝒖</m:t>
                        </m:r>
                      </m:den>
                    </m:f>
                  </m:oMath>
                </a14:m>
                <a:endParaRPr lang="en-US" sz="1200" b="1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 smtClean="0"/>
                  <a:t>2. </a:t>
                </a:r>
                <a:r>
                  <a:rPr lang="en-US" sz="1200" b="1" dirty="0" err="1" smtClean="0"/>
                  <a:t>Menetukan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endParaRPr lang="en-US" sz="1200" b="1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 err="1" smtClean="0"/>
                  <a:t>Jika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tempuhnya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diketahui</a:t>
                </a:r>
                <a:r>
                  <a:rPr lang="en-US" sz="1200" b="1" dirty="0" smtClean="0"/>
                  <a:t>, </a:t>
                </a:r>
                <a:r>
                  <a:rPr lang="en-US" sz="1200" b="1" dirty="0" err="1" smtClean="0"/>
                  <a:t>maka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cara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menentukan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tempuhnya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adalah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dengan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cara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mengalikan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dengan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r>
                  <a:rPr lang="en-US" sz="1200" b="1" dirty="0" smtClean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/>
                  <a:t>	</a:t>
                </a:r>
                <a:r>
                  <a:rPr lang="en-US" sz="1200" b="1" dirty="0" smtClean="0"/>
                  <a:t>	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=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x </a:t>
                </a:r>
                <a:r>
                  <a:rPr lang="en-US" sz="1200" b="1" dirty="0" err="1" smtClean="0"/>
                  <a:t>waktu</a:t>
                </a:r>
                <a:endParaRPr lang="en-US" sz="1200" b="1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endParaRPr lang="en" sz="1200" b="1" dirty="0" smtClean="0"/>
              </a:p>
              <a:p>
                <a:pPr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endParaRPr lang="en" sz="1200" b="1" dirty="0"/>
              </a:p>
              <a:p>
                <a:pPr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endParaRPr lang="en" b="1" dirty="0" smtClean="0"/>
              </a:p>
            </p:txBody>
          </p:sp>
        </mc:Choice>
        <mc:Fallback xmlns="">
          <p:sp>
            <p:nvSpPr>
              <p:cNvPr id="28" name="Google Shape;119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67" y="819150"/>
                <a:ext cx="7467600" cy="3657600"/>
              </a:xfrm>
              <a:prstGeom prst="rect">
                <a:avLst/>
              </a:prstGeom>
              <a:blipFill rotWithShape="1">
                <a:blip r:embed="rId3"/>
                <a:stretch>
                  <a:fillRect l="-1224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Google Shape;119;p23"/>
              <p:cNvSpPr txBox="1">
                <a:spLocks/>
              </p:cNvSpPr>
              <p:nvPr/>
            </p:nvSpPr>
            <p:spPr>
              <a:xfrm>
                <a:off x="770467" y="819150"/>
                <a:ext cx="7467600" cy="3657600"/>
              </a:xfrm>
              <a:prstGeom prst="rect">
                <a:avLst/>
              </a:prstGeom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>
                  <a:buClr>
                    <a:schemeClr val="dk1"/>
                  </a:buClr>
                  <a:buSzPts val="1100"/>
                </a:pPr>
                <a:r>
                  <a:rPr lang="en" b="1" dirty="0" smtClean="0"/>
                  <a:t>Menentukan Jarak, Waktu, dan Kecepatan</a:t>
                </a:r>
              </a:p>
              <a:p>
                <a:pPr algn="ctr">
                  <a:lnSpc>
                    <a:spcPct val="150000"/>
                  </a:lnSpc>
                  <a:buClr>
                    <a:schemeClr val="dk1"/>
                  </a:buClr>
                  <a:buSzPts val="1100"/>
                </a:pPr>
                <a:endParaRPr lang="en" sz="1200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 smtClean="0"/>
                  <a:t>3. </a:t>
                </a:r>
                <a:r>
                  <a:rPr lang="en-US" sz="1200" b="1" dirty="0" err="1" smtClean="0"/>
                  <a:t>Mentukan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endParaRPr lang="en-US" sz="1200" b="1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 err="1" smtClean="0"/>
                  <a:t>Jika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diketahui</a:t>
                </a:r>
                <a:r>
                  <a:rPr lang="en-US" sz="1200" b="1" dirty="0" smtClean="0"/>
                  <a:t>, </a:t>
                </a:r>
                <a:r>
                  <a:rPr lang="en-US" sz="1200" b="1" dirty="0" err="1" smtClean="0"/>
                  <a:t>maka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cara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menentukan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adalah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dengan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cara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membagi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jarak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tempuh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dengan</a:t>
                </a:r>
                <a:r>
                  <a:rPr lang="en-US" sz="1200" b="1" dirty="0" smtClean="0"/>
                  <a:t> </a:t>
                </a:r>
                <a:r>
                  <a:rPr lang="en-US" sz="1200" b="1" dirty="0" err="1" smtClean="0"/>
                  <a:t>kecepatan</a:t>
                </a:r>
                <a:r>
                  <a:rPr lang="en-US" sz="1200" b="1" dirty="0" smtClean="0"/>
                  <a:t>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/>
                  <a:t>	</a:t>
                </a:r>
                <a:r>
                  <a:rPr lang="en-US" sz="1200" b="1" dirty="0" smtClean="0"/>
                  <a:t>	</a:t>
                </a:r>
                <a:r>
                  <a:rPr lang="en-US" sz="1200" b="1" dirty="0" err="1" smtClean="0"/>
                  <a:t>waktu</a:t>
                </a:r>
                <a:r>
                  <a:rPr lang="en-US" sz="1200" b="1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/>
                          </a:rPr>
                          <m:t>𝒋𝒂𝒓𝒂𝒌</m:t>
                        </m:r>
                      </m:num>
                      <m:den>
                        <m:r>
                          <a:rPr lang="en-US" sz="1200" b="1" i="1" smtClean="0">
                            <a:latin typeface="Cambria Math"/>
                          </a:rPr>
                          <m:t>𝒌𝒆𝒄𝒆𝒑𝒂𝒕𝒂𝒏</m:t>
                        </m:r>
                      </m:den>
                    </m:f>
                  </m:oMath>
                </a14:m>
                <a:endParaRPr lang="en-US" sz="1200" b="1" dirty="0" smtClean="0"/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" sz="1200" b="1" dirty="0" smtClean="0"/>
                  <a:t>Contoh :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" sz="1200" b="1" dirty="0" smtClean="0"/>
                  <a:t>Sebuah bus kota berangkat dari kota A pukul 05.30 dan tiba di kota B pukul 11.00. Jika jarak kota A ke kota B adalah 330 km, maka kecepatan bus tersebut adalah ..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r>
                  <a:rPr lang="en" sz="1200" b="1" dirty="0" smtClean="0"/>
                  <a:t>Kecepatan = jarak / waktu = 330/5.5 = 60 km/jam</a:t>
                </a:r>
              </a:p>
              <a:p>
                <a:pPr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endParaRPr lang="en" sz="1200" b="1" dirty="0"/>
              </a:p>
              <a:p>
                <a:pPr>
                  <a:spcBef>
                    <a:spcPts val="600"/>
                  </a:spcBef>
                  <a:buClr>
                    <a:schemeClr val="dk1"/>
                  </a:buClr>
                  <a:buSzPts val="1100"/>
                </a:pPr>
                <a:endParaRPr lang="en" b="1" dirty="0" smtClean="0"/>
              </a:p>
            </p:txBody>
          </p:sp>
        </mc:Choice>
        <mc:Fallback xmlns="">
          <p:sp>
            <p:nvSpPr>
              <p:cNvPr id="28" name="Google Shape;119;p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67" y="819150"/>
                <a:ext cx="7467600" cy="3657600"/>
              </a:xfrm>
              <a:prstGeom prst="rect">
                <a:avLst/>
              </a:prstGeom>
              <a:blipFill rotWithShape="1">
                <a:blip r:embed="rId3"/>
                <a:stretch>
                  <a:fillRect l="-1224" t="-1333" r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409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Luas Trapesium dan Layang - Layang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Luas Trapesium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L= ½ (a + b) x t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Luas Layang – Layang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 = (d1 x d2) / 2</a:t>
            </a: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976" y="1352550"/>
            <a:ext cx="2013424" cy="1434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29" y="2778407"/>
            <a:ext cx="1184717" cy="1537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3493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Luas Trapesium dan Layang - Layang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Luas Trapesium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L= ½ (a + b) x t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Luas Layang – Layang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L = (d1 x d2) / 2</a:t>
            </a: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976" y="1352550"/>
            <a:ext cx="2013424" cy="1434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29" y="2778407"/>
            <a:ext cx="1184717" cy="1537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4963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Volume Kubus dan Balok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Volume Kubus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 = s x s x s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Volume Balok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b="1" dirty="0" smtClean="0"/>
              <a:t>V = p x l x t</a:t>
            </a:r>
            <a:endParaRPr lang="en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276351"/>
            <a:ext cx="159059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647951"/>
            <a:ext cx="2070325" cy="1341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775011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452</Words>
  <Application>Microsoft Office PowerPoint</Application>
  <PresentationFormat>On-screen Show (16:9)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Catamaran</vt:lpstr>
      <vt:lpstr>Bellota Text Light</vt:lpstr>
      <vt:lpstr>Catamaran ExtraBold</vt:lpstr>
      <vt:lpstr>Cambria Math</vt:lpstr>
      <vt:lpstr>Bagot template</vt:lpstr>
      <vt:lpstr>Matematika  SD Kelas 5</vt:lpstr>
      <vt:lpstr>M1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11</cp:revision>
  <dcterms:modified xsi:type="dcterms:W3CDTF">2020-07-03T15:08:27Z</dcterms:modified>
</cp:coreProperties>
</file>