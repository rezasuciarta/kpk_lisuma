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9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5143500" type="screen16x9"/>
  <p:notesSz cx="6858000" cy="9144000"/>
  <p:embeddedFontLst>
    <p:embeddedFont>
      <p:font typeface="Bellota Text Light" charset="0"/>
      <p:regular r:id="rId13"/>
      <p:bold r:id="rId14"/>
      <p:italic r:id="rId15"/>
      <p:boldItalic r:id="rId16"/>
    </p:embeddedFont>
    <p:embeddedFont>
      <p:font typeface="Bellota Text" charset="0"/>
      <p:regular r:id="rId17"/>
      <p:bold r:id="rId18"/>
      <p:italic r:id="rId19"/>
      <p:boldItalic r:id="rId20"/>
    </p:embeddedFont>
    <p:embeddedFont>
      <p:font typeface="Catamaran ExtraBold" charset="0"/>
      <p:bold r:id="rId21"/>
    </p:embeddedFont>
    <p:embeddedFont>
      <p:font typeface="Catamaran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98" autoAdjust="0"/>
  </p:normalViewPr>
  <p:slideViewPr>
    <p:cSldViewPr>
      <p:cViewPr>
        <p:scale>
          <a:sx n="53" d="100"/>
          <a:sy n="53" d="100"/>
        </p:scale>
        <p:origin x="-192" y="-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TIK  </a:t>
            </a:r>
            <a:br>
              <a:rPr lang="en-US" dirty="0" smtClean="0"/>
            </a:br>
            <a:r>
              <a:rPr lang="en-US" dirty="0" smtClean="0"/>
              <a:t>SMP </a:t>
            </a:r>
            <a:r>
              <a:rPr lang="en-US" dirty="0" err="1" smtClean="0"/>
              <a:t>Kelas</a:t>
            </a:r>
            <a:r>
              <a:rPr lang="en-US" smtClean="0"/>
              <a:t> </a:t>
            </a:r>
            <a:r>
              <a:rPr lang="en-US" smtClean="0"/>
              <a:t>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Berbagai Jenis Peralatan Teknologi Informasi dan Komunikasi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buClr>
                <a:schemeClr val="dk1"/>
              </a:buClr>
              <a:buSzPts val="1100"/>
            </a:pP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zaman</a:t>
            </a:r>
            <a:r>
              <a:rPr lang="en-US" sz="1200" dirty="0"/>
              <a:t> </a:t>
            </a:r>
            <a:r>
              <a:rPr lang="en-US" sz="1200" dirty="0" err="1"/>
              <a:t>dulu</a:t>
            </a:r>
            <a:r>
              <a:rPr lang="en-US" sz="1200" dirty="0"/>
              <a:t> :</a:t>
            </a:r>
            <a:br>
              <a:rPr lang="en-US" sz="1200" dirty="0"/>
            </a:br>
            <a:r>
              <a:rPr lang="en-US" sz="1200" dirty="0"/>
              <a:t>1. Papyrus : </a:t>
            </a:r>
            <a:r>
              <a:rPr lang="en-US" sz="1200" dirty="0" err="1"/>
              <a:t>kertas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</a:t>
            </a:r>
            <a:r>
              <a:rPr lang="en-US" sz="1200" dirty="0" err="1"/>
              <a:t>tumbuhan</a:t>
            </a:r>
            <a:r>
              <a:rPr lang="en-US" sz="1200" dirty="0"/>
              <a:t> </a:t>
            </a:r>
            <a:r>
              <a:rPr lang="en-US" sz="1200" dirty="0" err="1"/>
              <a:t>papyrys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Bereguh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tanduk</a:t>
            </a:r>
            <a:r>
              <a:rPr lang="en-US" sz="1200" dirty="0"/>
              <a:t> </a:t>
            </a:r>
            <a:r>
              <a:rPr lang="en-US" sz="1200" dirty="0" err="1"/>
              <a:t>kerbau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ditiup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Kulkul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berbentuk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kentongan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kayu</a:t>
            </a:r>
            <a:r>
              <a:rPr lang="en-US" sz="1200" dirty="0"/>
              <a:t> yang </a:t>
            </a:r>
            <a:r>
              <a:rPr lang="en-US" sz="1200" dirty="0" err="1"/>
              <a:t>berongga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dipukul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tradisional</a:t>
            </a:r>
            <a:r>
              <a:rPr lang="en-US" sz="1200" dirty="0"/>
              <a:t> yang lain</a:t>
            </a:r>
            <a:br>
              <a:rPr lang="en-US" sz="1200" dirty="0"/>
            </a:b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zama</a:t>
            </a:r>
            <a:r>
              <a:rPr lang="en-US" sz="1200" dirty="0"/>
              <a:t> modern </a:t>
            </a:r>
            <a:r>
              <a:rPr lang="en-US" sz="1200" dirty="0" err="1"/>
              <a:t>semual</a:t>
            </a:r>
            <a:r>
              <a:rPr lang="en-US" sz="1200" dirty="0"/>
              <a:t> </a:t>
            </a:r>
            <a:r>
              <a:rPr lang="en-US" sz="1200" dirty="0" err="1"/>
              <a:t>dipisah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: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computer :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serbaguna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dikontrol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program,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mengolah</a:t>
            </a:r>
            <a:r>
              <a:rPr lang="en-US" sz="1200" dirty="0"/>
              <a:t> data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Surat</a:t>
            </a:r>
            <a:r>
              <a:rPr lang="en-US" sz="1200" dirty="0"/>
              <a:t> </a:t>
            </a:r>
            <a:r>
              <a:rPr lang="en-US" sz="1200" dirty="0" err="1"/>
              <a:t>kabar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Radio: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didengar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Telepon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bergantian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Televisi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di </a:t>
            </a:r>
            <a:r>
              <a:rPr lang="en-US" sz="1200" dirty="0" err="1"/>
              <a:t>dengar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dilihat</a:t>
            </a: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/>
              <a:t>Sejarah</a:t>
            </a:r>
            <a:r>
              <a:rPr lang="en-US" sz="1200" dirty="0"/>
              <a:t> </a:t>
            </a:r>
            <a:r>
              <a:rPr lang="en-US" sz="1200" dirty="0" err="1"/>
              <a:t>perkembangan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didinding</a:t>
            </a:r>
            <a:r>
              <a:rPr lang="en-US" sz="1200" dirty="0"/>
              <a:t> </a:t>
            </a:r>
            <a:r>
              <a:rPr lang="en-US" sz="1200" dirty="0" err="1"/>
              <a:t>gua</a:t>
            </a:r>
            <a:r>
              <a:rPr lang="en-US" sz="1200" dirty="0"/>
              <a:t> yang </a:t>
            </a:r>
            <a:r>
              <a:rPr lang="en-US" sz="1200" dirty="0" err="1"/>
              <a:t>menceritakan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berburu</a:t>
            </a:r>
            <a:r>
              <a:rPr lang="en-US" sz="1200" dirty="0"/>
              <a:t>,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dengn</a:t>
            </a:r>
            <a:r>
              <a:rPr lang="en-US" sz="1200" dirty="0"/>
              <a:t> </a:t>
            </a:r>
            <a:r>
              <a:rPr lang="en-US" sz="1200" dirty="0" err="1"/>
              <a:t>dengusan</a:t>
            </a:r>
            <a:r>
              <a:rPr lang="en-US" sz="1200" dirty="0"/>
              <a:t>, </a:t>
            </a:r>
            <a:r>
              <a:rPr lang="en-US" sz="1200" dirty="0" err="1"/>
              <a:t>isyarat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gerakan</a:t>
            </a:r>
            <a:r>
              <a:rPr lang="en-US" sz="1200" dirty="0"/>
              <a:t> </a:t>
            </a:r>
            <a:r>
              <a:rPr lang="en-US" sz="1200" dirty="0" err="1"/>
              <a:t>tangan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Periode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/>
              <a:t>3000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sumeria</a:t>
            </a:r>
            <a:r>
              <a:rPr lang="en-US" sz="1200" dirty="0"/>
              <a:t> </a:t>
            </a:r>
            <a:r>
              <a:rPr lang="en-US" sz="1200" dirty="0" err="1"/>
              <a:t>mengguakan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symbol-</a:t>
            </a:r>
            <a:r>
              <a:rPr lang="en-US" sz="1200" dirty="0" err="1"/>
              <a:t>simbol</a:t>
            </a:r>
            <a:r>
              <a:rPr lang="en-US" sz="1200" dirty="0"/>
              <a:t> (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piktograf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2900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</a:t>
            </a:r>
            <a:r>
              <a:rPr lang="en-US" sz="1200" dirty="0"/>
              <a:t> 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hieroglif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500 SM </a:t>
            </a:r>
            <a:r>
              <a:rPr lang="en-US" sz="1200" dirty="0" err="1"/>
              <a:t>bagsa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mengukana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papyrus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untu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> </a:t>
            </a:r>
            <a:r>
              <a:rPr lang="en-US" sz="1200" dirty="0" err="1"/>
              <a:t>sebuah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105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cina</a:t>
            </a:r>
            <a:r>
              <a:rPr lang="en-US" sz="1200" dirty="0"/>
              <a:t> </a:t>
            </a:r>
            <a:r>
              <a:rPr lang="en-US" sz="1200" dirty="0" err="1"/>
              <a:t>menggukan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</a:t>
            </a:r>
            <a:r>
              <a:rPr lang="en-US" sz="1200" dirty="0" err="1"/>
              <a:t>bambu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smtClean="0"/>
              <a:t>2. </a:t>
            </a:r>
            <a:r>
              <a:rPr lang="en-US" sz="1200" dirty="0"/>
              <a:t>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Penemuan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Samuel Finley Breese Morse 1837</a:t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Telepon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Antonio </a:t>
            </a:r>
            <a:r>
              <a:rPr lang="en-US" sz="1200" dirty="0" err="1"/>
              <a:t>Meucci</a:t>
            </a:r>
            <a:r>
              <a:rPr lang="en-US" sz="1200" dirty="0"/>
              <a:t> 1874, </a:t>
            </a:r>
            <a:r>
              <a:rPr lang="en-US" sz="1200" dirty="0" err="1"/>
              <a:t>dikembangkan</a:t>
            </a:r>
            <a:r>
              <a:rPr lang="en-US" sz="1200" dirty="0"/>
              <a:t> Alexander Graham Bell 1876</a:t>
            </a:r>
            <a:br>
              <a:rPr lang="en-US" sz="1200" dirty="0"/>
            </a:br>
            <a:r>
              <a:rPr lang="en-US" sz="1200" dirty="0"/>
              <a:t>c. Radio, </a:t>
            </a:r>
            <a:r>
              <a:rPr lang="en-US" sz="1200" dirty="0" err="1"/>
              <a:t>Guglielmo</a:t>
            </a:r>
            <a:r>
              <a:rPr lang="en-US" sz="1200" dirty="0"/>
              <a:t> Marconi 1901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sinyal-sinyal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melewati</a:t>
            </a:r>
            <a:r>
              <a:rPr lang="en-US" sz="1200" dirty="0"/>
              <a:t> </a:t>
            </a:r>
            <a:r>
              <a:rPr lang="en-US" sz="1200" dirty="0" err="1"/>
              <a:t>lautan</a:t>
            </a:r>
            <a:r>
              <a:rPr lang="en-US" sz="1200" dirty="0"/>
              <a:t> </a:t>
            </a:r>
            <a:r>
              <a:rPr lang="en-US" sz="1200" dirty="0" err="1"/>
              <a:t>Atlantik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eletronagmetik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d. </a:t>
            </a:r>
            <a:r>
              <a:rPr lang="en-US" sz="1200" dirty="0" err="1"/>
              <a:t>Televisi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Paul </a:t>
            </a:r>
            <a:r>
              <a:rPr lang="en-US" sz="1200" dirty="0" err="1"/>
              <a:t>Nipkow</a:t>
            </a:r>
            <a:r>
              <a:rPr lang="en-US" sz="1200" dirty="0"/>
              <a:t> 18883</a:t>
            </a:r>
            <a:br>
              <a:rPr lang="en-US" sz="1200" dirty="0"/>
            </a:br>
            <a:r>
              <a:rPr lang="en-US" sz="1200" dirty="0"/>
              <a:t>e.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penemuan</a:t>
            </a:r>
            <a:r>
              <a:rPr lang="en-US" sz="1200" dirty="0"/>
              <a:t> lain</a:t>
            </a:r>
            <a:endParaRPr lang="en-US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508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Mengaktifkan dan mematikan komputer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 smtClean="0"/>
              <a:t>Prosedur</a:t>
            </a:r>
            <a:r>
              <a:rPr lang="en-US" sz="1200" dirty="0" smtClean="0"/>
              <a:t> </a:t>
            </a:r>
            <a:r>
              <a:rPr lang="en-US" sz="1200" dirty="0"/>
              <a:t>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menghidupkan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Menyalakan</a:t>
            </a:r>
            <a:r>
              <a:rPr lang="en-US" sz="1200" dirty="0"/>
              <a:t> stabilizer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Chassing</a:t>
            </a:r>
            <a:r>
              <a:rPr lang="en-US" sz="1200" dirty="0"/>
              <a:t> / CPU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monitor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Menunggu</a:t>
            </a:r>
            <a:r>
              <a:rPr lang="en-US" sz="1200" dirty="0"/>
              <a:t> computer loading system </a:t>
            </a:r>
            <a:r>
              <a:rPr lang="en-US" sz="1200" dirty="0" err="1"/>
              <a:t>operasi</a:t>
            </a:r>
            <a:r>
              <a:rPr lang="en-US" sz="1200" dirty="0"/>
              <a:t> (missal Windows)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keluar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desktop di monitor</a:t>
            </a:r>
            <a:br>
              <a:rPr lang="en-US" sz="1200" dirty="0"/>
            </a:br>
            <a:r>
              <a:rPr lang="en-US" sz="1200" dirty="0" err="1"/>
              <a:t>Prosedur</a:t>
            </a:r>
            <a:r>
              <a:rPr lang="en-US" sz="1200" dirty="0"/>
              <a:t> 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mematikan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Klik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start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Pilih</a:t>
            </a:r>
            <a:r>
              <a:rPr lang="en-US" sz="1200" dirty="0"/>
              <a:t> shut down </a:t>
            </a:r>
            <a:r>
              <a:rPr lang="en-US" sz="1200" dirty="0" err="1"/>
              <a:t>atau</a:t>
            </a:r>
            <a:r>
              <a:rPr lang="en-US" sz="1200" dirty="0"/>
              <a:t> turn off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Klik</a:t>
            </a:r>
            <a:r>
              <a:rPr lang="en-US" sz="1200" dirty="0"/>
              <a:t> OK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computer </a:t>
            </a:r>
            <a:r>
              <a:rPr lang="en-US" sz="1200" dirty="0" err="1"/>
              <a:t>mati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Matikan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off </a:t>
            </a:r>
            <a:r>
              <a:rPr lang="en-US" sz="1200" dirty="0" err="1"/>
              <a:t>pada</a:t>
            </a:r>
            <a:r>
              <a:rPr lang="en-US" sz="1200" dirty="0"/>
              <a:t> monitor </a:t>
            </a:r>
            <a:r>
              <a:rPr lang="en-US" sz="1200" dirty="0" err="1"/>
              <a:t>dan</a:t>
            </a:r>
            <a:r>
              <a:rPr lang="en-US" sz="1200" dirty="0"/>
              <a:t> stabilizer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3469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Perangkat</a:t>
            </a:r>
            <a:r>
              <a:rPr lang="en-US" sz="1200" b="1" dirty="0"/>
              <a:t> </a:t>
            </a:r>
            <a:r>
              <a:rPr lang="en-US" sz="1200" b="1" dirty="0" err="1"/>
              <a:t>keras</a:t>
            </a:r>
            <a:r>
              <a:rPr lang="en-US" sz="1200" b="1" dirty="0"/>
              <a:t> </a:t>
            </a:r>
            <a:r>
              <a:rPr lang="en-US" sz="1200" b="1" dirty="0" err="1"/>
              <a:t>dibangi</a:t>
            </a:r>
            <a:r>
              <a:rPr lang="en-US" sz="1200" b="1" dirty="0"/>
              <a:t> </a:t>
            </a:r>
            <a:r>
              <a:rPr lang="en-US" sz="1200" b="1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masukan</a:t>
            </a:r>
            <a:r>
              <a:rPr lang="en-US" sz="1200" dirty="0"/>
              <a:t> (input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Keyboard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Mouse</a:t>
            </a:r>
            <a:br>
              <a:rPr lang="en-US" sz="1200" dirty="0"/>
            </a:br>
            <a:r>
              <a:rPr lang="en-US" sz="1200" dirty="0" smtClean="0"/>
              <a:t>	c</a:t>
            </a:r>
            <a:r>
              <a:rPr lang="en-US" sz="1200" dirty="0"/>
              <a:t>. Joystick</a:t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Scanner</a:t>
            </a:r>
            <a:br>
              <a:rPr lang="en-US" sz="1200" dirty="0"/>
            </a:br>
            <a:r>
              <a:rPr lang="en-US" sz="1200" dirty="0" smtClean="0"/>
              <a:t>	e</a:t>
            </a:r>
            <a:r>
              <a:rPr lang="en-US" sz="1200" dirty="0"/>
              <a:t>. Digital camera</a:t>
            </a:r>
            <a:br>
              <a:rPr lang="en-US" sz="1200" dirty="0"/>
            </a:br>
            <a:r>
              <a:rPr lang="en-US" sz="1200" dirty="0" smtClean="0"/>
              <a:t>	f</a:t>
            </a:r>
            <a:r>
              <a:rPr lang="en-US" sz="1200" dirty="0"/>
              <a:t>. Microphone</a:t>
            </a:r>
            <a:br>
              <a:rPr lang="en-US" sz="1200" dirty="0"/>
            </a:br>
            <a:r>
              <a:rPr lang="en-US" sz="1200" dirty="0" smtClean="0"/>
              <a:t>	g</a:t>
            </a:r>
            <a:r>
              <a:rPr lang="en-US" sz="1200" dirty="0"/>
              <a:t>. Webcam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Perangkat</a:t>
            </a:r>
            <a:r>
              <a:rPr lang="en-US" sz="1200" dirty="0"/>
              <a:t> proses (process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Motherboard / Mainboard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CPU / Microprocessor : ALU: </a:t>
            </a:r>
            <a:r>
              <a:rPr lang="en-US" sz="1200" dirty="0" err="1"/>
              <a:t>aritmetic</a:t>
            </a:r>
            <a:r>
              <a:rPr lang="en-US" sz="1200" dirty="0"/>
              <a:t> logical unit, </a:t>
            </a:r>
            <a:r>
              <a:rPr lang="en-US" sz="1200" dirty="0" err="1"/>
              <a:t>CU:control</a:t>
            </a:r>
            <a:r>
              <a:rPr lang="en-US" sz="1200" dirty="0"/>
              <a:t> unit, </a:t>
            </a:r>
            <a:r>
              <a:rPr lang="en-US" sz="1200" dirty="0" err="1"/>
              <a:t>MU:memory</a:t>
            </a:r>
            <a:r>
              <a:rPr lang="en-US" sz="1200" dirty="0"/>
              <a:t> unit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simpan</a:t>
            </a:r>
            <a:r>
              <a:rPr lang="en-US" sz="1200" dirty="0"/>
              <a:t> (storage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Primary storage : ROM, RAM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Secondary storage : </a:t>
            </a:r>
            <a:r>
              <a:rPr lang="en-US" sz="1200" dirty="0" err="1"/>
              <a:t>harddisk</a:t>
            </a:r>
            <a:r>
              <a:rPr lang="en-US" sz="1200" dirty="0"/>
              <a:t>, </a:t>
            </a:r>
            <a:r>
              <a:rPr lang="en-US" sz="1200" dirty="0" err="1"/>
              <a:t>disket</a:t>
            </a:r>
            <a:r>
              <a:rPr lang="en-US" sz="1200" dirty="0"/>
              <a:t>, UFD, CD/DVD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keluaran</a:t>
            </a:r>
            <a:r>
              <a:rPr lang="en-US" sz="1200" dirty="0"/>
              <a:t> (output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Monitor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Printer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(peripheral) : TV turner, card reader, modem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44503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PERANGKAT 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Penggolongan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Basis </a:t>
            </a:r>
            <a:r>
              <a:rPr lang="en-US" sz="1200" dirty="0" err="1"/>
              <a:t>teks</a:t>
            </a:r>
            <a:r>
              <a:rPr lang="en-US" sz="1200" dirty="0"/>
              <a:t> (CLI: Command Line Interface) : MS-DOS, UNIX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Basis </a:t>
            </a:r>
            <a:r>
              <a:rPr lang="en-US" sz="1200" dirty="0" err="1"/>
              <a:t>grafis</a:t>
            </a:r>
            <a:r>
              <a:rPr lang="en-US" sz="1200" dirty="0"/>
              <a:t> (</a:t>
            </a:r>
            <a:r>
              <a:rPr lang="en-US" sz="1200" dirty="0" err="1"/>
              <a:t>GUI:Graphic</a:t>
            </a:r>
            <a:r>
              <a:rPr lang="en-US" sz="1200" dirty="0"/>
              <a:t> Unit Interface) : Microsoft Windows, </a:t>
            </a:r>
            <a:r>
              <a:rPr lang="en-US" sz="1200" dirty="0" err="1"/>
              <a:t>macintosh</a:t>
            </a:r>
            <a:r>
              <a:rPr lang="en-US" sz="1200" dirty="0"/>
              <a:t>, Linux</a:t>
            </a:r>
            <a:br>
              <a:rPr lang="en-US" sz="1200" dirty="0"/>
            </a:br>
            <a:r>
              <a:rPr lang="en-US" sz="1200" dirty="0"/>
              <a:t>2. Program Utility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File Viewer : </a:t>
            </a:r>
            <a:r>
              <a:rPr lang="en-US" sz="1200" dirty="0" err="1"/>
              <a:t>ACDSee</a:t>
            </a:r>
            <a:r>
              <a:rPr lang="en-US" sz="1200" dirty="0"/>
              <a:t>, Adobe Reader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</a:t>
            </a:r>
            <a:r>
              <a:rPr lang="en-US" sz="1200" dirty="0" err="1"/>
              <a:t>Sytem</a:t>
            </a:r>
            <a:r>
              <a:rPr lang="en-US" sz="1200" dirty="0"/>
              <a:t> </a:t>
            </a:r>
            <a:r>
              <a:rPr lang="en-US" sz="1200" dirty="0" err="1"/>
              <a:t>Utulity</a:t>
            </a:r>
            <a:r>
              <a:rPr lang="en-US" sz="1200" dirty="0"/>
              <a:t> : program Scandisk, hardware monitor, file compression, security program (antivirus, anti spyware, firewall, password generator)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Pemprograman</a:t>
            </a:r>
            <a:r>
              <a:rPr lang="en-US" sz="1200" dirty="0"/>
              <a:t> : FORTRAN, COBOL. PASCAL, BASIC, C++, </a:t>
            </a:r>
            <a:r>
              <a:rPr lang="en-US" sz="1200" dirty="0" err="1"/>
              <a:t>dsb</a:t>
            </a:r>
            <a:r>
              <a:rPr lang="en-US" sz="1200" dirty="0"/>
              <a:t>…</a:t>
            </a:r>
            <a:br>
              <a:rPr lang="en-US" sz="1200" dirty="0"/>
            </a:br>
            <a:r>
              <a:rPr lang="en-US" sz="1200" dirty="0"/>
              <a:t>4. Program </a:t>
            </a:r>
            <a:r>
              <a:rPr lang="en-US" sz="1200" dirty="0" err="1"/>
              <a:t>Aplikasi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Program </a:t>
            </a:r>
            <a:r>
              <a:rPr lang="en-US" sz="1200" dirty="0" err="1"/>
              <a:t>pengolah</a:t>
            </a:r>
            <a:r>
              <a:rPr lang="en-US" sz="1200" dirty="0"/>
              <a:t> kata c. Program </a:t>
            </a:r>
            <a:r>
              <a:rPr lang="en-US" sz="1200" dirty="0" err="1"/>
              <a:t>presentasi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Program multimedia </a:t>
            </a:r>
            <a:r>
              <a:rPr lang="en-US" sz="1200" dirty="0" err="1"/>
              <a:t>b.Program</a:t>
            </a:r>
            <a:r>
              <a:rPr lang="en-US" sz="1200" dirty="0"/>
              <a:t> </a:t>
            </a:r>
            <a:r>
              <a:rPr lang="en-US" sz="1200" dirty="0" err="1"/>
              <a:t>pengolah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5511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Kata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Word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Menu control</a:t>
            </a:r>
            <a:br>
              <a:rPr lang="en-US" sz="1200" dirty="0"/>
            </a:br>
            <a:r>
              <a:rPr lang="en-US" sz="1200" dirty="0"/>
              <a:t>2. Title bar</a:t>
            </a:r>
            <a:br>
              <a:rPr lang="en-US" sz="1200" dirty="0"/>
            </a:br>
            <a:r>
              <a:rPr lang="en-US" sz="1200" dirty="0"/>
              <a:t>3. Menu bar</a:t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Scroll bar</a:t>
            </a:r>
            <a:br>
              <a:rPr lang="en-US" sz="1200" dirty="0"/>
            </a:br>
            <a:r>
              <a:rPr lang="en-US" sz="1200" dirty="0"/>
              <a:t>6. Ruler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Kursor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 smtClean="0"/>
              <a:t>Taskpane</a:t>
            </a:r>
            <a:endParaRPr lang="en-US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Menu </a:t>
            </a:r>
            <a:r>
              <a:rPr lang="en-US" sz="1200" dirty="0"/>
              <a:t>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table,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reference, mailings, review, view</a:t>
            </a:r>
            <a:br>
              <a:rPr lang="en-US" sz="1200" dirty="0"/>
            </a:br>
            <a:r>
              <a:rPr lang="en-US" sz="1200" dirty="0"/>
              <a:t>3 Toolbar </a:t>
            </a:r>
            <a:r>
              <a:rPr lang="en-US" sz="1200" dirty="0" err="1"/>
              <a:t>utama</a:t>
            </a:r>
            <a:r>
              <a:rPr lang="en-US" sz="1200" dirty="0"/>
              <a:t> di Word 2003: toolbar </a:t>
            </a:r>
            <a:r>
              <a:rPr lang="en-US" sz="1200" dirty="0" err="1"/>
              <a:t>standart</a:t>
            </a:r>
            <a:r>
              <a:rPr lang="en-US" sz="1200" dirty="0"/>
              <a:t>, formatting, drawing</a:t>
            </a:r>
            <a:br>
              <a:rPr lang="en-US" sz="1200" dirty="0"/>
            </a:br>
            <a:r>
              <a:rPr lang="en-US" sz="1200" dirty="0" err="1"/>
              <a:t>Ikon</a:t>
            </a:r>
            <a:r>
              <a:rPr lang="en-US" sz="1200" dirty="0"/>
              <a:t> : lambing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yang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seautu</a:t>
            </a:r>
            <a:r>
              <a:rPr lang="en-US" sz="1200" dirty="0"/>
              <a:t> </a:t>
            </a:r>
            <a:r>
              <a:rPr lang="en-US" sz="1200" dirty="0" err="1"/>
              <a:t>intruksi</a:t>
            </a:r>
            <a:r>
              <a:rPr lang="en-US" sz="1200" dirty="0"/>
              <a:t> / </a:t>
            </a:r>
            <a:r>
              <a:rPr lang="en-US" sz="1200" dirty="0" err="1"/>
              <a:t>perintah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8781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Tampilan</a:t>
            </a:r>
            <a:r>
              <a:rPr lang="en-US" sz="1200" b="1" dirty="0" smtClean="0"/>
              <a:t> </a:t>
            </a:r>
            <a:r>
              <a:rPr lang="en-US" sz="1200" b="1" dirty="0"/>
              <a:t>Microsoft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Workbook (</a:t>
            </a:r>
            <a:r>
              <a:rPr lang="en-US" sz="1200" dirty="0" err="1"/>
              <a:t>buku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file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dolumen</a:t>
            </a:r>
            <a:r>
              <a:rPr lang="en-US" sz="1200" dirty="0"/>
              <a:t> yang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lembaran-lembaran</a:t>
            </a:r>
            <a:r>
              <a:rPr lang="en-US" sz="1200" dirty="0"/>
              <a:t> (sheet)</a:t>
            </a:r>
            <a:br>
              <a:rPr lang="en-US" sz="1200" dirty="0"/>
            </a:br>
            <a:r>
              <a:rPr lang="en-US" sz="1200" dirty="0"/>
              <a:t>2. Worksheet (</a:t>
            </a:r>
            <a:r>
              <a:rPr lang="en-US" sz="1200" dirty="0" err="1"/>
              <a:t>lembar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</a:t>
            </a:r>
            <a:r>
              <a:rPr lang="en-US" sz="1200" dirty="0" err="1"/>
              <a:t>sekumpulan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3. Column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A </a:t>
            </a:r>
            <a:r>
              <a:rPr lang="en-US" sz="1200" dirty="0" err="1"/>
              <a:t>sd</a:t>
            </a:r>
            <a:r>
              <a:rPr lang="en-US" sz="1200" dirty="0"/>
              <a:t> IV (256 </a:t>
            </a:r>
            <a:r>
              <a:rPr lang="en-US" sz="1200" dirty="0" err="1"/>
              <a:t>kolom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4. Rows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1 </a:t>
            </a:r>
            <a:r>
              <a:rPr lang="en-US" sz="1200" dirty="0" err="1"/>
              <a:t>sd</a:t>
            </a:r>
            <a:r>
              <a:rPr lang="en-US" sz="1200" dirty="0"/>
              <a:t> 65.536 (65.536 </a:t>
            </a:r>
            <a:r>
              <a:rPr lang="en-US" sz="1200" dirty="0" err="1"/>
              <a:t>baris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5. Cell : </a:t>
            </a:r>
            <a:r>
              <a:rPr lang="en-US" sz="1200" dirty="0" err="1"/>
              <a:t>pertemuan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Range : </a:t>
            </a:r>
            <a:r>
              <a:rPr lang="en-US" sz="1200" dirty="0" err="1"/>
              <a:t>sekumpulan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Active cell : </a:t>
            </a:r>
            <a:r>
              <a:rPr lang="en-US" sz="1200" dirty="0" err="1"/>
              <a:t>bagian</a:t>
            </a:r>
            <a:r>
              <a:rPr lang="en-US" sz="1200" dirty="0"/>
              <a:t> yang </a:t>
            </a:r>
            <a:r>
              <a:rPr lang="en-US" sz="1200" dirty="0" err="1"/>
              <a:t>ditunjukan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smtClean="0"/>
              <a:t>pointer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data,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formulas, data, review, view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21730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Excel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Baris</a:t>
            </a:r>
            <a:r>
              <a:rPr lang="en-US" sz="1200" dirty="0"/>
              <a:t> menu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Tombol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Alamat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</a:t>
            </a:r>
            <a:r>
              <a:rPr lang="en-US" sz="1200" dirty="0" err="1"/>
              <a:t>Baris</a:t>
            </a:r>
            <a:r>
              <a:rPr lang="en-US" sz="1200" dirty="0"/>
              <a:t> formula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9.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10. </a:t>
            </a:r>
            <a:r>
              <a:rPr lang="en-US" sz="1200" dirty="0" err="1"/>
              <a:t>Tabulasi</a:t>
            </a:r>
            <a:r>
              <a:rPr lang="en-US" sz="1200" dirty="0"/>
              <a:t> sheet</a:t>
            </a:r>
            <a:br>
              <a:rPr lang="en-US" sz="1200" dirty="0"/>
            </a:br>
            <a:r>
              <a:rPr lang="en-US" sz="1200" dirty="0"/>
              <a:t>11. </a:t>
            </a:r>
            <a:r>
              <a:rPr lang="en-US" sz="1200" dirty="0" err="1"/>
              <a:t>Penggulung</a:t>
            </a:r>
            <a:r>
              <a:rPr lang="en-US" sz="1200" dirty="0"/>
              <a:t> vertical </a:t>
            </a:r>
            <a:r>
              <a:rPr lang="en-US" sz="1200" dirty="0" err="1"/>
              <a:t>dan</a:t>
            </a:r>
            <a:r>
              <a:rPr lang="en-US" sz="1200" dirty="0"/>
              <a:t> horizontal</a:t>
            </a:r>
            <a:br>
              <a:rPr lang="en-US" sz="1200" dirty="0"/>
            </a:br>
            <a:r>
              <a:rPr lang="en-US" sz="1200" dirty="0"/>
              <a:t>12. Task pane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265;p38"/>
          <p:cNvSpPr txBox="1"/>
          <p:nvPr/>
        </p:nvSpPr>
        <p:spPr>
          <a:xfrm>
            <a:off x="4953000" y="120015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200" b="1" dirty="0" err="1"/>
              <a:t>Rumus</a:t>
            </a:r>
            <a:r>
              <a:rPr lang="en-US" sz="1200" b="1" dirty="0"/>
              <a:t> yang </a:t>
            </a:r>
            <a:r>
              <a:rPr lang="en-US" sz="1200" b="1" dirty="0" err="1"/>
              <a:t>digunakan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SUM : </a:t>
            </a:r>
            <a:r>
              <a:rPr lang="en-US" sz="1200" dirty="0" err="1"/>
              <a:t>menjumlah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AVERAGE : </a:t>
            </a:r>
            <a:r>
              <a:rPr lang="en-US" sz="1200" dirty="0" err="1"/>
              <a:t>menghitung</a:t>
            </a:r>
            <a:r>
              <a:rPr lang="en-US" sz="1200" dirty="0"/>
              <a:t> rata-rata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MAX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MIN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terendah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COUNT :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banyaknya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" sz="800" dirty="0" smtClean="0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.</a:t>
            </a:r>
            <a:endParaRPr sz="800" b="1" dirty="0">
              <a:solidFill>
                <a:schemeClr val="dk1"/>
              </a:solidFill>
              <a:latin typeface="Bellota Text"/>
              <a:ea typeface="Bellota Text"/>
              <a:cs typeface="Bellota Text"/>
              <a:sym typeface="Bellota Text"/>
            </a:endParaRPr>
          </a:p>
        </p:txBody>
      </p:sp>
    </p:spTree>
    <p:extLst>
      <p:ext uri="{BB962C8B-B14F-4D97-AF65-F5344CB8AC3E}">
        <p14:creationId xmlns:p14="http://schemas.microsoft.com/office/powerpoint/2010/main" val="3890145707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102</Words>
  <Application>Microsoft Office PowerPoint</Application>
  <PresentationFormat>On-screen Show (16:9)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Bellota Text Light</vt:lpstr>
      <vt:lpstr>Bellota Text</vt:lpstr>
      <vt:lpstr>Catamaran ExtraBold</vt:lpstr>
      <vt:lpstr>Catamaran</vt:lpstr>
      <vt:lpstr>Bagot template</vt:lpstr>
      <vt:lpstr>TIK   SMP Kelas 9</vt:lpstr>
      <vt:lpstr>M1</vt:lpstr>
      <vt:lpstr>M2</vt:lpstr>
      <vt:lpstr>M2</vt:lpstr>
      <vt:lpstr>M3</vt:lpstr>
      <vt:lpstr>M4</vt:lpstr>
      <vt:lpstr>M4</vt:lpstr>
      <vt:lpstr>M5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9</cp:revision>
  <dcterms:modified xsi:type="dcterms:W3CDTF">2020-07-16T07:24:59Z</dcterms:modified>
</cp:coreProperties>
</file>