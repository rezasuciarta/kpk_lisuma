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12"/>
  </p:notesMasterIdLst>
  <p:sldIdLst>
    <p:sldId id="259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</p:sldIdLst>
  <p:sldSz cx="9144000" cy="5143500" type="screen16x9"/>
  <p:notesSz cx="6858000" cy="9144000"/>
  <p:embeddedFontLst>
    <p:embeddedFont>
      <p:font typeface="Bellota Text Light" charset="0"/>
      <p:regular r:id="rId13"/>
      <p:bold r:id="rId14"/>
      <p:italic r:id="rId15"/>
      <p:boldItalic r:id="rId16"/>
    </p:embeddedFont>
    <p:embeddedFont>
      <p:font typeface="Bellota Text" charset="0"/>
      <p:regular r:id="rId17"/>
      <p:bold r:id="rId18"/>
      <p:italic r:id="rId19"/>
      <p:boldItalic r:id="rId20"/>
    </p:embeddedFont>
    <p:embeddedFont>
      <p:font typeface="Catamaran ExtraBold" charset="0"/>
      <p:bold r:id="rId21"/>
    </p:embeddedFont>
    <p:embeddedFont>
      <p:font typeface="Catamaran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98" autoAdjust="0"/>
  </p:normalViewPr>
  <p:slideViewPr>
    <p:cSldViewPr>
      <p:cViewPr>
        <p:scale>
          <a:sx n="53" d="100"/>
          <a:sy n="53" d="100"/>
        </p:scale>
        <p:origin x="-192" y="-6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01437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285750" algn="bl" rotWithShape="0">
              <a:srgbClr val="00131F">
                <a:alpha val="7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927850" y="15833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27850" y="2840054"/>
            <a:ext cx="52884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terodactyl">
  <p:cSld name="TITLE_ONLY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ctrTitle"/>
          </p:nvPr>
        </p:nvSpPr>
        <p:spPr>
          <a:xfrm>
            <a:off x="1905000" y="19621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TIK  </a:t>
            </a:r>
            <a:br>
              <a:rPr lang="en-US" dirty="0" smtClean="0"/>
            </a:br>
            <a:r>
              <a:rPr lang="en-US" dirty="0" smtClean="0"/>
              <a:t>SMP </a:t>
            </a:r>
            <a:r>
              <a:rPr lang="en-US" dirty="0" err="1" smtClean="0"/>
              <a:t>Kelas</a:t>
            </a:r>
            <a:r>
              <a:rPr lang="en-US" smtClean="0"/>
              <a:t> </a:t>
            </a:r>
            <a:r>
              <a:rPr lang="en-US" smtClean="0"/>
              <a:t>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Berbagai Jenis Peralatan Teknologi Informasi dan Komunikasi</a:t>
            </a:r>
          </a:p>
          <a:p>
            <a:pPr algn="ctr">
              <a:buClr>
                <a:schemeClr val="dk1"/>
              </a:buClr>
              <a:buSzPts val="1100"/>
            </a:pPr>
            <a:endParaRPr lang="en" b="1" dirty="0" smtClean="0"/>
          </a:p>
          <a:p>
            <a:pPr>
              <a:buClr>
                <a:schemeClr val="dk1"/>
              </a:buClr>
              <a:buSzPts val="1100"/>
            </a:pPr>
            <a:r>
              <a:rPr lang="en-US" sz="1200" dirty="0" err="1"/>
              <a:t>Peralatan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zaman</a:t>
            </a:r>
            <a:r>
              <a:rPr lang="en-US" sz="1200" dirty="0"/>
              <a:t> </a:t>
            </a:r>
            <a:r>
              <a:rPr lang="en-US" sz="1200" dirty="0" err="1"/>
              <a:t>dulu</a:t>
            </a:r>
            <a:r>
              <a:rPr lang="en-US" sz="1200" dirty="0"/>
              <a:t> :</a:t>
            </a:r>
            <a:br>
              <a:rPr lang="en-US" sz="1200" dirty="0"/>
            </a:br>
            <a:r>
              <a:rPr lang="en-US" sz="1200" dirty="0"/>
              <a:t>1. Papyrus : </a:t>
            </a:r>
            <a:r>
              <a:rPr lang="en-US" sz="1200" dirty="0" err="1"/>
              <a:t>kertas</a:t>
            </a:r>
            <a:r>
              <a:rPr lang="en-US" sz="1200" dirty="0"/>
              <a:t> yang </a:t>
            </a:r>
            <a:r>
              <a:rPr lang="en-US" sz="1200" dirty="0" err="1"/>
              <a:t>terbuat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daun</a:t>
            </a:r>
            <a:r>
              <a:rPr lang="en-US" sz="1200" dirty="0"/>
              <a:t> </a:t>
            </a:r>
            <a:r>
              <a:rPr lang="en-US" sz="1200" dirty="0" err="1"/>
              <a:t>tumbuhan</a:t>
            </a:r>
            <a:r>
              <a:rPr lang="en-US" sz="1200" dirty="0"/>
              <a:t> </a:t>
            </a:r>
            <a:r>
              <a:rPr lang="en-US" sz="1200" dirty="0" err="1"/>
              <a:t>papyrys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menulis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Bereguh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yang </a:t>
            </a:r>
            <a:r>
              <a:rPr lang="en-US" sz="1200" dirty="0" err="1"/>
              <a:t>terbuat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tanduk</a:t>
            </a:r>
            <a:r>
              <a:rPr lang="en-US" sz="1200" dirty="0"/>
              <a:t> </a:t>
            </a:r>
            <a:r>
              <a:rPr lang="en-US" sz="1200" dirty="0" err="1"/>
              <a:t>kerbau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ditiup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Kulkul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yang </a:t>
            </a:r>
            <a:r>
              <a:rPr lang="en-US" sz="1200" dirty="0" err="1"/>
              <a:t>berbentuk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kentongan</a:t>
            </a:r>
            <a:r>
              <a:rPr lang="en-US" sz="1200" dirty="0"/>
              <a:t> yang </a:t>
            </a:r>
            <a:r>
              <a:rPr lang="en-US" sz="1200" dirty="0" err="1"/>
              <a:t>terbuat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kayu</a:t>
            </a:r>
            <a:r>
              <a:rPr lang="en-US" sz="1200" dirty="0"/>
              <a:t> yang </a:t>
            </a:r>
            <a:r>
              <a:rPr lang="en-US" sz="1200" dirty="0" err="1"/>
              <a:t>berongga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dipukul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Dan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tradisional</a:t>
            </a:r>
            <a:r>
              <a:rPr lang="en-US" sz="1200" dirty="0"/>
              <a:t> yang lain</a:t>
            </a:r>
            <a:br>
              <a:rPr lang="en-US" sz="1200" dirty="0"/>
            </a:br>
            <a:r>
              <a:rPr lang="en-US" sz="1200" dirty="0" err="1"/>
              <a:t>Peralatan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zama</a:t>
            </a:r>
            <a:r>
              <a:rPr lang="en-US" sz="1200" dirty="0"/>
              <a:t> modern </a:t>
            </a:r>
            <a:r>
              <a:rPr lang="en-US" sz="1200" dirty="0" err="1"/>
              <a:t>semual</a:t>
            </a:r>
            <a:r>
              <a:rPr lang="en-US" sz="1200" dirty="0"/>
              <a:t> </a:t>
            </a:r>
            <a:r>
              <a:rPr lang="en-US" sz="1200" dirty="0" err="1"/>
              <a:t>dipisah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dua</a:t>
            </a:r>
            <a:r>
              <a:rPr lang="en-US" sz="1200" dirty="0"/>
              <a:t>: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contoh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computer : </a:t>
            </a:r>
            <a:r>
              <a:rPr lang="en-US" sz="1200" dirty="0" err="1"/>
              <a:t>mesin</a:t>
            </a:r>
            <a:r>
              <a:rPr lang="en-US" sz="1200" dirty="0"/>
              <a:t> </a:t>
            </a:r>
            <a:r>
              <a:rPr lang="en-US" sz="1200" dirty="0" err="1"/>
              <a:t>serbaguna</a:t>
            </a:r>
            <a:r>
              <a:rPr lang="en-US" sz="1200" dirty="0"/>
              <a:t> yang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dikontrol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program,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mengolah</a:t>
            </a:r>
            <a:r>
              <a:rPr lang="en-US" sz="1200" dirty="0"/>
              <a:t> data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contoh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Surat</a:t>
            </a:r>
            <a:r>
              <a:rPr lang="en-US" sz="1200" dirty="0"/>
              <a:t> </a:t>
            </a:r>
            <a:r>
              <a:rPr lang="en-US" sz="1200" dirty="0" err="1"/>
              <a:t>kabar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yang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dibaca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Radio: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yang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didengar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Telepon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dua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bergantian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Televisi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yang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di </a:t>
            </a:r>
            <a:r>
              <a:rPr lang="en-US" sz="1200" dirty="0" err="1"/>
              <a:t>dengar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dilihat</a:t>
            </a: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172864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Sejarah Perkembangan TIK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 err="1"/>
              <a:t>Sejarah</a:t>
            </a:r>
            <a:r>
              <a:rPr lang="en-US" sz="1200" dirty="0"/>
              <a:t> </a:t>
            </a:r>
            <a:r>
              <a:rPr lang="en-US" sz="1200" dirty="0" err="1"/>
              <a:t>perkembangan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dibagi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Periode</a:t>
            </a:r>
            <a:r>
              <a:rPr lang="en-US" sz="1200" dirty="0"/>
              <a:t> </a:t>
            </a:r>
            <a:r>
              <a:rPr lang="en-US" sz="1200" dirty="0" err="1"/>
              <a:t>sebelum</a:t>
            </a:r>
            <a:r>
              <a:rPr lang="en-US" sz="1200" dirty="0"/>
              <a:t> </a:t>
            </a:r>
            <a:r>
              <a:rPr lang="en-US" sz="1200" dirty="0" err="1"/>
              <a:t>masehi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a. </a:t>
            </a:r>
            <a:r>
              <a:rPr lang="en-US" sz="1200" dirty="0" err="1"/>
              <a:t>Periode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3000 SM</a:t>
            </a:r>
            <a:br>
              <a:rPr lang="en-US" sz="1200" dirty="0"/>
            </a:b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didinding</a:t>
            </a:r>
            <a:r>
              <a:rPr lang="en-US" sz="1200" dirty="0"/>
              <a:t> </a:t>
            </a:r>
            <a:r>
              <a:rPr lang="en-US" sz="1200" dirty="0" err="1"/>
              <a:t>gua</a:t>
            </a:r>
            <a:r>
              <a:rPr lang="en-US" sz="1200" dirty="0"/>
              <a:t> yang </a:t>
            </a:r>
            <a:r>
              <a:rPr lang="en-US" sz="1200" dirty="0" err="1"/>
              <a:t>menceritakan</a:t>
            </a:r>
            <a:r>
              <a:rPr lang="en-US" sz="1200" dirty="0"/>
              <a:t> </a:t>
            </a:r>
            <a:r>
              <a:rPr lang="en-US" sz="1200" dirty="0" err="1"/>
              <a:t>tentang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berburu</a:t>
            </a:r>
            <a:r>
              <a:rPr lang="en-US" sz="1200" dirty="0"/>
              <a:t>, </a:t>
            </a:r>
            <a:r>
              <a:rPr lang="en-US" sz="1200" dirty="0" err="1"/>
              <a:t>bahasa</a:t>
            </a:r>
            <a:r>
              <a:rPr lang="en-US" sz="1200" dirty="0"/>
              <a:t>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dengn</a:t>
            </a:r>
            <a:r>
              <a:rPr lang="en-US" sz="1200" dirty="0"/>
              <a:t> </a:t>
            </a:r>
            <a:r>
              <a:rPr lang="en-US" sz="1200" dirty="0" err="1"/>
              <a:t>dengusan</a:t>
            </a:r>
            <a:r>
              <a:rPr lang="en-US" sz="1200" dirty="0"/>
              <a:t>, </a:t>
            </a:r>
            <a:r>
              <a:rPr lang="en-US" sz="1200" dirty="0" err="1"/>
              <a:t>isyarat</a:t>
            </a:r>
            <a:r>
              <a:rPr lang="en-US" sz="1200" dirty="0"/>
              <a:t>,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gerakan</a:t>
            </a:r>
            <a:r>
              <a:rPr lang="en-US" sz="1200" dirty="0"/>
              <a:t> </a:t>
            </a:r>
            <a:r>
              <a:rPr lang="en-US" sz="1200" dirty="0" err="1"/>
              <a:t>tangan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b. </a:t>
            </a:r>
            <a:r>
              <a:rPr lang="en-US" sz="1200" dirty="0" err="1"/>
              <a:t>Periode</a:t>
            </a:r>
            <a:r>
              <a:rPr lang="en-US" sz="1200" dirty="0"/>
              <a:t> 3000 SM</a:t>
            </a:r>
            <a:br>
              <a:rPr lang="en-US" sz="1200" dirty="0"/>
            </a:br>
            <a:r>
              <a:rPr lang="en-US" sz="1200" dirty="0"/>
              <a:t>3000 SM </a:t>
            </a:r>
            <a:r>
              <a:rPr lang="en-US" sz="1200" dirty="0" err="1"/>
              <a:t>bangsa</a:t>
            </a:r>
            <a:r>
              <a:rPr lang="en-US" sz="1200" dirty="0"/>
              <a:t> </a:t>
            </a:r>
            <a:r>
              <a:rPr lang="en-US" sz="1200" dirty="0" err="1"/>
              <a:t>sumeria</a:t>
            </a:r>
            <a:r>
              <a:rPr lang="en-US" sz="1200" dirty="0"/>
              <a:t> </a:t>
            </a:r>
            <a:r>
              <a:rPr lang="en-US" sz="1200" dirty="0" err="1"/>
              <a:t>mengguakan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symbol-</a:t>
            </a:r>
            <a:r>
              <a:rPr lang="en-US" sz="1200" dirty="0" err="1"/>
              <a:t>simbol</a:t>
            </a:r>
            <a:r>
              <a:rPr lang="en-US" sz="1200" dirty="0"/>
              <a:t> (</a:t>
            </a:r>
            <a:r>
              <a:rPr lang="en-US" sz="1200" dirty="0" err="1"/>
              <a:t>huruf</a:t>
            </a:r>
            <a:r>
              <a:rPr lang="en-US" sz="1200" dirty="0"/>
              <a:t> </a:t>
            </a:r>
            <a:r>
              <a:rPr lang="en-US" sz="1200" dirty="0" err="1"/>
              <a:t>piktograf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2900 SM </a:t>
            </a:r>
            <a:r>
              <a:rPr lang="en-US" sz="1200" dirty="0" err="1"/>
              <a:t>bangsa</a:t>
            </a:r>
            <a:r>
              <a:rPr lang="en-US" sz="1200" dirty="0"/>
              <a:t> </a:t>
            </a:r>
            <a:r>
              <a:rPr lang="en-US" sz="1200" dirty="0" err="1"/>
              <a:t>mesir</a:t>
            </a:r>
            <a:r>
              <a:rPr lang="en-US" sz="1200" dirty="0"/>
              <a:t> </a:t>
            </a:r>
            <a:r>
              <a:rPr lang="en-US" sz="1200" dirty="0" err="1"/>
              <a:t>kuno</a:t>
            </a:r>
            <a:r>
              <a:rPr lang="en-US" sz="1200" dirty="0"/>
              <a:t> </a:t>
            </a:r>
            <a:r>
              <a:rPr lang="en-US" sz="1200" dirty="0" err="1"/>
              <a:t>mengukan</a:t>
            </a:r>
            <a:r>
              <a:rPr lang="en-US" sz="1200" dirty="0"/>
              <a:t> </a:t>
            </a:r>
            <a:r>
              <a:rPr lang="en-US" sz="1200" dirty="0" err="1"/>
              <a:t>huruf</a:t>
            </a:r>
            <a:r>
              <a:rPr lang="en-US" sz="1200" dirty="0"/>
              <a:t> </a:t>
            </a:r>
            <a:r>
              <a:rPr lang="en-US" sz="1200" dirty="0" err="1"/>
              <a:t>hieroglif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500 SM </a:t>
            </a:r>
            <a:r>
              <a:rPr lang="en-US" sz="1200" dirty="0" err="1"/>
              <a:t>bagsa</a:t>
            </a:r>
            <a:r>
              <a:rPr lang="en-US" sz="1200" dirty="0"/>
              <a:t> </a:t>
            </a:r>
            <a:r>
              <a:rPr lang="en-US" sz="1200" dirty="0" err="1"/>
              <a:t>mesir</a:t>
            </a:r>
            <a:r>
              <a:rPr lang="en-US" sz="1200" dirty="0"/>
              <a:t> </a:t>
            </a:r>
            <a:r>
              <a:rPr lang="en-US" sz="1200" dirty="0" err="1"/>
              <a:t>kuno</a:t>
            </a:r>
            <a:r>
              <a:rPr lang="en-US" sz="1200" dirty="0"/>
              <a:t> </a:t>
            </a:r>
            <a:r>
              <a:rPr lang="en-US" sz="1200" dirty="0" err="1"/>
              <a:t>mengukana</a:t>
            </a:r>
            <a:r>
              <a:rPr lang="en-US" sz="1200" dirty="0"/>
              <a:t> </a:t>
            </a:r>
            <a:r>
              <a:rPr lang="en-US" sz="1200" dirty="0" err="1"/>
              <a:t>serat</a:t>
            </a:r>
            <a:r>
              <a:rPr lang="en-US" sz="1200" dirty="0"/>
              <a:t> papyrus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kertas</a:t>
            </a:r>
            <a:r>
              <a:rPr lang="en-US" sz="1200" dirty="0"/>
              <a:t> </a:t>
            </a:r>
            <a:r>
              <a:rPr lang="en-US" sz="1200" dirty="0" err="1"/>
              <a:t>untu</a:t>
            </a:r>
            <a:r>
              <a:rPr lang="en-US" sz="1200" dirty="0"/>
              <a:t> </a:t>
            </a:r>
            <a:r>
              <a:rPr lang="en-US" sz="1200" dirty="0" err="1"/>
              <a:t>menulis</a:t>
            </a:r>
            <a:r>
              <a:rPr lang="en-US" sz="1200" dirty="0"/>
              <a:t> </a:t>
            </a:r>
            <a:r>
              <a:rPr lang="en-US" sz="1200" dirty="0" err="1"/>
              <a:t>sebuah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105 SM </a:t>
            </a:r>
            <a:r>
              <a:rPr lang="en-US" sz="1200" dirty="0" err="1"/>
              <a:t>bangsa</a:t>
            </a:r>
            <a:r>
              <a:rPr lang="en-US" sz="1200" dirty="0"/>
              <a:t> </a:t>
            </a:r>
            <a:r>
              <a:rPr lang="en-US" sz="1200" dirty="0" err="1"/>
              <a:t>cina</a:t>
            </a:r>
            <a:r>
              <a:rPr lang="en-US" sz="1200" dirty="0"/>
              <a:t> </a:t>
            </a:r>
            <a:r>
              <a:rPr lang="en-US" sz="1200" dirty="0" err="1"/>
              <a:t>menggukan</a:t>
            </a:r>
            <a:r>
              <a:rPr lang="en-US" sz="1200" dirty="0"/>
              <a:t> </a:t>
            </a:r>
            <a:r>
              <a:rPr lang="en-US" sz="1200" dirty="0" err="1"/>
              <a:t>kertas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serat</a:t>
            </a:r>
            <a:r>
              <a:rPr lang="en-US" sz="1200" dirty="0"/>
              <a:t> </a:t>
            </a:r>
            <a:r>
              <a:rPr lang="en-US" sz="1200" dirty="0" err="1"/>
              <a:t>bambu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27979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Sejarah Perkembangan TIK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 smtClean="0"/>
              <a:t>2. </a:t>
            </a:r>
            <a:r>
              <a:rPr lang="en-US" sz="1200" dirty="0"/>
              <a:t>. </a:t>
            </a:r>
            <a:r>
              <a:rPr lang="en-US" sz="1200" dirty="0" err="1"/>
              <a:t>Periode</a:t>
            </a:r>
            <a:r>
              <a:rPr lang="en-US" sz="1200" dirty="0"/>
              <a:t> </a:t>
            </a:r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masehi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a. </a:t>
            </a:r>
            <a:r>
              <a:rPr lang="en-US" sz="1200" dirty="0" err="1"/>
              <a:t>Penemuan</a:t>
            </a:r>
            <a:r>
              <a:rPr lang="en-US" sz="1200" dirty="0"/>
              <a:t> </a:t>
            </a:r>
            <a:r>
              <a:rPr lang="en-US" sz="1200" dirty="0" err="1"/>
              <a:t>telegraf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Samuel Finley Breese Morse 1837</a:t>
            </a:r>
            <a:br>
              <a:rPr lang="en-US" sz="1200" dirty="0"/>
            </a:br>
            <a:r>
              <a:rPr lang="en-US" sz="1200" dirty="0"/>
              <a:t>b. </a:t>
            </a:r>
            <a:r>
              <a:rPr lang="en-US" sz="1200" dirty="0" err="1"/>
              <a:t>Telepon</a:t>
            </a:r>
            <a:r>
              <a:rPr lang="en-US" sz="1200" dirty="0"/>
              <a:t> </a:t>
            </a:r>
            <a:r>
              <a:rPr lang="en-US" sz="1200" dirty="0" err="1"/>
              <a:t>ditemukan</a:t>
            </a:r>
            <a:r>
              <a:rPr lang="en-US" sz="1200" dirty="0"/>
              <a:t> Antonio </a:t>
            </a:r>
            <a:r>
              <a:rPr lang="en-US" sz="1200" dirty="0" err="1"/>
              <a:t>Meucci</a:t>
            </a:r>
            <a:r>
              <a:rPr lang="en-US" sz="1200" dirty="0"/>
              <a:t> 1874, </a:t>
            </a:r>
            <a:r>
              <a:rPr lang="en-US" sz="1200" dirty="0" err="1"/>
              <a:t>dikembangkan</a:t>
            </a:r>
            <a:r>
              <a:rPr lang="en-US" sz="1200" dirty="0"/>
              <a:t> Alexander Graham Bell 1876</a:t>
            </a:r>
            <a:br>
              <a:rPr lang="en-US" sz="1200" dirty="0"/>
            </a:br>
            <a:r>
              <a:rPr lang="en-US" sz="1200" dirty="0"/>
              <a:t>c. Radio, </a:t>
            </a:r>
            <a:r>
              <a:rPr lang="en-US" sz="1200" dirty="0" err="1"/>
              <a:t>Guglielmo</a:t>
            </a:r>
            <a:r>
              <a:rPr lang="en-US" sz="1200" dirty="0"/>
              <a:t> Marconi 1901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mengirimkan</a:t>
            </a:r>
            <a:r>
              <a:rPr lang="en-US" sz="1200" dirty="0"/>
              <a:t> </a:t>
            </a:r>
            <a:r>
              <a:rPr lang="en-US" sz="1200" dirty="0" err="1"/>
              <a:t>sinyal-sinyal</a:t>
            </a:r>
            <a:r>
              <a:rPr lang="en-US" sz="1200" dirty="0"/>
              <a:t> </a:t>
            </a:r>
            <a:r>
              <a:rPr lang="en-US" sz="1200" dirty="0" err="1"/>
              <a:t>kode</a:t>
            </a:r>
            <a:r>
              <a:rPr lang="en-US" sz="1200" dirty="0"/>
              <a:t> </a:t>
            </a:r>
            <a:r>
              <a:rPr lang="en-US" sz="1200" dirty="0" err="1"/>
              <a:t>telegraf</a:t>
            </a:r>
            <a:r>
              <a:rPr lang="en-US" sz="1200" dirty="0"/>
              <a:t> </a:t>
            </a:r>
            <a:r>
              <a:rPr lang="en-US" sz="1200" dirty="0" err="1"/>
              <a:t>melewati</a:t>
            </a:r>
            <a:r>
              <a:rPr lang="en-US" sz="1200" dirty="0"/>
              <a:t> </a:t>
            </a:r>
            <a:r>
              <a:rPr lang="en-US" sz="1200" dirty="0" err="1"/>
              <a:t>lautan</a:t>
            </a:r>
            <a:r>
              <a:rPr lang="en-US" sz="1200" dirty="0"/>
              <a:t> </a:t>
            </a:r>
            <a:r>
              <a:rPr lang="en-US" sz="1200" dirty="0" err="1"/>
              <a:t>Atlantik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eletronagmetik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d. </a:t>
            </a:r>
            <a:r>
              <a:rPr lang="en-US" sz="1200" dirty="0" err="1"/>
              <a:t>Televisi</a:t>
            </a:r>
            <a:r>
              <a:rPr lang="en-US" sz="1200" dirty="0"/>
              <a:t> </a:t>
            </a:r>
            <a:r>
              <a:rPr lang="en-US" sz="1200" dirty="0" err="1"/>
              <a:t>ditemukan</a:t>
            </a:r>
            <a:r>
              <a:rPr lang="en-US" sz="1200" dirty="0"/>
              <a:t> Paul </a:t>
            </a:r>
            <a:r>
              <a:rPr lang="en-US" sz="1200" dirty="0" err="1"/>
              <a:t>Nipkow</a:t>
            </a:r>
            <a:r>
              <a:rPr lang="en-US" sz="1200" dirty="0"/>
              <a:t> 18883</a:t>
            </a:r>
            <a:br>
              <a:rPr lang="en-US" sz="1200" dirty="0"/>
            </a:br>
            <a:r>
              <a:rPr lang="en-US" sz="1200" dirty="0"/>
              <a:t>e. Dan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penemuan</a:t>
            </a:r>
            <a:r>
              <a:rPr lang="en-US" sz="1200" dirty="0"/>
              <a:t> lain</a:t>
            </a:r>
            <a:endParaRPr lang="en-US" sz="1200" b="1" dirty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35088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M3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Mengaktifkan dan mematikan komputer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 err="1" smtClean="0"/>
              <a:t>Prosedur</a:t>
            </a:r>
            <a:r>
              <a:rPr lang="en-US" sz="1200" dirty="0" smtClean="0"/>
              <a:t> </a:t>
            </a:r>
            <a:r>
              <a:rPr lang="en-US" sz="1200" dirty="0"/>
              <a:t>yang </a:t>
            </a:r>
            <a:r>
              <a:rPr lang="en-US" sz="1200" dirty="0" err="1"/>
              <a:t>benar</a:t>
            </a:r>
            <a:r>
              <a:rPr lang="en-US" sz="1200" dirty="0"/>
              <a:t> </a:t>
            </a:r>
            <a:r>
              <a:rPr lang="en-US" sz="1200" dirty="0" err="1"/>
              <a:t>menghidupkan</a:t>
            </a:r>
            <a:r>
              <a:rPr lang="en-US" sz="1200" dirty="0"/>
              <a:t> computer</a:t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Menyalakan</a:t>
            </a:r>
            <a:r>
              <a:rPr lang="en-US" sz="1200" dirty="0"/>
              <a:t> stabilizer</a:t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Menyalakan</a:t>
            </a:r>
            <a:r>
              <a:rPr lang="en-US" sz="1200" dirty="0"/>
              <a:t> power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Chassing</a:t>
            </a:r>
            <a:r>
              <a:rPr lang="en-US" sz="1200" dirty="0"/>
              <a:t> / CPU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Menyalakan</a:t>
            </a:r>
            <a:r>
              <a:rPr lang="en-US" sz="1200" dirty="0"/>
              <a:t> power </a:t>
            </a:r>
            <a:r>
              <a:rPr lang="en-US" sz="1200" dirty="0" err="1"/>
              <a:t>pada</a:t>
            </a:r>
            <a:r>
              <a:rPr lang="en-US" sz="1200" dirty="0"/>
              <a:t> monitor</a:t>
            </a:r>
            <a:br>
              <a:rPr lang="en-US" sz="1200" dirty="0"/>
            </a:br>
            <a:r>
              <a:rPr lang="en-US" sz="1200" dirty="0"/>
              <a:t>4. </a:t>
            </a:r>
            <a:r>
              <a:rPr lang="en-US" sz="1200" dirty="0" err="1"/>
              <a:t>Menunggu</a:t>
            </a:r>
            <a:r>
              <a:rPr lang="en-US" sz="1200" dirty="0"/>
              <a:t> computer loading system </a:t>
            </a:r>
            <a:r>
              <a:rPr lang="en-US" sz="1200" dirty="0" err="1"/>
              <a:t>operasi</a:t>
            </a:r>
            <a:r>
              <a:rPr lang="en-US" sz="1200" dirty="0"/>
              <a:t> (missal Windows)</a:t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Tunggu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saat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</a:t>
            </a:r>
            <a:r>
              <a:rPr lang="en-US" sz="1200" dirty="0" err="1"/>
              <a:t>keluar</a:t>
            </a:r>
            <a:r>
              <a:rPr lang="en-US" sz="1200" dirty="0"/>
              <a:t> </a:t>
            </a:r>
            <a:r>
              <a:rPr lang="en-US" sz="1200" dirty="0" err="1"/>
              <a:t>tampilan</a:t>
            </a:r>
            <a:r>
              <a:rPr lang="en-US" sz="1200" dirty="0"/>
              <a:t> desktop di monitor</a:t>
            </a:r>
            <a:br>
              <a:rPr lang="en-US" sz="1200" dirty="0"/>
            </a:br>
            <a:r>
              <a:rPr lang="en-US" sz="1200" dirty="0" err="1"/>
              <a:t>Prosedur</a:t>
            </a:r>
            <a:r>
              <a:rPr lang="en-US" sz="1200" dirty="0"/>
              <a:t> yang </a:t>
            </a:r>
            <a:r>
              <a:rPr lang="en-US" sz="1200" dirty="0" err="1"/>
              <a:t>benar</a:t>
            </a:r>
            <a:r>
              <a:rPr lang="en-US" sz="1200" dirty="0"/>
              <a:t> </a:t>
            </a:r>
            <a:r>
              <a:rPr lang="en-US" sz="1200" dirty="0" err="1"/>
              <a:t>mematikan</a:t>
            </a:r>
            <a:r>
              <a:rPr lang="en-US" sz="1200" dirty="0"/>
              <a:t> computer</a:t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Klik</a:t>
            </a:r>
            <a:r>
              <a:rPr lang="en-US" sz="1200" dirty="0"/>
              <a:t> </a:t>
            </a:r>
            <a:r>
              <a:rPr lang="en-US" sz="1200" dirty="0" err="1"/>
              <a:t>tombol</a:t>
            </a:r>
            <a:r>
              <a:rPr lang="en-US" sz="1200" dirty="0"/>
              <a:t> start</a:t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Pilih</a:t>
            </a:r>
            <a:r>
              <a:rPr lang="en-US" sz="1200" dirty="0"/>
              <a:t> shut down </a:t>
            </a:r>
            <a:r>
              <a:rPr lang="en-US" sz="1200" dirty="0" err="1"/>
              <a:t>atau</a:t>
            </a:r>
            <a:r>
              <a:rPr lang="en-US" sz="1200" dirty="0"/>
              <a:t> turn off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Klik</a:t>
            </a:r>
            <a:r>
              <a:rPr lang="en-US" sz="1200" dirty="0"/>
              <a:t> OK</a:t>
            </a:r>
            <a:br>
              <a:rPr lang="en-US" sz="1200" dirty="0"/>
            </a:br>
            <a:r>
              <a:rPr lang="en-US" sz="1200" dirty="0"/>
              <a:t>4. </a:t>
            </a:r>
            <a:r>
              <a:rPr lang="en-US" sz="1200" dirty="0" err="1"/>
              <a:t>Tunggu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saat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computer </a:t>
            </a:r>
            <a:r>
              <a:rPr lang="en-US" sz="1200" dirty="0" err="1"/>
              <a:t>mati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Matikan</a:t>
            </a:r>
            <a:r>
              <a:rPr lang="en-US" sz="1200" dirty="0"/>
              <a:t> </a:t>
            </a:r>
            <a:r>
              <a:rPr lang="en-US" sz="1200" dirty="0" err="1"/>
              <a:t>tombol</a:t>
            </a:r>
            <a:r>
              <a:rPr lang="en-US" sz="1200" dirty="0"/>
              <a:t> off </a:t>
            </a:r>
            <a:r>
              <a:rPr lang="en-US" sz="1200" dirty="0" err="1"/>
              <a:t>pada</a:t>
            </a:r>
            <a:r>
              <a:rPr lang="en-US" sz="1200" dirty="0"/>
              <a:t> monitor </a:t>
            </a:r>
            <a:r>
              <a:rPr lang="en-US" sz="1200" dirty="0" err="1"/>
              <a:t>dan</a:t>
            </a:r>
            <a:r>
              <a:rPr lang="en-US" sz="1200" dirty="0"/>
              <a:t> stabilizer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334692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Perangkat Keras dan Lunak Komputer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/>
              <a:t>Perangkat</a:t>
            </a:r>
            <a:r>
              <a:rPr lang="en-US" sz="1200" b="1" dirty="0"/>
              <a:t> </a:t>
            </a:r>
            <a:r>
              <a:rPr lang="en-US" sz="1200" b="1" dirty="0" err="1"/>
              <a:t>keras</a:t>
            </a:r>
            <a:r>
              <a:rPr lang="en-US" sz="1200" b="1" dirty="0"/>
              <a:t> </a:t>
            </a:r>
            <a:r>
              <a:rPr lang="en-US" sz="1200" b="1" dirty="0" err="1"/>
              <a:t>dibangi</a:t>
            </a:r>
            <a:r>
              <a:rPr lang="en-US" sz="1200" b="1" dirty="0"/>
              <a:t> </a:t>
            </a:r>
            <a:r>
              <a:rPr lang="en-US" sz="1200" b="1" dirty="0" err="1"/>
              <a:t>menjadi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masukan</a:t>
            </a:r>
            <a:r>
              <a:rPr lang="en-US" sz="1200" dirty="0"/>
              <a:t> (input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Keyboard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Mouse</a:t>
            </a:r>
            <a:br>
              <a:rPr lang="en-US" sz="1200" dirty="0"/>
            </a:br>
            <a:r>
              <a:rPr lang="en-US" sz="1200" dirty="0" smtClean="0"/>
              <a:t>	c</a:t>
            </a:r>
            <a:r>
              <a:rPr lang="en-US" sz="1200" dirty="0"/>
              <a:t>. Joystick</a:t>
            </a:r>
            <a:br>
              <a:rPr lang="en-US" sz="1200" dirty="0"/>
            </a:br>
            <a:r>
              <a:rPr lang="en-US" sz="1200" dirty="0" smtClean="0"/>
              <a:t>	d</a:t>
            </a:r>
            <a:r>
              <a:rPr lang="en-US" sz="1200" dirty="0"/>
              <a:t>. Scanner</a:t>
            </a:r>
            <a:br>
              <a:rPr lang="en-US" sz="1200" dirty="0"/>
            </a:br>
            <a:r>
              <a:rPr lang="en-US" sz="1200" dirty="0" smtClean="0"/>
              <a:t>	e</a:t>
            </a:r>
            <a:r>
              <a:rPr lang="en-US" sz="1200" dirty="0"/>
              <a:t>. Digital camera</a:t>
            </a:r>
            <a:br>
              <a:rPr lang="en-US" sz="1200" dirty="0"/>
            </a:br>
            <a:r>
              <a:rPr lang="en-US" sz="1200" dirty="0" smtClean="0"/>
              <a:t>	f</a:t>
            </a:r>
            <a:r>
              <a:rPr lang="en-US" sz="1200" dirty="0"/>
              <a:t>. Microphone</a:t>
            </a:r>
            <a:br>
              <a:rPr lang="en-US" sz="1200" dirty="0"/>
            </a:br>
            <a:r>
              <a:rPr lang="en-US" sz="1200" dirty="0" smtClean="0"/>
              <a:t>	g</a:t>
            </a:r>
            <a:r>
              <a:rPr lang="en-US" sz="1200" dirty="0"/>
              <a:t>. Webcam</a:t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Perangkat</a:t>
            </a:r>
            <a:r>
              <a:rPr lang="en-US" sz="1200" dirty="0"/>
              <a:t> proses (process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Motherboard / Mainboard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CPU / Microprocessor : ALU: </a:t>
            </a:r>
            <a:r>
              <a:rPr lang="en-US" sz="1200" dirty="0" err="1"/>
              <a:t>aritmetic</a:t>
            </a:r>
            <a:r>
              <a:rPr lang="en-US" sz="1200" dirty="0"/>
              <a:t> logical unit, </a:t>
            </a:r>
            <a:r>
              <a:rPr lang="en-US" sz="1200" dirty="0" err="1"/>
              <a:t>CU:control</a:t>
            </a:r>
            <a:r>
              <a:rPr lang="en-US" sz="1200" dirty="0"/>
              <a:t> unit, </a:t>
            </a:r>
            <a:r>
              <a:rPr lang="en-US" sz="1200" dirty="0" err="1"/>
              <a:t>MU:memory</a:t>
            </a:r>
            <a:r>
              <a:rPr lang="en-US" sz="1200" dirty="0"/>
              <a:t> unit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simpan</a:t>
            </a:r>
            <a:r>
              <a:rPr lang="en-US" sz="1200" dirty="0"/>
              <a:t> (storage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Primary storage : ROM, RAM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Secondary storage : </a:t>
            </a:r>
            <a:r>
              <a:rPr lang="en-US" sz="1200" dirty="0" err="1"/>
              <a:t>harddisk</a:t>
            </a:r>
            <a:r>
              <a:rPr lang="en-US" sz="1200" dirty="0"/>
              <a:t>, </a:t>
            </a:r>
            <a:r>
              <a:rPr lang="en-US" sz="1200" dirty="0" err="1"/>
              <a:t>disket</a:t>
            </a:r>
            <a:r>
              <a:rPr lang="en-US" sz="1200" dirty="0"/>
              <a:t>, UFD, CD/DVD</a:t>
            </a:r>
            <a:br>
              <a:rPr lang="en-US" sz="1200" dirty="0"/>
            </a:br>
            <a:r>
              <a:rPr lang="en-US" sz="1200" dirty="0"/>
              <a:t>4.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keluaran</a:t>
            </a:r>
            <a:r>
              <a:rPr lang="en-US" sz="1200" dirty="0"/>
              <a:t> (output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Monitor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Printer</a:t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tambahan</a:t>
            </a:r>
            <a:r>
              <a:rPr lang="en-US" sz="1200" dirty="0"/>
              <a:t> (peripheral) : TV turner, card reader, modem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445038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Perangkat Keras dan Lunak Komputer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PERANGKAT LUNAK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Penggolongan</a:t>
            </a:r>
            <a:r>
              <a:rPr lang="en-US" sz="1200" dirty="0"/>
              <a:t>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lunak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Sistem</a:t>
            </a:r>
            <a:r>
              <a:rPr lang="en-US" sz="1200" dirty="0"/>
              <a:t> </a:t>
            </a:r>
            <a:r>
              <a:rPr lang="en-US" sz="1200" dirty="0" err="1"/>
              <a:t>Operasi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Basis </a:t>
            </a:r>
            <a:r>
              <a:rPr lang="en-US" sz="1200" dirty="0" err="1"/>
              <a:t>teks</a:t>
            </a:r>
            <a:r>
              <a:rPr lang="en-US" sz="1200" dirty="0"/>
              <a:t> (CLI: Command Line Interface) : MS-DOS, UNIX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Basis </a:t>
            </a:r>
            <a:r>
              <a:rPr lang="en-US" sz="1200" dirty="0" err="1"/>
              <a:t>grafis</a:t>
            </a:r>
            <a:r>
              <a:rPr lang="en-US" sz="1200" dirty="0"/>
              <a:t> (</a:t>
            </a:r>
            <a:r>
              <a:rPr lang="en-US" sz="1200" dirty="0" err="1"/>
              <a:t>GUI:Graphic</a:t>
            </a:r>
            <a:r>
              <a:rPr lang="en-US" sz="1200" dirty="0"/>
              <a:t> Unit Interface) : Microsoft Windows, </a:t>
            </a:r>
            <a:r>
              <a:rPr lang="en-US" sz="1200" dirty="0" err="1"/>
              <a:t>macintosh</a:t>
            </a:r>
            <a:r>
              <a:rPr lang="en-US" sz="1200" dirty="0"/>
              <a:t>, Linux</a:t>
            </a:r>
            <a:br>
              <a:rPr lang="en-US" sz="1200" dirty="0"/>
            </a:br>
            <a:r>
              <a:rPr lang="en-US" sz="1200" dirty="0"/>
              <a:t>2. Program Utility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File Viewer : </a:t>
            </a:r>
            <a:r>
              <a:rPr lang="en-US" sz="1200" dirty="0" err="1"/>
              <a:t>ACDSee</a:t>
            </a:r>
            <a:r>
              <a:rPr lang="en-US" sz="1200" dirty="0"/>
              <a:t>, Adobe Reader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</a:t>
            </a:r>
            <a:r>
              <a:rPr lang="en-US" sz="1200" dirty="0" err="1"/>
              <a:t>Sytem</a:t>
            </a:r>
            <a:r>
              <a:rPr lang="en-US" sz="1200" dirty="0"/>
              <a:t> </a:t>
            </a:r>
            <a:r>
              <a:rPr lang="en-US" sz="1200" dirty="0" err="1"/>
              <a:t>Utulity</a:t>
            </a:r>
            <a:r>
              <a:rPr lang="en-US" sz="1200" dirty="0"/>
              <a:t> : program Scandisk, hardware monitor, file compression, security program (antivirus, anti spyware, firewall, password generator)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Bahasa</a:t>
            </a:r>
            <a:r>
              <a:rPr lang="en-US" sz="1200" dirty="0"/>
              <a:t> </a:t>
            </a:r>
            <a:r>
              <a:rPr lang="en-US" sz="1200" dirty="0" err="1"/>
              <a:t>Pemprograman</a:t>
            </a:r>
            <a:r>
              <a:rPr lang="en-US" sz="1200" dirty="0"/>
              <a:t> : FORTRAN, COBOL. PASCAL, BASIC, C++, </a:t>
            </a:r>
            <a:r>
              <a:rPr lang="en-US" sz="1200" dirty="0" err="1"/>
              <a:t>dsb</a:t>
            </a:r>
            <a:r>
              <a:rPr lang="en-US" sz="1200" dirty="0"/>
              <a:t>…</a:t>
            </a:r>
            <a:br>
              <a:rPr lang="en-US" sz="1200" dirty="0"/>
            </a:br>
            <a:r>
              <a:rPr lang="en-US" sz="1200" dirty="0"/>
              <a:t>4. Program </a:t>
            </a:r>
            <a:r>
              <a:rPr lang="en-US" sz="1200" dirty="0" err="1"/>
              <a:t>Aplikasi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Program </a:t>
            </a:r>
            <a:r>
              <a:rPr lang="en-US" sz="1200" dirty="0" err="1"/>
              <a:t>pengolah</a:t>
            </a:r>
            <a:r>
              <a:rPr lang="en-US" sz="1200" dirty="0"/>
              <a:t> kata c. Program </a:t>
            </a:r>
            <a:r>
              <a:rPr lang="en-US" sz="1200" dirty="0" err="1"/>
              <a:t>presentasi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d</a:t>
            </a:r>
            <a:r>
              <a:rPr lang="en-US" sz="1200" dirty="0"/>
              <a:t>. Program multimedia </a:t>
            </a:r>
            <a:r>
              <a:rPr lang="en-US" sz="1200" dirty="0" err="1"/>
              <a:t>b.Program</a:t>
            </a:r>
            <a:r>
              <a:rPr lang="en-US" sz="1200" dirty="0"/>
              <a:t> </a:t>
            </a:r>
            <a:r>
              <a:rPr lang="en-US" sz="1200" dirty="0" err="1"/>
              <a:t>pengolah</a:t>
            </a:r>
            <a:r>
              <a:rPr lang="en-US" sz="1200" dirty="0"/>
              <a:t> </a:t>
            </a:r>
            <a:r>
              <a:rPr lang="en-US" sz="1200" dirty="0" err="1"/>
              <a:t>angka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255112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M5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Program Pengolah Kata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/>
              <a:t>Bagian</a:t>
            </a:r>
            <a:r>
              <a:rPr lang="en-US" sz="1200" b="1" dirty="0"/>
              <a:t> </a:t>
            </a:r>
            <a:r>
              <a:rPr lang="en-US" sz="1200" b="1" dirty="0" err="1"/>
              <a:t>penting</a:t>
            </a:r>
            <a:r>
              <a:rPr lang="en-US" sz="1200" b="1" dirty="0"/>
              <a:t> Microsoft Word 2003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Menu control</a:t>
            </a:r>
            <a:br>
              <a:rPr lang="en-US" sz="1200" dirty="0"/>
            </a:br>
            <a:r>
              <a:rPr lang="en-US" sz="1200" dirty="0"/>
              <a:t>2. Title bar</a:t>
            </a:r>
            <a:br>
              <a:rPr lang="en-US" sz="1200" dirty="0"/>
            </a:br>
            <a:r>
              <a:rPr lang="en-US" sz="1200" dirty="0"/>
              <a:t>3. Menu bar</a:t>
            </a:r>
            <a:br>
              <a:rPr lang="en-US" sz="1200" dirty="0"/>
            </a:br>
            <a:r>
              <a:rPr lang="en-US" sz="1200" dirty="0"/>
              <a:t>4. Toolbar</a:t>
            </a:r>
            <a:br>
              <a:rPr lang="en-US" sz="1200" dirty="0"/>
            </a:br>
            <a:r>
              <a:rPr lang="en-US" sz="1200" dirty="0"/>
              <a:t>5. Scroll bar</a:t>
            </a:r>
            <a:br>
              <a:rPr lang="en-US" sz="1200" dirty="0"/>
            </a:br>
            <a:r>
              <a:rPr lang="en-US" sz="1200" dirty="0"/>
              <a:t>6. Ruler</a:t>
            </a:r>
            <a:br>
              <a:rPr lang="en-US" sz="1200" dirty="0"/>
            </a:br>
            <a:r>
              <a:rPr lang="en-US" sz="1200" dirty="0"/>
              <a:t>7. </a:t>
            </a:r>
            <a:r>
              <a:rPr lang="en-US" sz="1200" dirty="0" err="1"/>
              <a:t>Kursor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8. </a:t>
            </a:r>
            <a:r>
              <a:rPr lang="en-US" sz="1200" dirty="0" err="1" smtClean="0"/>
              <a:t>Taskpane</a:t>
            </a:r>
            <a:endParaRPr lang="en-US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Menu </a:t>
            </a:r>
            <a:r>
              <a:rPr lang="en-US" sz="1200" dirty="0"/>
              <a:t>bar Word 2003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9 : file, edit, view, insert, format, tools, table, window, help</a:t>
            </a:r>
            <a:br>
              <a:rPr lang="en-US" sz="1200" dirty="0"/>
            </a:br>
            <a:r>
              <a:rPr lang="en-US" sz="1200" dirty="0"/>
              <a:t>Menu bar Word 2007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7 : home, insert, page layout, reference, mailings, review, view</a:t>
            </a:r>
            <a:br>
              <a:rPr lang="en-US" sz="1200" dirty="0"/>
            </a:br>
            <a:r>
              <a:rPr lang="en-US" sz="1200" dirty="0"/>
              <a:t>3 Toolbar </a:t>
            </a:r>
            <a:r>
              <a:rPr lang="en-US" sz="1200" dirty="0" err="1"/>
              <a:t>utama</a:t>
            </a:r>
            <a:r>
              <a:rPr lang="en-US" sz="1200" dirty="0"/>
              <a:t> di Word 2003: toolbar </a:t>
            </a:r>
            <a:r>
              <a:rPr lang="en-US" sz="1200" dirty="0" err="1"/>
              <a:t>standart</a:t>
            </a:r>
            <a:r>
              <a:rPr lang="en-US" sz="1200" dirty="0"/>
              <a:t>, formatting, drawing</a:t>
            </a:r>
            <a:br>
              <a:rPr lang="en-US" sz="1200" dirty="0"/>
            </a:br>
            <a:r>
              <a:rPr lang="en-US" sz="1200" dirty="0" err="1"/>
              <a:t>Ikon</a:t>
            </a:r>
            <a:r>
              <a:rPr lang="en-US" sz="1200" dirty="0"/>
              <a:t> : lambing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yang </a:t>
            </a:r>
            <a:r>
              <a:rPr lang="en-US" sz="1200" dirty="0" err="1"/>
              <a:t>mewakili</a:t>
            </a:r>
            <a:r>
              <a:rPr lang="en-US" sz="1200" dirty="0"/>
              <a:t> </a:t>
            </a:r>
            <a:r>
              <a:rPr lang="en-US" sz="1200" dirty="0" err="1"/>
              <a:t>seautu</a:t>
            </a:r>
            <a:r>
              <a:rPr lang="en-US" sz="1200" dirty="0"/>
              <a:t> </a:t>
            </a:r>
            <a:r>
              <a:rPr lang="en-US" sz="1200" dirty="0" err="1"/>
              <a:t>intruksi</a:t>
            </a:r>
            <a:r>
              <a:rPr lang="en-US" sz="1200" dirty="0"/>
              <a:t> / </a:t>
            </a:r>
            <a:r>
              <a:rPr lang="en-US" sz="1200" dirty="0" err="1"/>
              <a:t>perintah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387816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Program Pengolah Angka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 smtClean="0"/>
              <a:t>Tampilan</a:t>
            </a:r>
            <a:r>
              <a:rPr lang="en-US" sz="1200" b="1" dirty="0" smtClean="0"/>
              <a:t> </a:t>
            </a:r>
            <a:r>
              <a:rPr lang="en-US" sz="1200" b="1" dirty="0"/>
              <a:t>Microsoft Excel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Workbook (</a:t>
            </a:r>
            <a:r>
              <a:rPr lang="en-US" sz="1200" dirty="0" err="1"/>
              <a:t>buku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) : file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dolumen</a:t>
            </a:r>
            <a:r>
              <a:rPr lang="en-US" sz="1200" dirty="0"/>
              <a:t> yang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lembaran-lembaran</a:t>
            </a:r>
            <a:r>
              <a:rPr lang="en-US" sz="1200" dirty="0"/>
              <a:t> (sheet)</a:t>
            </a:r>
            <a:br>
              <a:rPr lang="en-US" sz="1200" dirty="0"/>
            </a:br>
            <a:r>
              <a:rPr lang="en-US" sz="1200" dirty="0"/>
              <a:t>2. Worksheet (</a:t>
            </a:r>
            <a:r>
              <a:rPr lang="en-US" sz="1200" dirty="0" err="1"/>
              <a:t>lembar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) : </a:t>
            </a:r>
            <a:r>
              <a:rPr lang="en-US" sz="1200" dirty="0" err="1"/>
              <a:t>sekumpulan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3. Column : </a:t>
            </a:r>
            <a:r>
              <a:rPr lang="en-US" sz="1200" dirty="0" err="1"/>
              <a:t>deretan</a:t>
            </a:r>
            <a:r>
              <a:rPr lang="en-US" sz="1200" dirty="0"/>
              <a:t> </a:t>
            </a:r>
            <a:r>
              <a:rPr lang="en-US" sz="1200" dirty="0" err="1"/>
              <a:t>kolom</a:t>
            </a:r>
            <a:r>
              <a:rPr lang="en-US" sz="1200" dirty="0"/>
              <a:t> </a:t>
            </a:r>
            <a:r>
              <a:rPr lang="en-US" sz="1200" dirty="0" err="1"/>
              <a:t>dinotasikan</a:t>
            </a:r>
            <a:r>
              <a:rPr lang="en-US" sz="1200" dirty="0"/>
              <a:t> A </a:t>
            </a:r>
            <a:r>
              <a:rPr lang="en-US" sz="1200" dirty="0" err="1"/>
              <a:t>sd</a:t>
            </a:r>
            <a:r>
              <a:rPr lang="en-US" sz="1200" dirty="0"/>
              <a:t> IV (256 </a:t>
            </a:r>
            <a:r>
              <a:rPr lang="en-US" sz="1200" dirty="0" err="1"/>
              <a:t>kolom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4. Rows : </a:t>
            </a:r>
            <a:r>
              <a:rPr lang="en-US" sz="1200" dirty="0" err="1"/>
              <a:t>deretan</a:t>
            </a:r>
            <a:r>
              <a:rPr lang="en-US" sz="1200" dirty="0"/>
              <a:t> </a:t>
            </a:r>
            <a:r>
              <a:rPr lang="en-US" sz="1200" dirty="0" err="1"/>
              <a:t>baris</a:t>
            </a:r>
            <a:r>
              <a:rPr lang="en-US" sz="1200" dirty="0"/>
              <a:t> </a:t>
            </a:r>
            <a:r>
              <a:rPr lang="en-US" sz="1200" dirty="0" err="1"/>
              <a:t>dinotasikan</a:t>
            </a:r>
            <a:r>
              <a:rPr lang="en-US" sz="1200" dirty="0"/>
              <a:t> 1 </a:t>
            </a:r>
            <a:r>
              <a:rPr lang="en-US" sz="1200" dirty="0" err="1"/>
              <a:t>sd</a:t>
            </a:r>
            <a:r>
              <a:rPr lang="en-US" sz="1200" dirty="0"/>
              <a:t> 65.536 (65.536 </a:t>
            </a:r>
            <a:r>
              <a:rPr lang="en-US" sz="1200" dirty="0" err="1"/>
              <a:t>baris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5. Cell : </a:t>
            </a:r>
            <a:r>
              <a:rPr lang="en-US" sz="1200" dirty="0" err="1"/>
              <a:t>pertemuan</a:t>
            </a:r>
            <a:r>
              <a:rPr lang="en-US" sz="1200" dirty="0"/>
              <a:t> </a:t>
            </a:r>
            <a:r>
              <a:rPr lang="en-US" sz="1200" dirty="0" err="1"/>
              <a:t>baris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kolom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6. Range : </a:t>
            </a:r>
            <a:r>
              <a:rPr lang="en-US" sz="1200" dirty="0" err="1"/>
              <a:t>sekumpulan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7. Active cell : </a:t>
            </a:r>
            <a:r>
              <a:rPr lang="en-US" sz="1200" dirty="0" err="1"/>
              <a:t>bagian</a:t>
            </a:r>
            <a:r>
              <a:rPr lang="en-US" sz="1200" dirty="0"/>
              <a:t> yang </a:t>
            </a:r>
            <a:r>
              <a:rPr lang="en-US" sz="1200" dirty="0" err="1"/>
              <a:t>ditunjukan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> </a:t>
            </a:r>
            <a:r>
              <a:rPr lang="en-US" sz="1200" dirty="0" smtClean="0"/>
              <a:t>pointer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Menu bar Word 2003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9 : file, edit, view, insert, format, tools, data, window, help</a:t>
            </a:r>
            <a:br>
              <a:rPr lang="en-US" sz="1200" dirty="0"/>
            </a:br>
            <a:r>
              <a:rPr lang="en-US" sz="1200" dirty="0"/>
              <a:t>Menu bar Word 2007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7 : home, insert, page layout, formulas, data, review, view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4217308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Program Pengolah Angka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/>
              <a:t>Bagian</a:t>
            </a:r>
            <a:r>
              <a:rPr lang="en-US" sz="1200" b="1" dirty="0"/>
              <a:t> </a:t>
            </a:r>
            <a:r>
              <a:rPr lang="en-US" sz="1200" b="1" dirty="0" err="1"/>
              <a:t>penting</a:t>
            </a:r>
            <a:r>
              <a:rPr lang="en-US" sz="1200" b="1" dirty="0"/>
              <a:t> Microsoft Excel 2003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Baris</a:t>
            </a:r>
            <a:r>
              <a:rPr lang="en-US" sz="1200" dirty="0"/>
              <a:t> </a:t>
            </a:r>
            <a:r>
              <a:rPr lang="en-US" sz="1200" dirty="0" err="1"/>
              <a:t>judul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Baris</a:t>
            </a:r>
            <a:r>
              <a:rPr lang="en-US" sz="1200" dirty="0"/>
              <a:t> menu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Tombol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Toolbar</a:t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Alamat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6. </a:t>
            </a:r>
            <a:r>
              <a:rPr lang="en-US" sz="1200" dirty="0" err="1"/>
              <a:t>Baris</a:t>
            </a:r>
            <a:r>
              <a:rPr lang="en-US" sz="1200" dirty="0"/>
              <a:t> formula</a:t>
            </a:r>
            <a:br>
              <a:rPr lang="en-US" sz="1200" dirty="0"/>
            </a:br>
            <a:r>
              <a:rPr lang="en-US" sz="1200" dirty="0"/>
              <a:t>7. </a:t>
            </a:r>
            <a:r>
              <a:rPr lang="en-US" sz="1200" dirty="0" err="1"/>
              <a:t>Judul</a:t>
            </a:r>
            <a:r>
              <a:rPr lang="en-US" sz="1200" dirty="0"/>
              <a:t> </a:t>
            </a:r>
            <a:r>
              <a:rPr lang="en-US" sz="1200" dirty="0" err="1"/>
              <a:t>kolom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8. </a:t>
            </a:r>
            <a:r>
              <a:rPr lang="en-US" sz="1200" dirty="0" err="1"/>
              <a:t>Judul</a:t>
            </a:r>
            <a:r>
              <a:rPr lang="en-US" sz="1200" dirty="0"/>
              <a:t> </a:t>
            </a:r>
            <a:r>
              <a:rPr lang="en-US" sz="1200" dirty="0" err="1"/>
              <a:t>baris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9. </a:t>
            </a:r>
            <a:r>
              <a:rPr lang="en-US" sz="1200" dirty="0" err="1"/>
              <a:t>Sel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10. </a:t>
            </a:r>
            <a:r>
              <a:rPr lang="en-US" sz="1200" dirty="0" err="1"/>
              <a:t>Tabulasi</a:t>
            </a:r>
            <a:r>
              <a:rPr lang="en-US" sz="1200" dirty="0"/>
              <a:t> sheet</a:t>
            </a:r>
            <a:br>
              <a:rPr lang="en-US" sz="1200" dirty="0"/>
            </a:br>
            <a:r>
              <a:rPr lang="en-US" sz="1200" dirty="0"/>
              <a:t>11. </a:t>
            </a:r>
            <a:r>
              <a:rPr lang="en-US" sz="1200" dirty="0" err="1"/>
              <a:t>Penggulung</a:t>
            </a:r>
            <a:r>
              <a:rPr lang="en-US" sz="1200" dirty="0"/>
              <a:t> vertical </a:t>
            </a:r>
            <a:r>
              <a:rPr lang="en-US" sz="1200" dirty="0" err="1"/>
              <a:t>dan</a:t>
            </a:r>
            <a:r>
              <a:rPr lang="en-US" sz="1200" dirty="0"/>
              <a:t> horizontal</a:t>
            </a:r>
            <a:br>
              <a:rPr lang="en-US" sz="1200" dirty="0"/>
            </a:br>
            <a:r>
              <a:rPr lang="en-US" sz="1200" dirty="0"/>
              <a:t>12. Task pane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sp>
        <p:nvSpPr>
          <p:cNvPr id="5" name="Google Shape;265;p38"/>
          <p:cNvSpPr txBox="1"/>
          <p:nvPr/>
        </p:nvSpPr>
        <p:spPr>
          <a:xfrm>
            <a:off x="4953000" y="1200150"/>
            <a:ext cx="31242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200" b="1" dirty="0" err="1"/>
              <a:t>Rumus</a:t>
            </a:r>
            <a:r>
              <a:rPr lang="en-US" sz="1200" b="1" dirty="0"/>
              <a:t> yang </a:t>
            </a:r>
            <a:r>
              <a:rPr lang="en-US" sz="1200" b="1" dirty="0" err="1"/>
              <a:t>digunakan</a:t>
            </a:r>
            <a:r>
              <a:rPr lang="en-US" sz="1200" b="1" dirty="0"/>
              <a:t> </a:t>
            </a:r>
            <a:r>
              <a:rPr lang="en-US" sz="1200" b="1" dirty="0" err="1"/>
              <a:t>dalam</a:t>
            </a:r>
            <a:r>
              <a:rPr lang="en-US" sz="1200" b="1" dirty="0"/>
              <a:t> Excel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SUM : </a:t>
            </a:r>
            <a:r>
              <a:rPr lang="en-US" sz="1200" dirty="0" err="1"/>
              <a:t>menjumlah</a:t>
            </a:r>
            <a:r>
              <a:rPr lang="en-US" sz="1200" dirty="0"/>
              <a:t> data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AVERAGE : </a:t>
            </a:r>
            <a:r>
              <a:rPr lang="en-US" sz="1200" dirty="0" err="1"/>
              <a:t>menghitung</a:t>
            </a:r>
            <a:r>
              <a:rPr lang="en-US" sz="1200" dirty="0"/>
              <a:t> rata-rata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MAX :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tertinggi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MIN :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terendah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COUNT :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dirty="0" err="1"/>
              <a:t>banyaknya</a:t>
            </a:r>
            <a:r>
              <a:rPr lang="en-US" sz="1200" dirty="0"/>
              <a:t> data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" sz="800" dirty="0" smtClean="0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rPr>
              <a:t>.</a:t>
            </a:r>
            <a:endParaRPr sz="800" b="1" dirty="0">
              <a:solidFill>
                <a:schemeClr val="dk1"/>
              </a:solidFill>
              <a:latin typeface="Bellota Text"/>
              <a:ea typeface="Bellota Text"/>
              <a:cs typeface="Bellota Text"/>
              <a:sym typeface="Bellota Text"/>
            </a:endParaRPr>
          </a:p>
        </p:txBody>
      </p:sp>
    </p:spTree>
    <p:extLst>
      <p:ext uri="{BB962C8B-B14F-4D97-AF65-F5344CB8AC3E}">
        <p14:creationId xmlns:p14="http://schemas.microsoft.com/office/powerpoint/2010/main" val="3890145707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102</Words>
  <Application>Microsoft Office PowerPoint</Application>
  <PresentationFormat>On-screen Show (16:9)</PresentationFormat>
  <Paragraphs>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Bellota Text Light</vt:lpstr>
      <vt:lpstr>Bellota Text</vt:lpstr>
      <vt:lpstr>Catamaran ExtraBold</vt:lpstr>
      <vt:lpstr>Catamaran</vt:lpstr>
      <vt:lpstr>Bagot template</vt:lpstr>
      <vt:lpstr>TIK   SMP Kelas 9</vt:lpstr>
      <vt:lpstr>M1</vt:lpstr>
      <vt:lpstr>M2</vt:lpstr>
      <vt:lpstr>M2</vt:lpstr>
      <vt:lpstr>M3</vt:lpstr>
      <vt:lpstr>M4</vt:lpstr>
      <vt:lpstr>M4</vt:lpstr>
      <vt:lpstr>M5</vt:lpstr>
      <vt:lpstr>M6</vt:lpstr>
      <vt:lpstr>M6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  SD Kelas 5</dc:title>
  <dc:creator>ASUS</dc:creator>
  <cp:lastModifiedBy>ismail - [2010]</cp:lastModifiedBy>
  <cp:revision>9</cp:revision>
  <dcterms:modified xsi:type="dcterms:W3CDTF">2020-07-16T07:25:18Z</dcterms:modified>
</cp:coreProperties>
</file>